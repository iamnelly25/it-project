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 id="2582" r:id="rId23"/>
    <p:sldId id="2583" r:id="rId24"/>
    <p:sldId id="2584" r:id="rId25"/>
    <p:sldId id="2585" r:id="rId26"/>
    <p:sldId id="2586" r:id="rId27"/>
    <p:sldId id="2587" r:id="rId28"/>
    <p:sldId id="2588" r:id="rId29"/>
    <p:sldId id="2589" r:id="rId30"/>
    <p:sldId id="2590" r:id="rId31"/>
    <p:sldId id="2591" r:id="rId32"/>
    <p:sldId id="2592" r:id="rId33"/>
    <p:sldId id="2593" r:id="rId34"/>
    <p:sldId id="2594" r:id="rId35"/>
    <p:sldId id="2595" r:id="rId36"/>
    <p:sldId id="2596" r:id="rId37"/>
    <p:sldId id="2597" r:id="rId38"/>
    <p:sldId id="2598" r:id="rId39"/>
    <p:sldId id="2599" r:id="rId40"/>
    <p:sldId id="2600" r:id="rId41"/>
    <p:sldId id="2601"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T Infrastructure and Support Solution for Ubuntu Innovations" id="{24615273-45EC-4C68-A9B6-F3DB5BBD75D7}">
          <p14:sldIdLst>
            <p14:sldId id="2561"/>
          </p14:sldIdLst>
        </p14:section>
        <p14:section name="Project Context and Overview" id="{B727B054-4DB0-4DE8-84B7-3DBE346AEF61}">
          <p14:sldIdLst>
            <p14:sldId id="2562"/>
            <p14:sldId id="2563"/>
            <p14:sldId id="2564"/>
            <p14:sldId id="2565"/>
            <p14:sldId id="2566"/>
          </p14:sldIdLst>
        </p14:section>
        <p14:section name="Business Needs and Technology Foundations" id="{8A0DD51C-DD85-4BC3-BDE9-2C83EB885283}">
          <p14:sldIdLst>
            <p14:sldId id="2567"/>
            <p14:sldId id="2568"/>
            <p14:sldId id="2569"/>
            <p14:sldId id="2570"/>
            <p14:sldId id="2571"/>
          </p14:sldIdLst>
        </p14:section>
        <p14:section name="Network Architecture and Access Control" id="{F7CFCB5A-35A8-4258-8D2C-ADF1F63F34B3}">
          <p14:sldIdLst>
            <p14:sldId id="2572"/>
            <p14:sldId id="2573"/>
            <p14:sldId id="2574"/>
            <p14:sldId id="2575"/>
            <p14:sldId id="2576"/>
          </p14:sldIdLst>
        </p14:section>
        <p14:section name="Data Storage and Business Continuity" id="{37598501-B8A0-4637-B34E-D3E286E02479}">
          <p14:sldIdLst>
            <p14:sldId id="2577"/>
            <p14:sldId id="2578"/>
            <p14:sldId id="2579"/>
            <p14:sldId id="2580"/>
            <p14:sldId id="2581"/>
          </p14:sldIdLst>
        </p14:section>
        <p14:section name="Cybersecurity and Risk Management" id="{3AE7FAE7-A16F-44FA-910F-DDF7F290F3BA}">
          <p14:sldIdLst>
            <p14:sldId id="2582"/>
            <p14:sldId id="2583"/>
            <p14:sldId id="2584"/>
            <p14:sldId id="2585"/>
            <p14:sldId id="2586"/>
          </p14:sldIdLst>
        </p14:section>
        <p14:section name="IT Support and Operations" id="{C1895356-E291-4FF9-AA3C-A7B73E684D7F}">
          <p14:sldIdLst>
            <p14:sldId id="2587"/>
            <p14:sldId id="2588"/>
            <p14:sldId id="2589"/>
            <p14:sldId id="2590"/>
            <p14:sldId id="2591"/>
          </p14:sldIdLst>
        </p14:section>
        <p14:section name="Business Value and Cost Efficiency" id="{5C60E881-BDF1-4896-BD18-A0E2CD4859CD}">
          <p14:sldIdLst>
            <p14:sldId id="2592"/>
            <p14:sldId id="2593"/>
            <p14:sldId id="2594"/>
            <p14:sldId id="2595"/>
            <p14:sldId id="2596"/>
          </p14:sldIdLst>
        </p14:section>
        <p14:section name="Conclusion and Future Vision" id="{6F1F1F48-50F8-4D38-903F-174414816DDA}">
          <p14:sldIdLst>
            <p14:sldId id="2597"/>
            <p14:sldId id="2598"/>
            <p14:sldId id="2599"/>
            <p14:sldId id="2600"/>
            <p14:sldId id="26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2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_rels/data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image" Target="../media/image26.jpeg"/></Relationships>
</file>

<file path=ppt/diagrams/_rels/data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image" Target="../media/image32.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image" Target="../media/image26.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image" Target="../media/image32.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2C9705-061F-4007-842E-3BA9C3430D8E}"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23EB35BF-3229-463B-9947-93D90CA8A92F}">
      <dgm:prSet/>
      <dgm:spPr/>
      <dgm:t>
        <a:bodyPr/>
        <a:lstStyle/>
        <a:p>
          <a:pPr>
            <a:lnSpc>
              <a:spcPct val="100000"/>
            </a:lnSpc>
            <a:defRPr b="1"/>
          </a:pPr>
          <a:r>
            <a:rPr lang="en-US"/>
            <a:t>Typical IT Issues</a:t>
          </a:r>
        </a:p>
      </dgm:t>
    </dgm:pt>
    <dgm:pt modelId="{89AE0867-81F1-460D-83CD-72EC9D12A9D3}" type="parTrans" cxnId="{E26FF166-C046-4367-8556-979D4E482A89}">
      <dgm:prSet/>
      <dgm:spPr/>
      <dgm:t>
        <a:bodyPr/>
        <a:lstStyle/>
        <a:p>
          <a:endParaRPr lang="en-US"/>
        </a:p>
      </dgm:t>
    </dgm:pt>
    <dgm:pt modelId="{63F29D49-3720-406B-A701-4739DA5D23F5}" type="sibTrans" cxnId="{E26FF166-C046-4367-8556-979D4E482A89}">
      <dgm:prSet/>
      <dgm:spPr/>
      <dgm:t>
        <a:bodyPr/>
        <a:lstStyle/>
        <a:p>
          <a:pPr>
            <a:lnSpc>
              <a:spcPct val="100000"/>
            </a:lnSpc>
            <a:defRPr b="1"/>
          </a:pPr>
          <a:endParaRPr lang="en-US"/>
        </a:p>
      </dgm:t>
    </dgm:pt>
    <dgm:pt modelId="{E337EFEA-AD11-4F96-87FF-F44BF3842938}">
      <dgm:prSet/>
      <dgm:spPr/>
      <dgm:t>
        <a:bodyPr/>
        <a:lstStyle/>
        <a:p>
          <a:pPr>
            <a:lnSpc>
              <a:spcPct val="100000"/>
            </a:lnSpc>
          </a:pPr>
          <a:r>
            <a:rPr lang="en-US"/>
            <a:t>Frequent problems include printer connectivity failures, user account lockouts, and slow system performance affecting productivity.</a:t>
          </a:r>
        </a:p>
      </dgm:t>
    </dgm:pt>
    <dgm:pt modelId="{328BB878-7627-499B-8D3A-DAB7FBA8824E}" type="parTrans" cxnId="{868BC6A2-A745-4345-A549-17199540CAA6}">
      <dgm:prSet/>
      <dgm:spPr/>
      <dgm:t>
        <a:bodyPr/>
        <a:lstStyle/>
        <a:p>
          <a:endParaRPr lang="en-US"/>
        </a:p>
      </dgm:t>
    </dgm:pt>
    <dgm:pt modelId="{7D42C6A8-1480-42A0-8CB2-5C0267890FDA}" type="sibTrans" cxnId="{868BC6A2-A745-4345-A549-17199540CAA6}">
      <dgm:prSet/>
      <dgm:spPr/>
      <dgm:t>
        <a:bodyPr/>
        <a:lstStyle/>
        <a:p>
          <a:endParaRPr lang="en-US"/>
        </a:p>
      </dgm:t>
    </dgm:pt>
    <dgm:pt modelId="{231B3337-8701-4A25-997C-BE91E142D978}">
      <dgm:prSet/>
      <dgm:spPr/>
      <dgm:t>
        <a:bodyPr/>
        <a:lstStyle/>
        <a:p>
          <a:pPr>
            <a:lnSpc>
              <a:spcPct val="100000"/>
            </a:lnSpc>
            <a:defRPr b="1"/>
          </a:pPr>
          <a:r>
            <a:rPr lang="en-US"/>
            <a:t>Troubleshooting Procedures</a:t>
          </a:r>
        </a:p>
      </dgm:t>
    </dgm:pt>
    <dgm:pt modelId="{17B2A3E2-011F-447D-8EF4-3073A39C9C9F}" type="parTrans" cxnId="{8B912E7D-7BB4-4CC4-9EEB-7C22081E3F75}">
      <dgm:prSet/>
      <dgm:spPr/>
      <dgm:t>
        <a:bodyPr/>
        <a:lstStyle/>
        <a:p>
          <a:endParaRPr lang="en-US"/>
        </a:p>
      </dgm:t>
    </dgm:pt>
    <dgm:pt modelId="{5CD6A624-5801-4683-9E99-A347D6D0F518}" type="sibTrans" cxnId="{8B912E7D-7BB4-4CC4-9EEB-7C22081E3F75}">
      <dgm:prSet/>
      <dgm:spPr/>
      <dgm:t>
        <a:bodyPr/>
        <a:lstStyle/>
        <a:p>
          <a:pPr>
            <a:lnSpc>
              <a:spcPct val="100000"/>
            </a:lnSpc>
            <a:defRPr b="1"/>
          </a:pPr>
          <a:endParaRPr lang="en-US"/>
        </a:p>
      </dgm:t>
    </dgm:pt>
    <dgm:pt modelId="{3E19433E-99FB-4221-BE03-82802BC4FE0D}">
      <dgm:prSet/>
      <dgm:spPr/>
      <dgm:t>
        <a:bodyPr/>
        <a:lstStyle/>
        <a:p>
          <a:pPr>
            <a:lnSpc>
              <a:spcPct val="100000"/>
            </a:lnSpc>
          </a:pPr>
          <a:r>
            <a:rPr lang="en-US"/>
            <a:t>Standardized steps ensure consistent diagnosis and resolution of IT issues by support teams, improving efficiency.</a:t>
          </a:r>
        </a:p>
      </dgm:t>
    </dgm:pt>
    <dgm:pt modelId="{FB1BC4FC-1881-4C1B-A6F6-F903EC92F1D9}" type="parTrans" cxnId="{786C339B-B2E4-43B0-91EE-3511AC067876}">
      <dgm:prSet/>
      <dgm:spPr/>
      <dgm:t>
        <a:bodyPr/>
        <a:lstStyle/>
        <a:p>
          <a:endParaRPr lang="en-US"/>
        </a:p>
      </dgm:t>
    </dgm:pt>
    <dgm:pt modelId="{0D259EDD-583A-4062-8263-53A99B323B00}" type="sibTrans" cxnId="{786C339B-B2E4-43B0-91EE-3511AC067876}">
      <dgm:prSet/>
      <dgm:spPr/>
      <dgm:t>
        <a:bodyPr/>
        <a:lstStyle/>
        <a:p>
          <a:endParaRPr lang="en-US"/>
        </a:p>
      </dgm:t>
    </dgm:pt>
    <dgm:pt modelId="{9225C6EC-6A81-4BBC-A1C4-5DAE4B6214FA}">
      <dgm:prSet/>
      <dgm:spPr/>
      <dgm:t>
        <a:bodyPr/>
        <a:lstStyle/>
        <a:p>
          <a:pPr>
            <a:lnSpc>
              <a:spcPct val="100000"/>
            </a:lnSpc>
            <a:defRPr b="1"/>
          </a:pPr>
          <a:r>
            <a:rPr lang="en-US"/>
            <a:t>Incident Documentation</a:t>
          </a:r>
        </a:p>
      </dgm:t>
    </dgm:pt>
    <dgm:pt modelId="{59139CBC-0728-4C50-BECF-8F581A002F3E}" type="parTrans" cxnId="{7587739D-C92B-4321-A511-A542A33ED5AA}">
      <dgm:prSet/>
      <dgm:spPr/>
      <dgm:t>
        <a:bodyPr/>
        <a:lstStyle/>
        <a:p>
          <a:endParaRPr lang="en-US"/>
        </a:p>
      </dgm:t>
    </dgm:pt>
    <dgm:pt modelId="{9AF3F739-6B24-4AC9-857E-C9FC5EAB4726}" type="sibTrans" cxnId="{7587739D-C92B-4321-A511-A542A33ED5AA}">
      <dgm:prSet/>
      <dgm:spPr/>
      <dgm:t>
        <a:bodyPr/>
        <a:lstStyle/>
        <a:p>
          <a:endParaRPr lang="en-US"/>
        </a:p>
      </dgm:t>
    </dgm:pt>
    <dgm:pt modelId="{BBC1A13C-E995-4D21-9F1E-A3742DD13A25}">
      <dgm:prSet/>
      <dgm:spPr/>
      <dgm:t>
        <a:bodyPr/>
        <a:lstStyle/>
        <a:p>
          <a:pPr>
            <a:lnSpc>
              <a:spcPct val="100000"/>
            </a:lnSpc>
          </a:pPr>
          <a:r>
            <a:rPr lang="en-US"/>
            <a:t>Recording incidents helps track trends and drives ongoing improvements in IT system reliability and user experience.</a:t>
          </a:r>
        </a:p>
      </dgm:t>
    </dgm:pt>
    <dgm:pt modelId="{EF0C3BB8-1ECF-40CF-8576-DA5E799B5F0E}" type="parTrans" cxnId="{1510A947-451F-413E-811B-43396E1B93B4}">
      <dgm:prSet/>
      <dgm:spPr/>
      <dgm:t>
        <a:bodyPr/>
        <a:lstStyle/>
        <a:p>
          <a:endParaRPr lang="en-US"/>
        </a:p>
      </dgm:t>
    </dgm:pt>
    <dgm:pt modelId="{DDC3D8BF-A309-4212-8742-BE8416319E4A}" type="sibTrans" cxnId="{1510A947-451F-413E-811B-43396E1B93B4}">
      <dgm:prSet/>
      <dgm:spPr/>
      <dgm:t>
        <a:bodyPr/>
        <a:lstStyle/>
        <a:p>
          <a:endParaRPr lang="en-US"/>
        </a:p>
      </dgm:t>
    </dgm:pt>
    <dgm:pt modelId="{F747A939-19C0-4626-8A95-F364C9C63D77}" type="pres">
      <dgm:prSet presAssocID="{AF2C9705-061F-4007-842E-3BA9C3430D8E}" presName="Root" presStyleCnt="0">
        <dgm:presLayoutVars>
          <dgm:dir/>
          <dgm:resizeHandles val="exact"/>
        </dgm:presLayoutVars>
      </dgm:prSet>
      <dgm:spPr/>
    </dgm:pt>
    <dgm:pt modelId="{B31C0A6A-891B-453E-BBA5-EF5FB8D84EE0}" type="pres">
      <dgm:prSet presAssocID="{23EB35BF-3229-463B-9947-93D90CA8A92F}" presName="Composite" presStyleCnt="0"/>
      <dgm:spPr/>
    </dgm:pt>
    <dgm:pt modelId="{FD8460F8-F9F5-4A45-9D35-CD3B59AE4DEB}" type="pres">
      <dgm:prSet presAssocID="{23EB35BF-3229-463B-9947-93D90CA8A92F}" presName="Picture"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l="41408" r="2339" b="-6"/>
          <a:stretch/>
        </a:blipFill>
      </dgm:spPr>
      <dgm:extLst>
        <a:ext uri="{E40237B7-FDA0-4F09-8148-C483321AD2D9}">
          <dgm14:cNvPr xmlns:dgm14="http://schemas.microsoft.com/office/drawing/2010/diagram" id="0" name="" descr="Internet Cyber Security digital concept"/>
        </a:ext>
      </dgm:extLst>
    </dgm:pt>
    <dgm:pt modelId="{1499388C-98C4-4340-8A6D-533BFAFFD9C4}" type="pres">
      <dgm:prSet presAssocID="{23EB35BF-3229-463B-9947-93D90CA8A92F}" presName="Subtitle" presStyleLbl="revTx" presStyleIdx="0" presStyleCnt="6">
        <dgm:presLayoutVars>
          <dgm:chMax val="0"/>
          <dgm:bulletEnabled/>
        </dgm:presLayoutVars>
      </dgm:prSet>
      <dgm:spPr/>
    </dgm:pt>
    <dgm:pt modelId="{3E32E7A2-C800-44C6-86A6-052930987D05}" type="pres">
      <dgm:prSet presAssocID="{23EB35BF-3229-463B-9947-93D90CA8A92F}" presName="Description" presStyleLbl="revTx" presStyleIdx="1" presStyleCnt="6">
        <dgm:presLayoutVars>
          <dgm:bulletEnabled/>
        </dgm:presLayoutVars>
      </dgm:prSet>
      <dgm:spPr/>
    </dgm:pt>
    <dgm:pt modelId="{B480DCB4-B8F2-4CB9-80BA-783722925D75}" type="pres">
      <dgm:prSet presAssocID="{63F29D49-3720-406B-A701-4739DA5D23F5}" presName="sibTrans" presStyleLbl="sibTrans2D1" presStyleIdx="0" presStyleCnt="0"/>
      <dgm:spPr/>
    </dgm:pt>
    <dgm:pt modelId="{0D22E1C9-E9C3-42DD-9861-7511894B209D}" type="pres">
      <dgm:prSet presAssocID="{231B3337-8701-4A25-997C-BE91E142D978}" presName="Composite" presStyleCnt="0"/>
      <dgm:spPr/>
    </dgm:pt>
    <dgm:pt modelId="{63DE6D58-D604-40F7-9005-D39E7F0364AC}" type="pres">
      <dgm:prSet presAssocID="{231B3337-8701-4A25-997C-BE91E142D978}" presName="Picture" presStyleLbl="node1" presStyleIdx="1" presStyleCnt="3"/>
      <dgm:spPr>
        <a:blipFill>
          <a:blip xmlns:r="http://schemas.openxmlformats.org/officeDocument/2006/relationships" r:embed="rId2" cstate="print">
            <a:extLst>
              <a:ext uri="{28A0092B-C50C-407E-A947-70E740481C1C}">
                <a14:useLocalDpi xmlns:a14="http://schemas.microsoft.com/office/drawing/2010/main" val="0"/>
              </a:ext>
            </a:extLst>
          </a:blip>
          <a:srcRect t="24501" r="-9" b="-8"/>
          <a:stretch/>
        </a:blipFill>
      </dgm:spPr>
      <dgm:extLst>
        <a:ext uri="{E40237B7-FDA0-4F09-8148-C483321AD2D9}">
          <dgm14:cNvPr xmlns:dgm14="http://schemas.microsoft.com/office/drawing/2010/diagram" id="0" name="" descr="Check list sign and Highlighter isolated on white background"/>
        </a:ext>
      </dgm:extLst>
    </dgm:pt>
    <dgm:pt modelId="{2B5AE494-9777-43E1-95A1-37E95523AE4B}" type="pres">
      <dgm:prSet presAssocID="{231B3337-8701-4A25-997C-BE91E142D978}" presName="Subtitle" presStyleLbl="revTx" presStyleIdx="2" presStyleCnt="6">
        <dgm:presLayoutVars>
          <dgm:chMax val="0"/>
          <dgm:bulletEnabled/>
        </dgm:presLayoutVars>
      </dgm:prSet>
      <dgm:spPr/>
    </dgm:pt>
    <dgm:pt modelId="{3A55E860-BCAF-4C49-BFBB-5C604D63EEA9}" type="pres">
      <dgm:prSet presAssocID="{231B3337-8701-4A25-997C-BE91E142D978}" presName="Description" presStyleLbl="revTx" presStyleIdx="3" presStyleCnt="6">
        <dgm:presLayoutVars>
          <dgm:bulletEnabled/>
        </dgm:presLayoutVars>
      </dgm:prSet>
      <dgm:spPr/>
    </dgm:pt>
    <dgm:pt modelId="{95B111D2-C022-4EB4-B7F6-6A2611F58A5D}" type="pres">
      <dgm:prSet presAssocID="{5CD6A624-5801-4683-9E99-A347D6D0F518}" presName="sibTrans" presStyleLbl="sibTrans2D1" presStyleIdx="0" presStyleCnt="0"/>
      <dgm:spPr/>
    </dgm:pt>
    <dgm:pt modelId="{7D75A279-0AA1-49DF-8B93-DE3D0099376A}" type="pres">
      <dgm:prSet presAssocID="{9225C6EC-6A81-4BBC-A1C4-5DAE4B6214FA}" presName="Composite" presStyleCnt="0"/>
      <dgm:spPr/>
    </dgm:pt>
    <dgm:pt modelId="{CE0EEF9A-4CAD-49F6-8821-8749EC8E661C}" type="pres">
      <dgm:prSet presAssocID="{9225C6EC-6A81-4BBC-A1C4-5DAE4B6214FA}" presName="Picture" presStyleLbl="nod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l="8049" r="25200" b="-2"/>
          <a:stretch/>
        </a:blipFill>
      </dgm:spPr>
      <dgm:extLst>
        <a:ext uri="{E40237B7-FDA0-4F09-8148-C483321AD2D9}">
          <dgm14:cNvPr xmlns:dgm14="http://schemas.microsoft.com/office/drawing/2010/diagram" id="0" name="" descr="Magnifying glass showing decling performance"/>
        </a:ext>
      </dgm:extLst>
    </dgm:pt>
    <dgm:pt modelId="{C2755BC4-A4A7-4002-9D1E-E5FE52EF4888}" type="pres">
      <dgm:prSet presAssocID="{9225C6EC-6A81-4BBC-A1C4-5DAE4B6214FA}" presName="Subtitle" presStyleLbl="revTx" presStyleIdx="4" presStyleCnt="6">
        <dgm:presLayoutVars>
          <dgm:chMax val="0"/>
          <dgm:bulletEnabled/>
        </dgm:presLayoutVars>
      </dgm:prSet>
      <dgm:spPr/>
    </dgm:pt>
    <dgm:pt modelId="{ECA9CBD5-9DD0-450E-A487-B2D9E0464661}" type="pres">
      <dgm:prSet presAssocID="{9225C6EC-6A81-4BBC-A1C4-5DAE4B6214FA}" presName="Description" presStyleLbl="revTx" presStyleIdx="5" presStyleCnt="6">
        <dgm:presLayoutVars>
          <dgm:bulletEnabled/>
        </dgm:presLayoutVars>
      </dgm:prSet>
      <dgm:spPr/>
    </dgm:pt>
  </dgm:ptLst>
  <dgm:cxnLst>
    <dgm:cxn modelId="{C3959020-4594-4FA2-B8D0-58493BADAEA1}" type="presOf" srcId="{9225C6EC-6A81-4BBC-A1C4-5DAE4B6214FA}" destId="{C2755BC4-A4A7-4002-9D1E-E5FE52EF4888}" srcOrd="0" destOrd="0" presId="urn:microsoft.com/office/officeart/2024/3/layout/verticalVisualTextBlock1"/>
    <dgm:cxn modelId="{613C4329-0B8F-434C-B71F-36A20C38A255}" type="presOf" srcId="{E337EFEA-AD11-4F96-87FF-F44BF3842938}" destId="{3E32E7A2-C800-44C6-86A6-052930987D05}" srcOrd="0" destOrd="0" presId="urn:microsoft.com/office/officeart/2024/3/layout/verticalVisualTextBlock1"/>
    <dgm:cxn modelId="{94476344-DB61-4070-939D-A076342A0037}" type="presOf" srcId="{5CD6A624-5801-4683-9E99-A347D6D0F518}" destId="{95B111D2-C022-4EB4-B7F6-6A2611F58A5D}" srcOrd="0" destOrd="0" presId="urn:microsoft.com/office/officeart/2024/3/layout/verticalVisualTextBlock1"/>
    <dgm:cxn modelId="{E26FF166-C046-4367-8556-979D4E482A89}" srcId="{AF2C9705-061F-4007-842E-3BA9C3430D8E}" destId="{23EB35BF-3229-463B-9947-93D90CA8A92F}" srcOrd="0" destOrd="0" parTransId="{89AE0867-81F1-460D-83CD-72EC9D12A9D3}" sibTransId="{63F29D49-3720-406B-A701-4739DA5D23F5}"/>
    <dgm:cxn modelId="{1510A947-451F-413E-811B-43396E1B93B4}" srcId="{9225C6EC-6A81-4BBC-A1C4-5DAE4B6214FA}" destId="{BBC1A13C-E995-4D21-9F1E-A3742DD13A25}" srcOrd="0" destOrd="0" parTransId="{EF0C3BB8-1ECF-40CF-8576-DA5E799B5F0E}" sibTransId="{DDC3D8BF-A309-4212-8742-BE8416319E4A}"/>
    <dgm:cxn modelId="{A23F6B72-1A86-42A4-8E24-73CF7B276F2C}" type="presOf" srcId="{231B3337-8701-4A25-997C-BE91E142D978}" destId="{2B5AE494-9777-43E1-95A1-37E95523AE4B}" srcOrd="0" destOrd="0" presId="urn:microsoft.com/office/officeart/2024/3/layout/verticalVisualTextBlock1"/>
    <dgm:cxn modelId="{8B912E7D-7BB4-4CC4-9EEB-7C22081E3F75}" srcId="{AF2C9705-061F-4007-842E-3BA9C3430D8E}" destId="{231B3337-8701-4A25-997C-BE91E142D978}" srcOrd="1" destOrd="0" parTransId="{17B2A3E2-011F-447D-8EF4-3073A39C9C9F}" sibTransId="{5CD6A624-5801-4683-9E99-A347D6D0F518}"/>
    <dgm:cxn modelId="{786C339B-B2E4-43B0-91EE-3511AC067876}" srcId="{231B3337-8701-4A25-997C-BE91E142D978}" destId="{3E19433E-99FB-4221-BE03-82802BC4FE0D}" srcOrd="0" destOrd="0" parTransId="{FB1BC4FC-1881-4C1B-A6F6-F903EC92F1D9}" sibTransId="{0D259EDD-583A-4062-8263-53A99B323B00}"/>
    <dgm:cxn modelId="{7587739D-C92B-4321-A511-A542A33ED5AA}" srcId="{AF2C9705-061F-4007-842E-3BA9C3430D8E}" destId="{9225C6EC-6A81-4BBC-A1C4-5DAE4B6214FA}" srcOrd="2" destOrd="0" parTransId="{59139CBC-0728-4C50-BECF-8F581A002F3E}" sibTransId="{9AF3F739-6B24-4AC9-857E-C9FC5EAB4726}"/>
    <dgm:cxn modelId="{B258A6A0-EBF4-441A-A29F-759F87DCFABF}" type="presOf" srcId="{BBC1A13C-E995-4D21-9F1E-A3742DD13A25}" destId="{ECA9CBD5-9DD0-450E-A487-B2D9E0464661}" srcOrd="0" destOrd="0" presId="urn:microsoft.com/office/officeart/2024/3/layout/verticalVisualTextBlock1"/>
    <dgm:cxn modelId="{868BC6A2-A745-4345-A549-17199540CAA6}" srcId="{23EB35BF-3229-463B-9947-93D90CA8A92F}" destId="{E337EFEA-AD11-4F96-87FF-F44BF3842938}" srcOrd="0" destOrd="0" parTransId="{328BB878-7627-499B-8D3A-DAB7FBA8824E}" sibTransId="{7D42C6A8-1480-42A0-8CB2-5C0267890FDA}"/>
    <dgm:cxn modelId="{8D83F4B0-DF59-4EBF-9175-E7042601CCB6}" type="presOf" srcId="{3E19433E-99FB-4221-BE03-82802BC4FE0D}" destId="{3A55E860-BCAF-4C49-BFBB-5C604D63EEA9}" srcOrd="0" destOrd="0" presId="urn:microsoft.com/office/officeart/2024/3/layout/verticalVisualTextBlock1"/>
    <dgm:cxn modelId="{254A71EA-C874-40E1-AD13-C97718E47BC0}" type="presOf" srcId="{63F29D49-3720-406B-A701-4739DA5D23F5}" destId="{B480DCB4-B8F2-4CB9-80BA-783722925D75}" srcOrd="0" destOrd="0" presId="urn:microsoft.com/office/officeart/2024/3/layout/verticalVisualTextBlock1"/>
    <dgm:cxn modelId="{645113EF-84F3-47AB-A4A4-540C509C6BF1}" type="presOf" srcId="{23EB35BF-3229-463B-9947-93D90CA8A92F}" destId="{1499388C-98C4-4340-8A6D-533BFAFFD9C4}" srcOrd="0" destOrd="0" presId="urn:microsoft.com/office/officeart/2024/3/layout/verticalVisualTextBlock1"/>
    <dgm:cxn modelId="{5F569DFA-DC24-4D27-9C3C-1A855E276528}" type="presOf" srcId="{AF2C9705-061F-4007-842E-3BA9C3430D8E}" destId="{F747A939-19C0-4626-8A95-F364C9C63D77}" srcOrd="0" destOrd="0" presId="urn:microsoft.com/office/officeart/2024/3/layout/verticalVisualTextBlock1"/>
    <dgm:cxn modelId="{6A1F20C9-802A-4CFF-95FE-9377C39CB54F}" type="presParOf" srcId="{F747A939-19C0-4626-8A95-F364C9C63D77}" destId="{B31C0A6A-891B-453E-BBA5-EF5FB8D84EE0}" srcOrd="0" destOrd="0" presId="urn:microsoft.com/office/officeart/2024/3/layout/verticalVisualTextBlock1"/>
    <dgm:cxn modelId="{AAA5C4B6-84C0-4FEA-A0D2-A950A54BE928}" type="presParOf" srcId="{B31C0A6A-891B-453E-BBA5-EF5FB8D84EE0}" destId="{FD8460F8-F9F5-4A45-9D35-CD3B59AE4DEB}" srcOrd="0" destOrd="0" presId="urn:microsoft.com/office/officeart/2024/3/layout/verticalVisualTextBlock1"/>
    <dgm:cxn modelId="{2C163C8F-0C1C-451D-9195-8FCEB078169D}" type="presParOf" srcId="{B31C0A6A-891B-453E-BBA5-EF5FB8D84EE0}" destId="{1499388C-98C4-4340-8A6D-533BFAFFD9C4}" srcOrd="1" destOrd="0" presId="urn:microsoft.com/office/officeart/2024/3/layout/verticalVisualTextBlock1"/>
    <dgm:cxn modelId="{35764C3F-BF70-476C-9CE6-2531FCE1827F}" type="presParOf" srcId="{B31C0A6A-891B-453E-BBA5-EF5FB8D84EE0}" destId="{3E32E7A2-C800-44C6-86A6-052930987D05}" srcOrd="2" destOrd="0" presId="urn:microsoft.com/office/officeart/2024/3/layout/verticalVisualTextBlock1"/>
    <dgm:cxn modelId="{82E2B0F5-1874-4786-B9BC-8134E36D2A78}" type="presParOf" srcId="{F747A939-19C0-4626-8A95-F364C9C63D77}" destId="{B480DCB4-B8F2-4CB9-80BA-783722925D75}" srcOrd="1" destOrd="0" presId="urn:microsoft.com/office/officeart/2024/3/layout/verticalVisualTextBlock1"/>
    <dgm:cxn modelId="{0237A30C-BFE0-4D2F-8630-3AB222590355}" type="presParOf" srcId="{F747A939-19C0-4626-8A95-F364C9C63D77}" destId="{0D22E1C9-E9C3-42DD-9861-7511894B209D}" srcOrd="2" destOrd="0" presId="urn:microsoft.com/office/officeart/2024/3/layout/verticalVisualTextBlock1"/>
    <dgm:cxn modelId="{88917A56-DFB4-4385-BFFC-1FF28F0242E9}" type="presParOf" srcId="{0D22E1C9-E9C3-42DD-9861-7511894B209D}" destId="{63DE6D58-D604-40F7-9005-D39E7F0364AC}" srcOrd="0" destOrd="0" presId="urn:microsoft.com/office/officeart/2024/3/layout/verticalVisualTextBlock1"/>
    <dgm:cxn modelId="{446AA3AD-ECC5-4E65-8129-7625D59C8563}" type="presParOf" srcId="{0D22E1C9-E9C3-42DD-9861-7511894B209D}" destId="{2B5AE494-9777-43E1-95A1-37E95523AE4B}" srcOrd="1" destOrd="0" presId="urn:microsoft.com/office/officeart/2024/3/layout/verticalVisualTextBlock1"/>
    <dgm:cxn modelId="{19FB9DF2-D8D8-4945-A8FA-46995D015FB2}" type="presParOf" srcId="{0D22E1C9-E9C3-42DD-9861-7511894B209D}" destId="{3A55E860-BCAF-4C49-BFBB-5C604D63EEA9}" srcOrd="2" destOrd="0" presId="urn:microsoft.com/office/officeart/2024/3/layout/verticalVisualTextBlock1"/>
    <dgm:cxn modelId="{2476E22C-EC87-4927-A36C-BC0699CAEEB0}" type="presParOf" srcId="{F747A939-19C0-4626-8A95-F364C9C63D77}" destId="{95B111D2-C022-4EB4-B7F6-6A2611F58A5D}" srcOrd="3" destOrd="0" presId="urn:microsoft.com/office/officeart/2024/3/layout/verticalVisualTextBlock1"/>
    <dgm:cxn modelId="{670BB7D5-A7C2-4746-B0B6-AB5511BBE133}" type="presParOf" srcId="{F747A939-19C0-4626-8A95-F364C9C63D77}" destId="{7D75A279-0AA1-49DF-8B93-DE3D0099376A}" srcOrd="4" destOrd="0" presId="urn:microsoft.com/office/officeart/2024/3/layout/verticalVisualTextBlock1"/>
    <dgm:cxn modelId="{DB07B652-C8E3-4E6A-B9F2-417A5B04CCAD}" type="presParOf" srcId="{7D75A279-0AA1-49DF-8B93-DE3D0099376A}" destId="{CE0EEF9A-4CAD-49F6-8821-8749EC8E661C}" srcOrd="0" destOrd="0" presId="urn:microsoft.com/office/officeart/2024/3/layout/verticalVisualTextBlock1"/>
    <dgm:cxn modelId="{B9C7F314-99A5-4419-AD54-7AAB5E351474}" type="presParOf" srcId="{7D75A279-0AA1-49DF-8B93-DE3D0099376A}" destId="{C2755BC4-A4A7-4002-9D1E-E5FE52EF4888}" srcOrd="1" destOrd="0" presId="urn:microsoft.com/office/officeart/2024/3/layout/verticalVisualTextBlock1"/>
    <dgm:cxn modelId="{5119D40B-1661-4435-ABF3-B4014B94211F}" type="presParOf" srcId="{7D75A279-0AA1-49DF-8B93-DE3D0099376A}" destId="{ECA9CBD5-9DD0-450E-A487-B2D9E0464661}"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085912-4405-4F6C-A6AD-E7F33213DC50}"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D7E0430E-C001-4FCF-AECD-F8801DA17926}">
      <dgm:prSet/>
      <dgm:spPr/>
      <dgm:t>
        <a:bodyPr/>
        <a:lstStyle/>
        <a:p>
          <a:pPr>
            <a:lnSpc>
              <a:spcPct val="100000"/>
            </a:lnSpc>
            <a:defRPr b="1"/>
          </a:pPr>
          <a:r>
            <a:rPr lang="en-US"/>
            <a:t>Standardized Hardware Benefits</a:t>
          </a:r>
        </a:p>
      </dgm:t>
    </dgm:pt>
    <dgm:pt modelId="{647CE800-A49E-4770-A263-D25A07CC2919}" type="parTrans" cxnId="{714BFD5B-C81A-4A2D-88BD-8CB5CA477755}">
      <dgm:prSet/>
      <dgm:spPr/>
      <dgm:t>
        <a:bodyPr/>
        <a:lstStyle/>
        <a:p>
          <a:endParaRPr lang="en-US"/>
        </a:p>
      </dgm:t>
    </dgm:pt>
    <dgm:pt modelId="{C7849AD5-21D1-46E2-B1BC-189012A23843}" type="sibTrans" cxnId="{714BFD5B-C81A-4A2D-88BD-8CB5CA477755}">
      <dgm:prSet/>
      <dgm:spPr/>
      <dgm:t>
        <a:bodyPr/>
        <a:lstStyle/>
        <a:p>
          <a:pPr>
            <a:lnSpc>
              <a:spcPct val="100000"/>
            </a:lnSpc>
            <a:defRPr b="1"/>
          </a:pPr>
          <a:endParaRPr lang="en-US"/>
        </a:p>
      </dgm:t>
    </dgm:pt>
    <dgm:pt modelId="{0F04C268-5885-43E8-A67E-FACCD65121D6}">
      <dgm:prSet/>
      <dgm:spPr/>
      <dgm:t>
        <a:bodyPr/>
        <a:lstStyle/>
        <a:p>
          <a:pPr>
            <a:lnSpc>
              <a:spcPct val="100000"/>
            </a:lnSpc>
          </a:pPr>
          <a:r>
            <a:rPr lang="en-US"/>
            <a:t>Standardized hardware creates a consistent and reliable environment that boosts employee productivity across departments.</a:t>
          </a:r>
        </a:p>
      </dgm:t>
    </dgm:pt>
    <dgm:pt modelId="{C4C58BCE-7EFD-4843-B827-BF286C5A062F}" type="parTrans" cxnId="{235C18AA-EFFA-49F6-8352-797F103D6A31}">
      <dgm:prSet/>
      <dgm:spPr/>
      <dgm:t>
        <a:bodyPr/>
        <a:lstStyle/>
        <a:p>
          <a:endParaRPr lang="en-US"/>
        </a:p>
      </dgm:t>
    </dgm:pt>
    <dgm:pt modelId="{34C544B0-1AAF-4739-A133-2D0B497853E5}" type="sibTrans" cxnId="{235C18AA-EFFA-49F6-8352-797F103D6A31}">
      <dgm:prSet/>
      <dgm:spPr/>
      <dgm:t>
        <a:bodyPr/>
        <a:lstStyle/>
        <a:p>
          <a:endParaRPr lang="en-US"/>
        </a:p>
      </dgm:t>
    </dgm:pt>
    <dgm:pt modelId="{EBD2065A-7D51-49DD-BD99-01FD2617A9AF}">
      <dgm:prSet/>
      <dgm:spPr/>
      <dgm:t>
        <a:bodyPr/>
        <a:lstStyle/>
        <a:p>
          <a:pPr>
            <a:lnSpc>
              <a:spcPct val="100000"/>
            </a:lnSpc>
            <a:defRPr b="1"/>
          </a:pPr>
          <a:r>
            <a:rPr lang="en-US"/>
            <a:t>Optimized Network Connectivity</a:t>
          </a:r>
        </a:p>
      </dgm:t>
    </dgm:pt>
    <dgm:pt modelId="{6011E058-8B36-46C6-ADCC-53C0458505FF}" type="parTrans" cxnId="{01D0AD82-B1F8-45AB-A649-0AE91A9A6811}">
      <dgm:prSet/>
      <dgm:spPr/>
      <dgm:t>
        <a:bodyPr/>
        <a:lstStyle/>
        <a:p>
          <a:endParaRPr lang="en-US"/>
        </a:p>
      </dgm:t>
    </dgm:pt>
    <dgm:pt modelId="{4EE2EF0A-F744-4BDA-848A-526C27535579}" type="sibTrans" cxnId="{01D0AD82-B1F8-45AB-A649-0AE91A9A6811}">
      <dgm:prSet/>
      <dgm:spPr/>
      <dgm:t>
        <a:bodyPr/>
        <a:lstStyle/>
        <a:p>
          <a:pPr>
            <a:lnSpc>
              <a:spcPct val="100000"/>
            </a:lnSpc>
            <a:defRPr b="1"/>
          </a:pPr>
          <a:endParaRPr lang="en-US"/>
        </a:p>
      </dgm:t>
    </dgm:pt>
    <dgm:pt modelId="{120303B1-FFE0-4FC4-A708-46A8D4585AC6}">
      <dgm:prSet/>
      <dgm:spPr/>
      <dgm:t>
        <a:bodyPr/>
        <a:lstStyle/>
        <a:p>
          <a:pPr>
            <a:lnSpc>
              <a:spcPct val="100000"/>
            </a:lnSpc>
          </a:pPr>
          <a:r>
            <a:rPr lang="en-US"/>
            <a:t>Optimized networks provide reliable connectivity, enabling sales teams and other employees to work without disruptions.</a:t>
          </a:r>
        </a:p>
      </dgm:t>
    </dgm:pt>
    <dgm:pt modelId="{26EF9702-CEB6-420A-9F0B-F2BF09D8EA1F}" type="parTrans" cxnId="{573AC0E2-A314-474D-AAB1-6B0DE5ED194A}">
      <dgm:prSet/>
      <dgm:spPr/>
      <dgm:t>
        <a:bodyPr/>
        <a:lstStyle/>
        <a:p>
          <a:endParaRPr lang="en-US"/>
        </a:p>
      </dgm:t>
    </dgm:pt>
    <dgm:pt modelId="{A23D7BA7-D403-4875-BA2A-463FCA57F82C}" type="sibTrans" cxnId="{573AC0E2-A314-474D-AAB1-6B0DE5ED194A}">
      <dgm:prSet/>
      <dgm:spPr/>
      <dgm:t>
        <a:bodyPr/>
        <a:lstStyle/>
        <a:p>
          <a:endParaRPr lang="en-US"/>
        </a:p>
      </dgm:t>
    </dgm:pt>
    <dgm:pt modelId="{921CD8C4-9A18-4069-BE0A-18F29668E83D}">
      <dgm:prSet/>
      <dgm:spPr/>
      <dgm:t>
        <a:bodyPr/>
        <a:lstStyle/>
        <a:p>
          <a:pPr>
            <a:lnSpc>
              <a:spcPct val="100000"/>
            </a:lnSpc>
            <a:defRPr b="1"/>
          </a:pPr>
          <a:r>
            <a:rPr lang="en-US"/>
            <a:t>Modern Software Tools</a:t>
          </a:r>
        </a:p>
      </dgm:t>
    </dgm:pt>
    <dgm:pt modelId="{D2987E40-2202-4F50-94F7-66B26CF4AF73}" type="parTrans" cxnId="{C8DEB7A9-E449-46DB-A94F-356FAC4D29F3}">
      <dgm:prSet/>
      <dgm:spPr/>
      <dgm:t>
        <a:bodyPr/>
        <a:lstStyle/>
        <a:p>
          <a:endParaRPr lang="en-US"/>
        </a:p>
      </dgm:t>
    </dgm:pt>
    <dgm:pt modelId="{A872D08C-7374-4F0D-B86D-EDB9A8298FA6}" type="sibTrans" cxnId="{C8DEB7A9-E449-46DB-A94F-356FAC4D29F3}">
      <dgm:prSet/>
      <dgm:spPr/>
      <dgm:t>
        <a:bodyPr/>
        <a:lstStyle/>
        <a:p>
          <a:endParaRPr lang="en-US"/>
        </a:p>
      </dgm:t>
    </dgm:pt>
    <dgm:pt modelId="{BF796E58-2F6D-48BD-9F04-B528AA8FE388}">
      <dgm:prSet/>
      <dgm:spPr/>
      <dgm:t>
        <a:bodyPr/>
        <a:lstStyle/>
        <a:p>
          <a:pPr>
            <a:lnSpc>
              <a:spcPct val="100000"/>
            </a:lnSpc>
          </a:pPr>
          <a:r>
            <a:rPr lang="en-US"/>
            <a:t>Modern software tools centralize processes, helping administrative staff improve efficiency and service quality.</a:t>
          </a:r>
        </a:p>
      </dgm:t>
    </dgm:pt>
    <dgm:pt modelId="{DB14E650-6365-4EC5-992C-7A8818A42394}" type="parTrans" cxnId="{8CC28392-5457-4CB4-826F-6B788801A4D8}">
      <dgm:prSet/>
      <dgm:spPr/>
      <dgm:t>
        <a:bodyPr/>
        <a:lstStyle/>
        <a:p>
          <a:endParaRPr lang="en-US"/>
        </a:p>
      </dgm:t>
    </dgm:pt>
    <dgm:pt modelId="{41B9893E-1310-422D-A59B-9FF742633046}" type="sibTrans" cxnId="{8CC28392-5457-4CB4-826F-6B788801A4D8}">
      <dgm:prSet/>
      <dgm:spPr/>
      <dgm:t>
        <a:bodyPr/>
        <a:lstStyle/>
        <a:p>
          <a:endParaRPr lang="en-US"/>
        </a:p>
      </dgm:t>
    </dgm:pt>
    <dgm:pt modelId="{31B382D9-2FA4-4B73-B528-765B97CB8DAD}" type="pres">
      <dgm:prSet presAssocID="{01085912-4405-4F6C-A6AD-E7F33213DC50}" presName="Root" presStyleCnt="0">
        <dgm:presLayoutVars>
          <dgm:dir/>
          <dgm:resizeHandles val="exact"/>
        </dgm:presLayoutVars>
      </dgm:prSet>
      <dgm:spPr/>
    </dgm:pt>
    <dgm:pt modelId="{13B1DEB2-EA08-484A-B995-A1DCD2D38696}" type="pres">
      <dgm:prSet presAssocID="{D7E0430E-C001-4FCF-AECD-F8801DA17926}" presName="Composite" presStyleCnt="0"/>
      <dgm:spPr/>
    </dgm:pt>
    <dgm:pt modelId="{AC276128-2C29-425B-9F80-96593E417FA9}" type="pres">
      <dgm:prSet presAssocID="{D7E0430E-C001-4FCF-AECD-F8801DA17926}" presName="Picture"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l="8293" r="24956" b="-2"/>
          <a:stretch/>
        </a:blipFill>
      </dgm:spPr>
      <dgm:extLst>
        <a:ext uri="{E40237B7-FDA0-4F09-8148-C483321AD2D9}">
          <dgm14:cNvPr xmlns:dgm14="http://schemas.microsoft.com/office/drawing/2010/diagram" id="0" name="" descr="Modern looking office with computers and other non-technical stuff."/>
        </a:ext>
      </dgm:extLst>
    </dgm:pt>
    <dgm:pt modelId="{A19C28A8-FEBE-493F-9688-8E366917310C}" type="pres">
      <dgm:prSet presAssocID="{D7E0430E-C001-4FCF-AECD-F8801DA17926}" presName="Subtitle" presStyleLbl="revTx" presStyleIdx="0" presStyleCnt="6">
        <dgm:presLayoutVars>
          <dgm:chMax val="0"/>
          <dgm:bulletEnabled/>
        </dgm:presLayoutVars>
      </dgm:prSet>
      <dgm:spPr/>
    </dgm:pt>
    <dgm:pt modelId="{A33B32FC-1CFB-41DC-815D-295D65FB95B5}" type="pres">
      <dgm:prSet presAssocID="{D7E0430E-C001-4FCF-AECD-F8801DA17926}" presName="Description" presStyleLbl="revTx" presStyleIdx="1" presStyleCnt="6">
        <dgm:presLayoutVars>
          <dgm:bulletEnabled/>
        </dgm:presLayoutVars>
      </dgm:prSet>
      <dgm:spPr/>
    </dgm:pt>
    <dgm:pt modelId="{66967152-24ED-4C48-BA16-81865DEFFDFC}" type="pres">
      <dgm:prSet presAssocID="{C7849AD5-21D1-46E2-B1BC-189012A23843}" presName="sibTrans" presStyleLbl="sibTrans2D1" presStyleIdx="0" presStyleCnt="0"/>
      <dgm:spPr/>
    </dgm:pt>
    <dgm:pt modelId="{67CC79CE-01CF-493B-BFDD-40994D1BCE81}" type="pres">
      <dgm:prSet presAssocID="{EBD2065A-7D51-49DD-BD99-01FD2617A9AF}" presName="Composite" presStyleCnt="0"/>
      <dgm:spPr/>
    </dgm:pt>
    <dgm:pt modelId="{D897903D-8ABD-421D-ACA4-0ED4BE51BB4A}" type="pres">
      <dgm:prSet presAssocID="{EBD2065A-7D51-49DD-BD99-01FD2617A9AF}" presName="Picture" presStyleLbl="node1" presStyleIdx="1" presStyleCnt="3"/>
      <dgm:spPr>
        <a:blipFill>
          <a:blip xmlns:r="http://schemas.openxmlformats.org/officeDocument/2006/relationships" r:embed="rId2" cstate="print">
            <a:extLst>
              <a:ext uri="{28A0092B-C50C-407E-A947-70E740481C1C}">
                <a14:useLocalDpi xmlns:a14="http://schemas.microsoft.com/office/drawing/2010/main" val="0"/>
              </a:ext>
            </a:extLst>
          </a:blip>
          <a:srcRect l="4530" r="39216" b="-6"/>
          <a:stretch/>
        </a:blipFill>
      </dgm:spPr>
      <dgm:extLst>
        <a:ext uri="{E40237B7-FDA0-4F09-8148-C483321AD2D9}">
          <dgm14:cNvPr xmlns:dgm14="http://schemas.microsoft.com/office/drawing/2010/diagram" id="0" name="" descr="A 3D pattern of ring shapes connected by lines"/>
        </a:ext>
      </dgm:extLst>
    </dgm:pt>
    <dgm:pt modelId="{B96021E6-23A3-4B7E-B938-D3DFD5438FCE}" type="pres">
      <dgm:prSet presAssocID="{EBD2065A-7D51-49DD-BD99-01FD2617A9AF}" presName="Subtitle" presStyleLbl="revTx" presStyleIdx="2" presStyleCnt="6">
        <dgm:presLayoutVars>
          <dgm:chMax val="0"/>
          <dgm:bulletEnabled/>
        </dgm:presLayoutVars>
      </dgm:prSet>
      <dgm:spPr/>
    </dgm:pt>
    <dgm:pt modelId="{76B491D5-F82F-4225-AC7A-1B4D64DFBDAA}" type="pres">
      <dgm:prSet presAssocID="{EBD2065A-7D51-49DD-BD99-01FD2617A9AF}" presName="Description" presStyleLbl="revTx" presStyleIdx="3" presStyleCnt="6">
        <dgm:presLayoutVars>
          <dgm:bulletEnabled/>
        </dgm:presLayoutVars>
      </dgm:prSet>
      <dgm:spPr/>
    </dgm:pt>
    <dgm:pt modelId="{D8CBF862-0462-4F28-92E8-E74E45B0BF8D}" type="pres">
      <dgm:prSet presAssocID="{4EE2EF0A-F744-4BDA-848A-526C27535579}" presName="sibTrans" presStyleLbl="sibTrans2D1" presStyleIdx="0" presStyleCnt="0"/>
      <dgm:spPr/>
    </dgm:pt>
    <dgm:pt modelId="{0DFD263D-C7E3-4EF9-BE72-6C41F285A1B6}" type="pres">
      <dgm:prSet presAssocID="{921CD8C4-9A18-4069-BE0A-18F29668E83D}" presName="Composite" presStyleCnt="0"/>
      <dgm:spPr/>
    </dgm:pt>
    <dgm:pt modelId="{EF166E8D-7679-4FBE-B6C6-C3E2AAB9C7DF}" type="pres">
      <dgm:prSet presAssocID="{921CD8C4-9A18-4069-BE0A-18F29668E83D}" presName="Picture" presStyleLbl="nod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l="9638" r="23610" b="-2"/>
          <a:stretch/>
        </a:blipFill>
      </dgm:spPr>
      <dgm:extLst>
        <a:ext uri="{E40237B7-FDA0-4F09-8148-C483321AD2D9}">
          <dgm14:cNvPr xmlns:dgm14="http://schemas.microsoft.com/office/drawing/2010/diagram" id="0" name="" descr="People working"/>
        </a:ext>
      </dgm:extLst>
    </dgm:pt>
    <dgm:pt modelId="{1339DCD3-C9B0-48A4-8EA0-16D68B55F726}" type="pres">
      <dgm:prSet presAssocID="{921CD8C4-9A18-4069-BE0A-18F29668E83D}" presName="Subtitle" presStyleLbl="revTx" presStyleIdx="4" presStyleCnt="6">
        <dgm:presLayoutVars>
          <dgm:chMax val="0"/>
          <dgm:bulletEnabled/>
        </dgm:presLayoutVars>
      </dgm:prSet>
      <dgm:spPr/>
    </dgm:pt>
    <dgm:pt modelId="{6B3D8CEF-23DE-4DE6-915A-2903F8AD6874}" type="pres">
      <dgm:prSet presAssocID="{921CD8C4-9A18-4069-BE0A-18F29668E83D}" presName="Description" presStyleLbl="revTx" presStyleIdx="5" presStyleCnt="6">
        <dgm:presLayoutVars>
          <dgm:bulletEnabled/>
        </dgm:presLayoutVars>
      </dgm:prSet>
      <dgm:spPr/>
    </dgm:pt>
  </dgm:ptLst>
  <dgm:cxnLst>
    <dgm:cxn modelId="{0ABB8A0B-E5B9-47BB-9F01-F021E14A5626}" type="presOf" srcId="{0F04C268-5885-43E8-A67E-FACCD65121D6}" destId="{A33B32FC-1CFB-41DC-815D-295D65FB95B5}" srcOrd="0" destOrd="0" presId="urn:microsoft.com/office/officeart/2024/3/layout/verticalVisualTextBlock1"/>
    <dgm:cxn modelId="{DFD5CD36-A3D5-47E7-AED9-15347F8DB83E}" type="presOf" srcId="{EBD2065A-7D51-49DD-BD99-01FD2617A9AF}" destId="{B96021E6-23A3-4B7E-B938-D3DFD5438FCE}" srcOrd="0" destOrd="0" presId="urn:microsoft.com/office/officeart/2024/3/layout/verticalVisualTextBlock1"/>
    <dgm:cxn modelId="{714BFD5B-C81A-4A2D-88BD-8CB5CA477755}" srcId="{01085912-4405-4F6C-A6AD-E7F33213DC50}" destId="{D7E0430E-C001-4FCF-AECD-F8801DA17926}" srcOrd="0" destOrd="0" parTransId="{647CE800-A49E-4770-A263-D25A07CC2919}" sibTransId="{C7849AD5-21D1-46E2-B1BC-189012A23843}"/>
    <dgm:cxn modelId="{B55EEF68-9829-483C-A951-FDD17841D65B}" type="presOf" srcId="{921CD8C4-9A18-4069-BE0A-18F29668E83D}" destId="{1339DCD3-C9B0-48A4-8EA0-16D68B55F726}" srcOrd="0" destOrd="0" presId="urn:microsoft.com/office/officeart/2024/3/layout/verticalVisualTextBlock1"/>
    <dgm:cxn modelId="{12304C82-AF9A-4DCD-AE6F-63737D9FFA76}" type="presOf" srcId="{4EE2EF0A-F744-4BDA-848A-526C27535579}" destId="{D8CBF862-0462-4F28-92E8-E74E45B0BF8D}" srcOrd="0" destOrd="0" presId="urn:microsoft.com/office/officeart/2024/3/layout/verticalVisualTextBlock1"/>
    <dgm:cxn modelId="{01D0AD82-B1F8-45AB-A649-0AE91A9A6811}" srcId="{01085912-4405-4F6C-A6AD-E7F33213DC50}" destId="{EBD2065A-7D51-49DD-BD99-01FD2617A9AF}" srcOrd="1" destOrd="0" parTransId="{6011E058-8B36-46C6-ADCC-53C0458505FF}" sibTransId="{4EE2EF0A-F744-4BDA-848A-526C27535579}"/>
    <dgm:cxn modelId="{BE7B698E-A4E1-4192-B9FE-431F0DFAAAA2}" type="presOf" srcId="{C7849AD5-21D1-46E2-B1BC-189012A23843}" destId="{66967152-24ED-4C48-BA16-81865DEFFDFC}" srcOrd="0" destOrd="0" presId="urn:microsoft.com/office/officeart/2024/3/layout/verticalVisualTextBlock1"/>
    <dgm:cxn modelId="{8CC28392-5457-4CB4-826F-6B788801A4D8}" srcId="{921CD8C4-9A18-4069-BE0A-18F29668E83D}" destId="{BF796E58-2F6D-48BD-9F04-B528AA8FE388}" srcOrd="0" destOrd="0" parTransId="{DB14E650-6365-4EC5-992C-7A8818A42394}" sibTransId="{41B9893E-1310-422D-A59B-9FF742633046}"/>
    <dgm:cxn modelId="{54E39A94-5EA0-4F06-B5AF-61F7E0EA2E8A}" type="presOf" srcId="{120303B1-FFE0-4FC4-A708-46A8D4585AC6}" destId="{76B491D5-F82F-4225-AC7A-1B4D64DFBDAA}" srcOrd="0" destOrd="0" presId="urn:microsoft.com/office/officeart/2024/3/layout/verticalVisualTextBlock1"/>
    <dgm:cxn modelId="{C8DEB7A9-E449-46DB-A94F-356FAC4D29F3}" srcId="{01085912-4405-4F6C-A6AD-E7F33213DC50}" destId="{921CD8C4-9A18-4069-BE0A-18F29668E83D}" srcOrd="2" destOrd="0" parTransId="{D2987E40-2202-4F50-94F7-66B26CF4AF73}" sibTransId="{A872D08C-7374-4F0D-B86D-EDB9A8298FA6}"/>
    <dgm:cxn modelId="{235C18AA-EFFA-49F6-8352-797F103D6A31}" srcId="{D7E0430E-C001-4FCF-AECD-F8801DA17926}" destId="{0F04C268-5885-43E8-A67E-FACCD65121D6}" srcOrd="0" destOrd="0" parTransId="{C4C58BCE-7EFD-4843-B827-BF286C5A062F}" sibTransId="{34C544B0-1AAF-4739-A133-2D0B497853E5}"/>
    <dgm:cxn modelId="{7067E3AA-CAFC-44A3-A0F3-8FA02895C56E}" type="presOf" srcId="{01085912-4405-4F6C-A6AD-E7F33213DC50}" destId="{31B382D9-2FA4-4B73-B528-765B97CB8DAD}" srcOrd="0" destOrd="0" presId="urn:microsoft.com/office/officeart/2024/3/layout/verticalVisualTextBlock1"/>
    <dgm:cxn modelId="{573AC0E2-A314-474D-AAB1-6B0DE5ED194A}" srcId="{EBD2065A-7D51-49DD-BD99-01FD2617A9AF}" destId="{120303B1-FFE0-4FC4-A708-46A8D4585AC6}" srcOrd="0" destOrd="0" parTransId="{26EF9702-CEB6-420A-9F0B-F2BF09D8EA1F}" sibTransId="{A23D7BA7-D403-4875-BA2A-463FCA57F82C}"/>
    <dgm:cxn modelId="{9EDB8BEB-8B01-4D0F-A8C7-CC57A7667D4D}" type="presOf" srcId="{BF796E58-2F6D-48BD-9F04-B528AA8FE388}" destId="{6B3D8CEF-23DE-4DE6-915A-2903F8AD6874}" srcOrd="0" destOrd="0" presId="urn:microsoft.com/office/officeart/2024/3/layout/verticalVisualTextBlock1"/>
    <dgm:cxn modelId="{BB76D7F6-3A74-498B-960C-73EBDE30AED7}" type="presOf" srcId="{D7E0430E-C001-4FCF-AECD-F8801DA17926}" destId="{A19C28A8-FEBE-493F-9688-8E366917310C}" srcOrd="0" destOrd="0" presId="urn:microsoft.com/office/officeart/2024/3/layout/verticalVisualTextBlock1"/>
    <dgm:cxn modelId="{EF693E4C-40F3-4FE1-9B86-1E8BE0AD3397}" type="presParOf" srcId="{31B382D9-2FA4-4B73-B528-765B97CB8DAD}" destId="{13B1DEB2-EA08-484A-B995-A1DCD2D38696}" srcOrd="0" destOrd="0" presId="urn:microsoft.com/office/officeart/2024/3/layout/verticalVisualTextBlock1"/>
    <dgm:cxn modelId="{D6CCBF95-D6EA-4ACB-9AAB-083C6A39D3F5}" type="presParOf" srcId="{13B1DEB2-EA08-484A-B995-A1DCD2D38696}" destId="{AC276128-2C29-425B-9F80-96593E417FA9}" srcOrd="0" destOrd="0" presId="urn:microsoft.com/office/officeart/2024/3/layout/verticalVisualTextBlock1"/>
    <dgm:cxn modelId="{FE706088-19C6-471D-81AA-5392D4E6A9C1}" type="presParOf" srcId="{13B1DEB2-EA08-484A-B995-A1DCD2D38696}" destId="{A19C28A8-FEBE-493F-9688-8E366917310C}" srcOrd="1" destOrd="0" presId="urn:microsoft.com/office/officeart/2024/3/layout/verticalVisualTextBlock1"/>
    <dgm:cxn modelId="{227C8942-DB89-4EFE-8F40-98E1F4123160}" type="presParOf" srcId="{13B1DEB2-EA08-484A-B995-A1DCD2D38696}" destId="{A33B32FC-1CFB-41DC-815D-295D65FB95B5}" srcOrd="2" destOrd="0" presId="urn:microsoft.com/office/officeart/2024/3/layout/verticalVisualTextBlock1"/>
    <dgm:cxn modelId="{3B4D4C68-2D9B-4968-9763-E4DC08ECBFF3}" type="presParOf" srcId="{31B382D9-2FA4-4B73-B528-765B97CB8DAD}" destId="{66967152-24ED-4C48-BA16-81865DEFFDFC}" srcOrd="1" destOrd="0" presId="urn:microsoft.com/office/officeart/2024/3/layout/verticalVisualTextBlock1"/>
    <dgm:cxn modelId="{698EDC07-F575-43BF-B074-546A58EF1FD9}" type="presParOf" srcId="{31B382D9-2FA4-4B73-B528-765B97CB8DAD}" destId="{67CC79CE-01CF-493B-BFDD-40994D1BCE81}" srcOrd="2" destOrd="0" presId="urn:microsoft.com/office/officeart/2024/3/layout/verticalVisualTextBlock1"/>
    <dgm:cxn modelId="{50F73EF3-F1CA-40BC-9A2E-426312354356}" type="presParOf" srcId="{67CC79CE-01CF-493B-BFDD-40994D1BCE81}" destId="{D897903D-8ABD-421D-ACA4-0ED4BE51BB4A}" srcOrd="0" destOrd="0" presId="urn:microsoft.com/office/officeart/2024/3/layout/verticalVisualTextBlock1"/>
    <dgm:cxn modelId="{EDD45821-A84A-4328-BC75-7A00CEDDA2D7}" type="presParOf" srcId="{67CC79CE-01CF-493B-BFDD-40994D1BCE81}" destId="{B96021E6-23A3-4B7E-B938-D3DFD5438FCE}" srcOrd="1" destOrd="0" presId="urn:microsoft.com/office/officeart/2024/3/layout/verticalVisualTextBlock1"/>
    <dgm:cxn modelId="{0E261C8F-480A-47F7-B3A6-AC5805A68853}" type="presParOf" srcId="{67CC79CE-01CF-493B-BFDD-40994D1BCE81}" destId="{76B491D5-F82F-4225-AC7A-1B4D64DFBDAA}" srcOrd="2" destOrd="0" presId="urn:microsoft.com/office/officeart/2024/3/layout/verticalVisualTextBlock1"/>
    <dgm:cxn modelId="{D1F25F5E-0567-46F6-AC52-6F2D5BC86E05}" type="presParOf" srcId="{31B382D9-2FA4-4B73-B528-765B97CB8DAD}" destId="{D8CBF862-0462-4F28-92E8-E74E45B0BF8D}" srcOrd="3" destOrd="0" presId="urn:microsoft.com/office/officeart/2024/3/layout/verticalVisualTextBlock1"/>
    <dgm:cxn modelId="{E4F07FE4-5DA0-4E72-BE2A-C8EA88A82D45}" type="presParOf" srcId="{31B382D9-2FA4-4B73-B528-765B97CB8DAD}" destId="{0DFD263D-C7E3-4EF9-BE72-6C41F285A1B6}" srcOrd="4" destOrd="0" presId="urn:microsoft.com/office/officeart/2024/3/layout/verticalVisualTextBlock1"/>
    <dgm:cxn modelId="{30F4D13B-9895-404D-BE7E-8BA0097308A4}" type="presParOf" srcId="{0DFD263D-C7E3-4EF9-BE72-6C41F285A1B6}" destId="{EF166E8D-7679-4FBE-B6C6-C3E2AAB9C7DF}" srcOrd="0" destOrd="0" presId="urn:microsoft.com/office/officeart/2024/3/layout/verticalVisualTextBlock1"/>
    <dgm:cxn modelId="{7EA9B66E-49E6-4CF7-AB81-538EC7FD60A5}" type="presParOf" srcId="{0DFD263D-C7E3-4EF9-BE72-6C41F285A1B6}" destId="{1339DCD3-C9B0-48A4-8EA0-16D68B55F726}" srcOrd="1" destOrd="0" presId="urn:microsoft.com/office/officeart/2024/3/layout/verticalVisualTextBlock1"/>
    <dgm:cxn modelId="{4EA11271-A8C3-4553-94D8-113C5749FF28}" type="presParOf" srcId="{0DFD263D-C7E3-4EF9-BE72-6C41F285A1B6}" destId="{6B3D8CEF-23DE-4DE6-915A-2903F8AD6874}"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8460F8-F9F5-4A45-9D35-CD3B59AE4DEB}">
      <dsp:nvSpPr>
        <dsp:cNvPr id="0" name=""/>
        <dsp:cNvSpPr/>
      </dsp:nvSpPr>
      <dsp:spPr>
        <a:xfrm>
          <a:off x="0" y="0"/>
          <a:ext cx="1568124" cy="1568124"/>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rcRect l="41408" r="2339" b="-6"/>
          <a:stretch/>
        </a:blipFill>
        <a:ln>
          <a:noFill/>
        </a:ln>
        <a:effectLst/>
      </dsp:spPr>
      <dsp:style>
        <a:lnRef idx="0">
          <a:scrgbClr r="0" g="0" b="0"/>
        </a:lnRef>
        <a:fillRef idx="3">
          <a:scrgbClr r="0" g="0" b="0"/>
        </a:fillRef>
        <a:effectRef idx="2">
          <a:scrgbClr r="0" g="0" b="0"/>
        </a:effectRef>
        <a:fontRef idx="minor">
          <a:schemeClr val="lt1"/>
        </a:fontRef>
      </dsp:style>
    </dsp:sp>
    <dsp:sp modelId="{1499388C-98C4-4340-8A6D-533BFAFFD9C4}">
      <dsp:nvSpPr>
        <dsp:cNvPr id="0" name=""/>
        <dsp:cNvSpPr/>
      </dsp:nvSpPr>
      <dsp:spPr>
        <a:xfrm>
          <a:off x="1748124" y="0"/>
          <a:ext cx="9206387" cy="377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Typical IT Issues</a:t>
          </a:r>
        </a:p>
      </dsp:txBody>
      <dsp:txXfrm>
        <a:off x="1748124" y="0"/>
        <a:ext cx="9206387" cy="377171"/>
      </dsp:txXfrm>
    </dsp:sp>
    <dsp:sp modelId="{3E32E7A2-C800-44C6-86A6-052930987D05}">
      <dsp:nvSpPr>
        <dsp:cNvPr id="0" name=""/>
        <dsp:cNvSpPr/>
      </dsp:nvSpPr>
      <dsp:spPr>
        <a:xfrm>
          <a:off x="1748124" y="377171"/>
          <a:ext cx="9206387" cy="1190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Frequent problems include printer connectivity failures, user account lockouts, and slow system performance affecting productivity.</a:t>
          </a:r>
        </a:p>
      </dsp:txBody>
      <dsp:txXfrm>
        <a:off x="1748124" y="377171"/>
        <a:ext cx="9206387" cy="1190952"/>
      </dsp:txXfrm>
    </dsp:sp>
    <dsp:sp modelId="{63DE6D58-D604-40F7-9005-D39E7F0364AC}">
      <dsp:nvSpPr>
        <dsp:cNvPr id="0" name=""/>
        <dsp:cNvSpPr/>
      </dsp:nvSpPr>
      <dsp:spPr>
        <a:xfrm>
          <a:off x="0" y="1693574"/>
          <a:ext cx="1568124" cy="1568124"/>
        </a:xfrm>
        <a:prstGeom prst="rect">
          <a:avLst/>
        </a:prstGeom>
        <a:blipFill>
          <a:blip xmlns:r="http://schemas.openxmlformats.org/officeDocument/2006/relationships" r:embed="rId2" cstate="print">
            <a:extLst>
              <a:ext uri="{28A0092B-C50C-407E-A947-70E740481C1C}">
                <a14:useLocalDpi xmlns:a14="http://schemas.microsoft.com/office/drawing/2010/main" val="0"/>
              </a:ext>
            </a:extLst>
          </a:blip>
          <a:srcRect t="24501" r="-9" b="-8"/>
          <a:stretch/>
        </a:blipFill>
        <a:ln>
          <a:noFill/>
        </a:ln>
        <a:effectLst/>
      </dsp:spPr>
      <dsp:style>
        <a:lnRef idx="0">
          <a:scrgbClr r="0" g="0" b="0"/>
        </a:lnRef>
        <a:fillRef idx="3">
          <a:scrgbClr r="0" g="0" b="0"/>
        </a:fillRef>
        <a:effectRef idx="2">
          <a:scrgbClr r="0" g="0" b="0"/>
        </a:effectRef>
        <a:fontRef idx="minor">
          <a:schemeClr val="lt1"/>
        </a:fontRef>
      </dsp:style>
    </dsp:sp>
    <dsp:sp modelId="{2B5AE494-9777-43E1-95A1-37E95523AE4B}">
      <dsp:nvSpPr>
        <dsp:cNvPr id="0" name=""/>
        <dsp:cNvSpPr/>
      </dsp:nvSpPr>
      <dsp:spPr>
        <a:xfrm>
          <a:off x="1748124" y="1693574"/>
          <a:ext cx="9206387" cy="377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Troubleshooting Procedures</a:t>
          </a:r>
        </a:p>
      </dsp:txBody>
      <dsp:txXfrm>
        <a:off x="1748124" y="1693574"/>
        <a:ext cx="9206387" cy="377171"/>
      </dsp:txXfrm>
    </dsp:sp>
    <dsp:sp modelId="{3A55E860-BCAF-4C49-BFBB-5C604D63EEA9}">
      <dsp:nvSpPr>
        <dsp:cNvPr id="0" name=""/>
        <dsp:cNvSpPr/>
      </dsp:nvSpPr>
      <dsp:spPr>
        <a:xfrm>
          <a:off x="1748124" y="2070745"/>
          <a:ext cx="9206387" cy="1190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Standardized steps ensure consistent diagnosis and resolution of IT issues by support teams, improving efficiency.</a:t>
          </a:r>
        </a:p>
      </dsp:txBody>
      <dsp:txXfrm>
        <a:off x="1748124" y="2070745"/>
        <a:ext cx="9206387" cy="1190952"/>
      </dsp:txXfrm>
    </dsp:sp>
    <dsp:sp modelId="{CE0EEF9A-4CAD-49F6-8821-8749EC8E661C}">
      <dsp:nvSpPr>
        <dsp:cNvPr id="0" name=""/>
        <dsp:cNvSpPr/>
      </dsp:nvSpPr>
      <dsp:spPr>
        <a:xfrm>
          <a:off x="0" y="3387148"/>
          <a:ext cx="1568124" cy="1568124"/>
        </a:xfrm>
        <a:prstGeom prst="rect">
          <a:avLst/>
        </a:prstGeom>
        <a:blipFill>
          <a:blip xmlns:r="http://schemas.openxmlformats.org/officeDocument/2006/relationships" r:embed="rId3" cstate="print">
            <a:extLst>
              <a:ext uri="{28A0092B-C50C-407E-A947-70E740481C1C}">
                <a14:useLocalDpi xmlns:a14="http://schemas.microsoft.com/office/drawing/2010/main" val="0"/>
              </a:ext>
            </a:extLst>
          </a:blip>
          <a:srcRect l="8049" r="25200" b="-2"/>
          <a:stretch/>
        </a:blipFill>
        <a:ln>
          <a:noFill/>
        </a:ln>
        <a:effectLst/>
      </dsp:spPr>
      <dsp:style>
        <a:lnRef idx="0">
          <a:scrgbClr r="0" g="0" b="0"/>
        </a:lnRef>
        <a:fillRef idx="3">
          <a:scrgbClr r="0" g="0" b="0"/>
        </a:fillRef>
        <a:effectRef idx="2">
          <a:scrgbClr r="0" g="0" b="0"/>
        </a:effectRef>
        <a:fontRef idx="minor">
          <a:schemeClr val="lt1"/>
        </a:fontRef>
      </dsp:style>
    </dsp:sp>
    <dsp:sp modelId="{C2755BC4-A4A7-4002-9D1E-E5FE52EF4888}">
      <dsp:nvSpPr>
        <dsp:cNvPr id="0" name=""/>
        <dsp:cNvSpPr/>
      </dsp:nvSpPr>
      <dsp:spPr>
        <a:xfrm>
          <a:off x="1748124" y="3387148"/>
          <a:ext cx="9206387" cy="377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Incident Documentation</a:t>
          </a:r>
        </a:p>
      </dsp:txBody>
      <dsp:txXfrm>
        <a:off x="1748124" y="3387148"/>
        <a:ext cx="9206387" cy="377171"/>
      </dsp:txXfrm>
    </dsp:sp>
    <dsp:sp modelId="{ECA9CBD5-9DD0-450E-A487-B2D9E0464661}">
      <dsp:nvSpPr>
        <dsp:cNvPr id="0" name=""/>
        <dsp:cNvSpPr/>
      </dsp:nvSpPr>
      <dsp:spPr>
        <a:xfrm>
          <a:off x="1748124" y="3764319"/>
          <a:ext cx="9206387" cy="1190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Recording incidents helps track trends and drives ongoing improvements in IT system reliability and user experience.</a:t>
          </a:r>
        </a:p>
      </dsp:txBody>
      <dsp:txXfrm>
        <a:off x="1748124" y="3764319"/>
        <a:ext cx="9206387" cy="11909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276128-2C29-425B-9F80-96593E417FA9}">
      <dsp:nvSpPr>
        <dsp:cNvPr id="0" name=""/>
        <dsp:cNvSpPr/>
      </dsp:nvSpPr>
      <dsp:spPr>
        <a:xfrm>
          <a:off x="0" y="0"/>
          <a:ext cx="1568124" cy="1568124"/>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rcRect l="8293" r="24956" b="-2"/>
          <a:stretch/>
        </a:blipFill>
        <a:ln>
          <a:noFill/>
        </a:ln>
        <a:effectLst/>
      </dsp:spPr>
      <dsp:style>
        <a:lnRef idx="0">
          <a:scrgbClr r="0" g="0" b="0"/>
        </a:lnRef>
        <a:fillRef idx="3">
          <a:scrgbClr r="0" g="0" b="0"/>
        </a:fillRef>
        <a:effectRef idx="2">
          <a:scrgbClr r="0" g="0" b="0"/>
        </a:effectRef>
        <a:fontRef idx="minor">
          <a:schemeClr val="lt1"/>
        </a:fontRef>
      </dsp:style>
    </dsp:sp>
    <dsp:sp modelId="{A19C28A8-FEBE-493F-9688-8E366917310C}">
      <dsp:nvSpPr>
        <dsp:cNvPr id="0" name=""/>
        <dsp:cNvSpPr/>
      </dsp:nvSpPr>
      <dsp:spPr>
        <a:xfrm>
          <a:off x="1748124" y="0"/>
          <a:ext cx="9206387" cy="377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Standardized Hardware Benefits</a:t>
          </a:r>
        </a:p>
      </dsp:txBody>
      <dsp:txXfrm>
        <a:off x="1748124" y="0"/>
        <a:ext cx="9206387" cy="377171"/>
      </dsp:txXfrm>
    </dsp:sp>
    <dsp:sp modelId="{A33B32FC-1CFB-41DC-815D-295D65FB95B5}">
      <dsp:nvSpPr>
        <dsp:cNvPr id="0" name=""/>
        <dsp:cNvSpPr/>
      </dsp:nvSpPr>
      <dsp:spPr>
        <a:xfrm>
          <a:off x="1748124" y="377171"/>
          <a:ext cx="9206387" cy="1190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Standardized hardware creates a consistent and reliable environment that boosts employee productivity across departments.</a:t>
          </a:r>
        </a:p>
      </dsp:txBody>
      <dsp:txXfrm>
        <a:off x="1748124" y="377171"/>
        <a:ext cx="9206387" cy="1190952"/>
      </dsp:txXfrm>
    </dsp:sp>
    <dsp:sp modelId="{D897903D-8ABD-421D-ACA4-0ED4BE51BB4A}">
      <dsp:nvSpPr>
        <dsp:cNvPr id="0" name=""/>
        <dsp:cNvSpPr/>
      </dsp:nvSpPr>
      <dsp:spPr>
        <a:xfrm>
          <a:off x="0" y="1693574"/>
          <a:ext cx="1568124" cy="1568124"/>
        </a:xfrm>
        <a:prstGeom prst="rect">
          <a:avLst/>
        </a:prstGeom>
        <a:blipFill>
          <a:blip xmlns:r="http://schemas.openxmlformats.org/officeDocument/2006/relationships" r:embed="rId2" cstate="print">
            <a:extLst>
              <a:ext uri="{28A0092B-C50C-407E-A947-70E740481C1C}">
                <a14:useLocalDpi xmlns:a14="http://schemas.microsoft.com/office/drawing/2010/main" val="0"/>
              </a:ext>
            </a:extLst>
          </a:blip>
          <a:srcRect l="4530" r="39216" b="-6"/>
          <a:stretch/>
        </a:blipFill>
        <a:ln>
          <a:noFill/>
        </a:ln>
        <a:effectLst/>
      </dsp:spPr>
      <dsp:style>
        <a:lnRef idx="0">
          <a:scrgbClr r="0" g="0" b="0"/>
        </a:lnRef>
        <a:fillRef idx="3">
          <a:scrgbClr r="0" g="0" b="0"/>
        </a:fillRef>
        <a:effectRef idx="2">
          <a:scrgbClr r="0" g="0" b="0"/>
        </a:effectRef>
        <a:fontRef idx="minor">
          <a:schemeClr val="lt1"/>
        </a:fontRef>
      </dsp:style>
    </dsp:sp>
    <dsp:sp modelId="{B96021E6-23A3-4B7E-B938-D3DFD5438FCE}">
      <dsp:nvSpPr>
        <dsp:cNvPr id="0" name=""/>
        <dsp:cNvSpPr/>
      </dsp:nvSpPr>
      <dsp:spPr>
        <a:xfrm>
          <a:off x="1748124" y="1693574"/>
          <a:ext cx="9206387" cy="377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Optimized Network Connectivity</a:t>
          </a:r>
        </a:p>
      </dsp:txBody>
      <dsp:txXfrm>
        <a:off x="1748124" y="1693574"/>
        <a:ext cx="9206387" cy="377171"/>
      </dsp:txXfrm>
    </dsp:sp>
    <dsp:sp modelId="{76B491D5-F82F-4225-AC7A-1B4D64DFBDAA}">
      <dsp:nvSpPr>
        <dsp:cNvPr id="0" name=""/>
        <dsp:cNvSpPr/>
      </dsp:nvSpPr>
      <dsp:spPr>
        <a:xfrm>
          <a:off x="1748124" y="2070745"/>
          <a:ext cx="9206387" cy="1190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Optimized networks provide reliable connectivity, enabling sales teams and other employees to work without disruptions.</a:t>
          </a:r>
        </a:p>
      </dsp:txBody>
      <dsp:txXfrm>
        <a:off x="1748124" y="2070745"/>
        <a:ext cx="9206387" cy="1190952"/>
      </dsp:txXfrm>
    </dsp:sp>
    <dsp:sp modelId="{EF166E8D-7679-4FBE-B6C6-C3E2AAB9C7DF}">
      <dsp:nvSpPr>
        <dsp:cNvPr id="0" name=""/>
        <dsp:cNvSpPr/>
      </dsp:nvSpPr>
      <dsp:spPr>
        <a:xfrm>
          <a:off x="0" y="3387148"/>
          <a:ext cx="1568124" cy="1568124"/>
        </a:xfrm>
        <a:prstGeom prst="rect">
          <a:avLst/>
        </a:prstGeom>
        <a:blipFill>
          <a:blip xmlns:r="http://schemas.openxmlformats.org/officeDocument/2006/relationships" r:embed="rId3" cstate="print">
            <a:extLst>
              <a:ext uri="{28A0092B-C50C-407E-A947-70E740481C1C}">
                <a14:useLocalDpi xmlns:a14="http://schemas.microsoft.com/office/drawing/2010/main" val="0"/>
              </a:ext>
            </a:extLst>
          </a:blip>
          <a:srcRect l="9638" r="23610" b="-2"/>
          <a:stretch/>
        </a:blipFill>
        <a:ln>
          <a:noFill/>
        </a:ln>
        <a:effectLst/>
      </dsp:spPr>
      <dsp:style>
        <a:lnRef idx="0">
          <a:scrgbClr r="0" g="0" b="0"/>
        </a:lnRef>
        <a:fillRef idx="3">
          <a:scrgbClr r="0" g="0" b="0"/>
        </a:fillRef>
        <a:effectRef idx="2">
          <a:scrgbClr r="0" g="0" b="0"/>
        </a:effectRef>
        <a:fontRef idx="minor">
          <a:schemeClr val="lt1"/>
        </a:fontRef>
      </dsp:style>
    </dsp:sp>
    <dsp:sp modelId="{1339DCD3-C9B0-48A4-8EA0-16D68B55F726}">
      <dsp:nvSpPr>
        <dsp:cNvPr id="0" name=""/>
        <dsp:cNvSpPr/>
      </dsp:nvSpPr>
      <dsp:spPr>
        <a:xfrm>
          <a:off x="1748124" y="3387148"/>
          <a:ext cx="9206387" cy="3771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Modern Software Tools</a:t>
          </a:r>
        </a:p>
      </dsp:txBody>
      <dsp:txXfrm>
        <a:off x="1748124" y="3387148"/>
        <a:ext cx="9206387" cy="377171"/>
      </dsp:txXfrm>
    </dsp:sp>
    <dsp:sp modelId="{6B3D8CEF-23DE-4DE6-915A-2903F8AD6874}">
      <dsp:nvSpPr>
        <dsp:cNvPr id="0" name=""/>
        <dsp:cNvSpPr/>
      </dsp:nvSpPr>
      <dsp:spPr>
        <a:xfrm>
          <a:off x="1748124" y="3764319"/>
          <a:ext cx="9206387" cy="11909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Modern software tools centralize processes, helping administrative staff improve efficiency and service quality.</a:t>
          </a:r>
        </a:p>
      </dsp:txBody>
      <dsp:txXfrm>
        <a:off x="1748124" y="3764319"/>
        <a:ext cx="9206387" cy="1190952"/>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EBFCB5-2D30-4363-A051-690C2F67C95B}" type="datetimeFigureOut">
              <a:t>6/17/2026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7DA12F-9A2F-4EAC-B6A4-C5FBBDF4CB86}" type="slidenum">
              <a:t>‹#›</a:t>
            </a:fld>
            <a:endParaRPr lang="en-US"/>
          </a:p>
        </p:txBody>
      </p:sp>
    </p:spTree>
    <p:extLst>
      <p:ext uri="{BB962C8B-B14F-4D97-AF65-F5344CB8AC3E}">
        <p14:creationId xmlns:p14="http://schemas.microsoft.com/office/powerpoint/2010/main" val="1508320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FA1221D4-216F-4D48-B7AA-E32EC3030C4E}" type="slidenum">
              <a:t>1</a:t>
            </a:fld>
            <a:endParaRPr lang="en-US"/>
          </a:p>
        </p:txBody>
      </p:sp>
    </p:spTree>
    <p:extLst>
      <p:ext uri="{BB962C8B-B14F-4D97-AF65-F5344CB8AC3E}">
        <p14:creationId xmlns:p14="http://schemas.microsoft.com/office/powerpoint/2010/main" val="862621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 Infrastructure and Support Solution Overview, Project Introduction: IT Infrastructure for Ubuntu Innovations, Project Scope and Objectives, Organizational and Operational Context</a:t>
            </a:r>
          </a:p>
        </p:txBody>
      </p:sp>
      <p:sp>
        <p:nvSpPr>
          <p:cNvPr id="4" name="Slide Number Placeholder 3"/>
          <p:cNvSpPr>
            <a:spLocks noGrp="1"/>
          </p:cNvSpPr>
          <p:nvPr>
            <p:ph type="sldNum" sz="quarter" idx="5"/>
          </p:nvPr>
        </p:nvSpPr>
        <p:spPr/>
        <p:txBody>
          <a:bodyPr/>
          <a:lstStyle/>
          <a:p>
            <a:fld id="{FA1221D4-216F-4D48-B7AA-E32EC3030C4E}" type="slidenum">
              <a:t>2</a:t>
            </a:fld>
            <a:endParaRPr lang="en-US"/>
          </a:p>
        </p:txBody>
      </p:sp>
    </p:spTree>
    <p:extLst>
      <p:ext uri="{BB962C8B-B14F-4D97-AF65-F5344CB8AC3E}">
        <p14:creationId xmlns:p14="http://schemas.microsoft.com/office/powerpoint/2010/main" val="695573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outlines a comprehensive IT Infrastructure and Support Solution designed specifically for Ubuntu Innovations (Pty) Ltd and presented by Khusela Ikamva Tech. The solution is based on a detailed assessment of the organization’s operational structure, workforce size, departmental requirements, and future growth objectives. Ubuntu Innovations is a South African technology SME employing 25 staff across executive management, finance, human resources, sales and marketing, software development, and IT operations. As the company relocates to a new office and modernizes its systems, a reliable, secure, and scalable IT foundation is essential to enable uninterrupted business operations. The proposed infrastructure addresses core areas including hardware provisioning, software platforms, network architecture, user access management, cybersecurity controls, backup and disaster recovery, and IT support processes. Particular attention is given to protecting sensitive data handled by Finance and HR departments, supporting high-performance requirements of developers, and ensuring executives have secure mobile access. The solution leverages industry best practices such as role-based access control, network segmentation, centralized storage, and automated backup strategies. It also aligns with regulatory requirements such as POPIA and internationally recognized frameworks like ISO/IEC 27001 and the NIST Cybersecurity Framework. By integrating on-premises systems with cloud-based services, the design achieves a balance between cost efficiency, security, and scalability. This slide serves as the foundation for the presentation, setting the context for how the proposed IT infrastructure and support model will deliver measurable business value, reduce operational risk, and position Ubuntu Innovations for sustainable growth in an increasingly digital and threat-prone environment.</a:t>
            </a:r>
          </a:p>
        </p:txBody>
      </p:sp>
      <p:sp>
        <p:nvSpPr>
          <p:cNvPr id="4" name="Slide Number Placeholder 3"/>
          <p:cNvSpPr>
            <a:spLocks noGrp="1"/>
          </p:cNvSpPr>
          <p:nvPr>
            <p:ph type="sldNum" sz="quarter" idx="5"/>
          </p:nvPr>
        </p:nvSpPr>
        <p:spPr/>
        <p:txBody>
          <a:bodyPr/>
          <a:lstStyle/>
          <a:p>
            <a:fld id="{FA1221D4-216F-4D48-B7AA-E32EC3030C4E}" type="slidenum">
              <a:t>3</a:t>
            </a:fld>
            <a:endParaRPr lang="en-US"/>
          </a:p>
        </p:txBody>
      </p:sp>
    </p:spTree>
    <p:extLst>
      <p:ext uri="{BB962C8B-B14F-4D97-AF65-F5344CB8AC3E}">
        <p14:creationId xmlns:p14="http://schemas.microsoft.com/office/powerpoint/2010/main" val="2123919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introduction focuses on establishing the purpose and scope of the IT infrastructure initiative for Ubuntu Innovations. The company operates in a digital-first environment where availability, confidentiality, and integrity of information systems are critical to daily operations and long-term competitiveness. The objective of this project is to design and implement an end-to-end IT environment that supports all business functions while remaining secure, manageable, and adaptable. The initiative covers the deployment of computing devices for all employees, the configuration of centralized user and identity management, the establishment of a robust network backbone, and the introduction of formal cybersecurity, backup, and support frameworks. Unlike ad-hoc IT setups that evolve without structure, this project follows a planned architecture that defines standards for hardware specifications, software licensing, access controls, and data storage from the outset. The approach minimizes operational inefficiencies, simplifies administration, and reduces security risks associated with unmanaged growth. The project also acknowledges external challenges faced by South African organizations, such as load shedding, connectivity disruptions, and increasing cybercrime. By addressing these realities in the design phase, the proposed infrastructure ensures resilience through redundancy, segmentation, and tested recovery procedures. This introduction frames the remainder of the presentation by clarifying that the IT environment is not merely a technical necessity, but a strategic enabler that supports productivity, compliance, customer trust, and business continuity across Ubuntu Innovations.</a:t>
            </a:r>
          </a:p>
        </p:txBody>
      </p:sp>
      <p:sp>
        <p:nvSpPr>
          <p:cNvPr id="4" name="Slide Number Placeholder 3"/>
          <p:cNvSpPr>
            <a:spLocks noGrp="1"/>
          </p:cNvSpPr>
          <p:nvPr>
            <p:ph type="sldNum" sz="quarter" idx="5"/>
          </p:nvPr>
        </p:nvSpPr>
        <p:spPr/>
        <p:txBody>
          <a:bodyPr/>
          <a:lstStyle/>
          <a:p>
            <a:fld id="{FA1221D4-216F-4D48-B7AA-E32EC3030C4E}" type="slidenum">
              <a:t>4</a:t>
            </a:fld>
            <a:endParaRPr lang="en-US"/>
          </a:p>
        </p:txBody>
      </p:sp>
    </p:spTree>
    <p:extLst>
      <p:ext uri="{BB962C8B-B14F-4D97-AF65-F5344CB8AC3E}">
        <p14:creationId xmlns:p14="http://schemas.microsoft.com/office/powerpoint/2010/main" val="247093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scope of the IT Infrastructure and Support project encompasses all critical components required to operate a modern, secure SME IT environment. From a hardware perspective, this includes the procurement and configuration of desktops, laptops, servers, network devices, and power protection equipment. On the software side, the scope covers productivity platforms such as Microsoft 365, departmental business applications, development tools, and centralized management systems. Networking objectives include designing a structured LAN and Wi-Fi environment with proper segmentation, firewall protection, and IP addressing. Security objectives extend beyond perimeter defenses to include identity and access management, endpoint protection, data classification, and user awareness. Backup and disaster recovery form a core objective, ensuring that no single incident can permanently disrupt operations or destroy company data. Finally, the scope includes defining IT support operations, escalation paths, and troubleshooting procedures to maintain service quality. The primary objectives are to provide reliable access to systems, protect sensitive information, reduce downtime, support current workloads, and create a scalable foundation that can accommodate growth without requiring constant redesign. By clearly defining the scope and objectives, the project avoids ambiguity, aligns stakeholders, and ensures that technical decisions consistently support business priorities.</a:t>
            </a:r>
          </a:p>
        </p:txBody>
      </p:sp>
      <p:sp>
        <p:nvSpPr>
          <p:cNvPr id="4" name="Slide Number Placeholder 3"/>
          <p:cNvSpPr>
            <a:spLocks noGrp="1"/>
          </p:cNvSpPr>
          <p:nvPr>
            <p:ph type="sldNum" sz="quarter" idx="5"/>
          </p:nvPr>
        </p:nvSpPr>
        <p:spPr/>
        <p:txBody>
          <a:bodyPr/>
          <a:lstStyle/>
          <a:p>
            <a:fld id="{FA1221D4-216F-4D48-B7AA-E32EC3030C4E}" type="slidenum">
              <a:t>5</a:t>
            </a:fld>
            <a:endParaRPr lang="en-US"/>
          </a:p>
        </p:txBody>
      </p:sp>
    </p:spTree>
    <p:extLst>
      <p:ext uri="{BB962C8B-B14F-4D97-AF65-F5344CB8AC3E}">
        <p14:creationId xmlns:p14="http://schemas.microsoft.com/office/powerpoint/2010/main" val="3394493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Understanding the organizational context of Ubuntu Innovations is essential to designing an effective IT infrastructure. The company employs 25 staff across five operational departments, each with distinct technology needs and risk profiles. Executives require secure, mobile access to email, documents, and reporting tools. Finance and HR departments handle highly sensitive financial and personal information, requiring strict access controls, auditing, and compliance with POPIA. Sales and Marketing rely heavily on cloud platforms, CRM systems, and external communication channels, making them high users of internet bandwidth and web services. Software developers require high-performance workstations, access to version control systems, containerization tools, and cloud environments. The IT function must manage all of these needs while maintaining security, uptime, and cost control. Additionally, the organization operates within a South African context characterized by intermittent power outages and evolving cyber threats. This operational reality necessitates UPS systems, backup connectivity, and resilient recovery plans. By aligning the infrastructure design with this organizational and environmental context, the proposed solution ensures that technology supports, rather than constrains, the daily work of Ubuntu Innovations.</a:t>
            </a:r>
          </a:p>
        </p:txBody>
      </p:sp>
      <p:sp>
        <p:nvSpPr>
          <p:cNvPr id="4" name="Slide Number Placeholder 3"/>
          <p:cNvSpPr>
            <a:spLocks noGrp="1"/>
          </p:cNvSpPr>
          <p:nvPr>
            <p:ph type="sldNum" sz="quarter" idx="5"/>
          </p:nvPr>
        </p:nvSpPr>
        <p:spPr/>
        <p:txBody>
          <a:bodyPr/>
          <a:lstStyle/>
          <a:p>
            <a:fld id="{FA1221D4-216F-4D48-B7AA-E32EC3030C4E}" type="slidenum">
              <a:t>6</a:t>
            </a:fld>
            <a:endParaRPr lang="en-US"/>
          </a:p>
        </p:txBody>
      </p:sp>
    </p:spTree>
    <p:extLst>
      <p:ext uri="{BB962C8B-B14F-4D97-AF65-F5344CB8AC3E}">
        <p14:creationId xmlns:p14="http://schemas.microsoft.com/office/powerpoint/2010/main" val="389089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Needs and Assessment, Departmental Requirements Analysis, Technology Infrastructure Recommendations, Hardware and Software Foundations</a:t>
            </a:r>
          </a:p>
        </p:txBody>
      </p:sp>
      <p:sp>
        <p:nvSpPr>
          <p:cNvPr id="4" name="Slide Number Placeholder 3"/>
          <p:cNvSpPr>
            <a:spLocks noGrp="1"/>
          </p:cNvSpPr>
          <p:nvPr>
            <p:ph type="sldNum" sz="quarter" idx="5"/>
          </p:nvPr>
        </p:nvSpPr>
        <p:spPr/>
        <p:txBody>
          <a:bodyPr/>
          <a:lstStyle/>
          <a:p>
            <a:fld id="{FA1221D4-216F-4D48-B7AA-E32EC3030C4E}" type="slidenum">
              <a:t>7</a:t>
            </a:fld>
            <a:endParaRPr lang="en-US"/>
          </a:p>
        </p:txBody>
      </p:sp>
    </p:spTree>
    <p:extLst>
      <p:ext uri="{BB962C8B-B14F-4D97-AF65-F5344CB8AC3E}">
        <p14:creationId xmlns:p14="http://schemas.microsoft.com/office/powerpoint/2010/main" val="11043175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business needs assessment identifies the fundamental requirements that the IT infrastructure must satisfy to support Ubuntu Innovations’ operations. At a basic level, the organization requires reliable computing devices and network connectivity to enable employees to perform their roles efficiently. Beyond availability, security is a primary concern due to the volume of sensitive financial, personal, and intellectual property data processed daily. The assessment highlights the need for role-based access controls to ensure employees can only access information relevant to their responsibilities. Scalability is another critical need, as the company anticipates growth in staff numbers, projects, and data volumes. The infrastructure must therefore accommodate expansion without significant reconfiguration. Performance requirements vary by department, with developers needing high-spec hardware and stable network access, while sales teams prioritize mobility and cloud access. The assessment also considers compliance obligations under POPIA, requiring safeguards for personal information. Finally, operational continuity is a key business need, given the potential impact of downtime caused by hardware failure, cyber incidents, or power outages. The resulting assessment forms the basis for all subsequent design decisions, ensuring that technology investments directly address real business risks and operational demands.</a:t>
            </a:r>
          </a:p>
        </p:txBody>
      </p:sp>
      <p:sp>
        <p:nvSpPr>
          <p:cNvPr id="4" name="Slide Number Placeholder 3"/>
          <p:cNvSpPr>
            <a:spLocks noGrp="1"/>
          </p:cNvSpPr>
          <p:nvPr>
            <p:ph type="sldNum" sz="quarter" idx="5"/>
          </p:nvPr>
        </p:nvSpPr>
        <p:spPr/>
        <p:txBody>
          <a:bodyPr/>
          <a:lstStyle/>
          <a:p>
            <a:fld id="{FA1221D4-216F-4D48-B7AA-E32EC3030C4E}" type="slidenum">
              <a:t>8</a:t>
            </a:fld>
            <a:endParaRPr lang="en-US"/>
          </a:p>
        </p:txBody>
      </p:sp>
    </p:spTree>
    <p:extLst>
      <p:ext uri="{BB962C8B-B14F-4D97-AF65-F5344CB8AC3E}">
        <p14:creationId xmlns:p14="http://schemas.microsoft.com/office/powerpoint/2010/main" val="20773282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Each department within Ubuntu Innovations has unique IT requirements that influence the overall infrastructure design. Executives require secure laptops, mobile device management, and reliable access to collaboration tools for decision-making and stakeholder communication. The Finance department depends on accounting software, secure access to banking platforms, and protected storage for financial records, making data confidentiality and integrity paramount. Human Resources manages employee records, contracts, and compliance documentation, necessitating strict privacy controls and controlled access. Sales and Marketing teams rely on CRM platforms, email marketing tools, design software, and constant internet connectivity to drive revenue generation. Software developers require powerful workstations, access to version control systems, containerization platforms, and cloud consoles, along with network isolation to reduce risk exposure. IT staff require administrative access, monitoring tools, and documentation repositories to manage the environment effectively. By documenting these departmental needs in detail, the infrastructure design avoids a one-size-fits-all approach and instead delivers tailored solutions that optimize productivity while maintaining security and governance.</a:t>
            </a:r>
          </a:p>
        </p:txBody>
      </p:sp>
      <p:sp>
        <p:nvSpPr>
          <p:cNvPr id="4" name="Slide Number Placeholder 3"/>
          <p:cNvSpPr>
            <a:spLocks noGrp="1"/>
          </p:cNvSpPr>
          <p:nvPr>
            <p:ph type="sldNum" sz="quarter" idx="5"/>
          </p:nvPr>
        </p:nvSpPr>
        <p:spPr/>
        <p:txBody>
          <a:bodyPr/>
          <a:lstStyle/>
          <a:p>
            <a:fld id="{FA1221D4-216F-4D48-B7AA-E32EC3030C4E}" type="slidenum">
              <a:t>9</a:t>
            </a:fld>
            <a:endParaRPr lang="en-US"/>
          </a:p>
        </p:txBody>
      </p:sp>
    </p:spTree>
    <p:extLst>
      <p:ext uri="{BB962C8B-B14F-4D97-AF65-F5344CB8AC3E}">
        <p14:creationId xmlns:p14="http://schemas.microsoft.com/office/powerpoint/2010/main" val="1932660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Based on the assessed business and departmental needs, a set of technology infrastructure recommendations has been defined. Microsoft 365 is recommended as the core productivity platform, providing email, document collaboration, and communication tools. Active Directory is proposed for centralized identity and access management, enabling consistent enforcement of security policies. A Network-Attached Storage (NAS) system provides centralized file storage and local backup capabilities. Enterprise-grade endpoint protection software ensures that all devices are protected against malware and unauthorized activity. A managed network environment, including firewall, switches, and Wi-Fi access points, delivers secure and reliable connectivity. UPS systems protect critical equipment from power disruptions, while LTE failover provides internet redundancy. These recommendations balance functionality, security, and cost-effectiveness, leveraging widely adopted technologies with strong vendor support and proven reliability in SME environments.</a:t>
            </a:r>
          </a:p>
        </p:txBody>
      </p:sp>
      <p:sp>
        <p:nvSpPr>
          <p:cNvPr id="4" name="Slide Number Placeholder 3"/>
          <p:cNvSpPr>
            <a:spLocks noGrp="1"/>
          </p:cNvSpPr>
          <p:nvPr>
            <p:ph type="sldNum" sz="quarter" idx="5"/>
          </p:nvPr>
        </p:nvSpPr>
        <p:spPr/>
        <p:txBody>
          <a:bodyPr/>
          <a:lstStyle/>
          <a:p>
            <a:fld id="{FA1221D4-216F-4D48-B7AA-E32EC3030C4E}" type="slidenum">
              <a:t>10</a:t>
            </a:fld>
            <a:endParaRPr lang="en-US"/>
          </a:p>
        </p:txBody>
      </p:sp>
    </p:spTree>
    <p:extLst>
      <p:ext uri="{BB962C8B-B14F-4D97-AF65-F5344CB8AC3E}">
        <p14:creationId xmlns:p14="http://schemas.microsoft.com/office/powerpoint/2010/main" val="24957432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hardware and software foundations form the physical and logical base of the IT environment. Standardized hardware specifications ensure consistent performance and simplify support. Workstations are selected according to departmental needs, with higher specifications allocated to developers. Servers provide directory services and file storage, while the NAS supports shared data and backups. On the software side, licensed business applications replace ad-hoc tools, reducing legal and security risks. Centralized software deployment and patching ensure consistency across devices. Together, these foundations create a stable platform upon which more advanced capabilities such as security monitoring, automation, and analytics can be built, ensuring the infrastructure remains robust and manageable over time.</a:t>
            </a:r>
          </a:p>
        </p:txBody>
      </p:sp>
      <p:sp>
        <p:nvSpPr>
          <p:cNvPr id="4" name="Slide Number Placeholder 3"/>
          <p:cNvSpPr>
            <a:spLocks noGrp="1"/>
          </p:cNvSpPr>
          <p:nvPr>
            <p:ph type="sldNum" sz="quarter" idx="5"/>
          </p:nvPr>
        </p:nvSpPr>
        <p:spPr/>
        <p:txBody>
          <a:bodyPr/>
          <a:lstStyle/>
          <a:p>
            <a:fld id="{FA1221D4-216F-4D48-B7AA-E32EC3030C4E}" type="slidenum">
              <a:t>11</a:t>
            </a:fld>
            <a:endParaRPr lang="en-US"/>
          </a:p>
        </p:txBody>
      </p:sp>
    </p:spTree>
    <p:extLst>
      <p:ext uri="{BB962C8B-B14F-4D97-AF65-F5344CB8AC3E}">
        <p14:creationId xmlns:p14="http://schemas.microsoft.com/office/powerpoint/2010/main" val="1993029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Proposed Network Infrastructure, IP Addressing Scheme, Network Segmentation Strategy, Access Management and RBAC</a:t>
            </a:r>
          </a:p>
        </p:txBody>
      </p:sp>
      <p:sp>
        <p:nvSpPr>
          <p:cNvPr id="4" name="Slide Number Placeholder 3"/>
          <p:cNvSpPr>
            <a:spLocks noGrp="1"/>
          </p:cNvSpPr>
          <p:nvPr>
            <p:ph type="sldNum" sz="quarter" idx="5"/>
          </p:nvPr>
        </p:nvSpPr>
        <p:spPr/>
        <p:txBody>
          <a:bodyPr/>
          <a:lstStyle/>
          <a:p>
            <a:fld id="{FA1221D4-216F-4D48-B7AA-E32EC3030C4E}" type="slidenum">
              <a:t>12</a:t>
            </a:fld>
            <a:endParaRPr lang="en-US"/>
          </a:p>
        </p:txBody>
      </p:sp>
    </p:spTree>
    <p:extLst>
      <p:ext uri="{BB962C8B-B14F-4D97-AF65-F5344CB8AC3E}">
        <p14:creationId xmlns:p14="http://schemas.microsoft.com/office/powerpoint/2010/main" val="2505789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proposed network infrastructure is designed to deliver secure, high-performance connectivity across the Ubuntu Innovations office. Internet access is provided via a primary fibre connection with LTE failover to ensure continuity during outages. A dedicated firewall appliance enforces perimeter security, VPN access, and traffic filtering. A managed core switch distributes network connectivity to wired devices and Wi-Fi access points, supporting VLAN configuration and quality-of-service controls. Wireless coverage is provided through enterprise-grade access points supporting modern encryption standards. Central servers and NAS devices are housed in a secure server room with controlled access and power protection. This structured network design replaces flat, unmanaged networks with a clearly defined architecture that simplifies administration, enhances security, and supports future expansion.</a:t>
            </a:r>
          </a:p>
        </p:txBody>
      </p:sp>
      <p:sp>
        <p:nvSpPr>
          <p:cNvPr id="4" name="Slide Number Placeholder 3"/>
          <p:cNvSpPr>
            <a:spLocks noGrp="1"/>
          </p:cNvSpPr>
          <p:nvPr>
            <p:ph type="sldNum" sz="quarter" idx="5"/>
          </p:nvPr>
        </p:nvSpPr>
        <p:spPr/>
        <p:txBody>
          <a:bodyPr/>
          <a:lstStyle/>
          <a:p>
            <a:fld id="{FA1221D4-216F-4D48-B7AA-E32EC3030C4E}" type="slidenum">
              <a:t>13</a:t>
            </a:fld>
            <a:endParaRPr lang="en-US"/>
          </a:p>
        </p:txBody>
      </p:sp>
    </p:spTree>
    <p:extLst>
      <p:ext uri="{BB962C8B-B14F-4D97-AF65-F5344CB8AC3E}">
        <p14:creationId xmlns:p14="http://schemas.microsoft.com/office/powerpoint/2010/main" val="5764141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structured IP addressing scheme is essential for efficient network management and troubleshooting. The proposed design uses private IP ranges segmented by function, with dedicated subnets for servers, user workstations, printers and peripherals, guest Wi-Fi, and IoT or management devices. This approach allows administrators to identify a device’s role based on its IP address and apply firewall rules at a subnet level rather than per device. It also reduces broadcast traffic and limits the spread of potential threats. Consistent IP allocation supports documentation, monitoring, and long-term scalability, ensuring that the network remains orderly as new devices and services are introduced.</a:t>
            </a:r>
          </a:p>
        </p:txBody>
      </p:sp>
      <p:sp>
        <p:nvSpPr>
          <p:cNvPr id="4" name="Slide Number Placeholder 3"/>
          <p:cNvSpPr>
            <a:spLocks noGrp="1"/>
          </p:cNvSpPr>
          <p:nvPr>
            <p:ph type="sldNum" sz="quarter" idx="5"/>
          </p:nvPr>
        </p:nvSpPr>
        <p:spPr/>
        <p:txBody>
          <a:bodyPr/>
          <a:lstStyle/>
          <a:p>
            <a:fld id="{FA1221D4-216F-4D48-B7AA-E32EC3030C4E}" type="slidenum">
              <a:t>14</a:t>
            </a:fld>
            <a:endParaRPr lang="en-US"/>
          </a:p>
        </p:txBody>
      </p:sp>
    </p:spTree>
    <p:extLst>
      <p:ext uri="{BB962C8B-B14F-4D97-AF65-F5344CB8AC3E}">
        <p14:creationId xmlns:p14="http://schemas.microsoft.com/office/powerpoint/2010/main" val="14694361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Network segmentation divides the network into isolated zones based on device type and risk profile. By separating servers, user devices, guest networks, and IoT systems, the organization reduces the attack surface and limits lateral movement in the event of a breach. Segmentation also improves performance by isolating broadcast domains and enables simpler firewall policies. For example, guest Wi-Fi can be completely blocked from accessing internal resources, while finance systems can be restricted to specific subnets. This strategy reflects best practices in modern network security and is particularly important for organizations handling sensitive data.</a:t>
            </a:r>
          </a:p>
        </p:txBody>
      </p:sp>
      <p:sp>
        <p:nvSpPr>
          <p:cNvPr id="4" name="Slide Number Placeholder 3"/>
          <p:cNvSpPr>
            <a:spLocks noGrp="1"/>
          </p:cNvSpPr>
          <p:nvPr>
            <p:ph type="sldNum" sz="quarter" idx="5"/>
          </p:nvPr>
        </p:nvSpPr>
        <p:spPr/>
        <p:txBody>
          <a:bodyPr/>
          <a:lstStyle/>
          <a:p>
            <a:fld id="{FA1221D4-216F-4D48-B7AA-E32EC3030C4E}" type="slidenum">
              <a:t>15</a:t>
            </a:fld>
            <a:endParaRPr lang="en-US"/>
          </a:p>
        </p:txBody>
      </p:sp>
    </p:spTree>
    <p:extLst>
      <p:ext uri="{BB962C8B-B14F-4D97-AF65-F5344CB8AC3E}">
        <p14:creationId xmlns:p14="http://schemas.microsoft.com/office/powerpoint/2010/main" val="23223196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Access management is implemented using Role-Based Access Control (RBAC), where permissions are assigned to security groups rather than individual users. Each department is mapped to specific groups that control access to file shares, applications, and systems. This approach simplifies onboarding and offboarding, as administrators only need to adjust group memberships. It also improves auditability and reduces the risk of excessive privileges. Administrative accounts are separated from day-to-day user accounts to minimize exposure. By enforcing the principle of least privilege, RBAC ensures that users have only the access required to perform their roles, enhancing both security and operational clarity.</a:t>
            </a:r>
          </a:p>
        </p:txBody>
      </p:sp>
      <p:sp>
        <p:nvSpPr>
          <p:cNvPr id="4" name="Slide Number Placeholder 3"/>
          <p:cNvSpPr>
            <a:spLocks noGrp="1"/>
          </p:cNvSpPr>
          <p:nvPr>
            <p:ph type="sldNum" sz="quarter" idx="5"/>
          </p:nvPr>
        </p:nvSpPr>
        <p:spPr/>
        <p:txBody>
          <a:bodyPr/>
          <a:lstStyle/>
          <a:p>
            <a:fld id="{FA1221D4-216F-4D48-B7AA-E32EC3030C4E}" type="slidenum">
              <a:t>16</a:t>
            </a:fld>
            <a:endParaRPr lang="en-US"/>
          </a:p>
        </p:txBody>
      </p:sp>
    </p:spTree>
    <p:extLst>
      <p:ext uri="{BB962C8B-B14F-4D97-AF65-F5344CB8AC3E}">
        <p14:creationId xmlns:p14="http://schemas.microsoft.com/office/powerpoint/2010/main" val="33490173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NAS Storage Architecture, Folder Structure and Data Governance, Business Continuity Strategy, Backup and Disaster Recovery Framework</a:t>
            </a:r>
          </a:p>
        </p:txBody>
      </p:sp>
      <p:sp>
        <p:nvSpPr>
          <p:cNvPr id="4" name="Slide Number Placeholder 3"/>
          <p:cNvSpPr>
            <a:spLocks noGrp="1"/>
          </p:cNvSpPr>
          <p:nvPr>
            <p:ph type="sldNum" sz="quarter" idx="5"/>
          </p:nvPr>
        </p:nvSpPr>
        <p:spPr/>
        <p:txBody>
          <a:bodyPr/>
          <a:lstStyle/>
          <a:p>
            <a:fld id="{FA1221D4-216F-4D48-B7AA-E32EC3030C4E}" type="slidenum">
              <a:t>17</a:t>
            </a:fld>
            <a:endParaRPr lang="en-US"/>
          </a:p>
        </p:txBody>
      </p:sp>
    </p:spTree>
    <p:extLst>
      <p:ext uri="{BB962C8B-B14F-4D97-AF65-F5344CB8AC3E}">
        <p14:creationId xmlns:p14="http://schemas.microsoft.com/office/powerpoint/2010/main" val="25721878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Network-Attached Storage (NAS) architecture provides centralized, secure file storage for Ubuntu Innovations. All company data resides under a single root directory with standardized subfolders for departments and projects. This structure improves data organization, simplifies access control, and supports automated backup processes. Sensitive departments such as Finance and HR are logically isolated to ensure confidentiality. The NAS also serves as a local backup target, enabling rapid recovery from accidental deletions or minor incidents. By centralizing storage, the organization reduces data sprawl and improves visibility into where critical information resides.</a:t>
            </a:r>
          </a:p>
        </p:txBody>
      </p:sp>
      <p:sp>
        <p:nvSpPr>
          <p:cNvPr id="4" name="Slide Number Placeholder 3"/>
          <p:cNvSpPr>
            <a:spLocks noGrp="1"/>
          </p:cNvSpPr>
          <p:nvPr>
            <p:ph type="sldNum" sz="quarter" idx="5"/>
          </p:nvPr>
        </p:nvSpPr>
        <p:spPr/>
        <p:txBody>
          <a:bodyPr/>
          <a:lstStyle/>
          <a:p>
            <a:fld id="{FA1221D4-216F-4D48-B7AA-E32EC3030C4E}" type="slidenum">
              <a:t>18</a:t>
            </a:fld>
            <a:endParaRPr lang="en-US"/>
          </a:p>
        </p:txBody>
      </p:sp>
    </p:spTree>
    <p:extLst>
      <p:ext uri="{BB962C8B-B14F-4D97-AF65-F5344CB8AC3E}">
        <p14:creationId xmlns:p14="http://schemas.microsoft.com/office/powerpoint/2010/main" val="12435643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standardized folder structure and clear data governance rules are essential for maintaining order and security. The defined directory hierarchy specifies what types of data may be stored in each location, reducing misfiling and accidental exposure. Naming conventions ensure consistency and compatibility with automation tools. Department managers act as data owners, while IT maintains the underlying infrastructure. Archival directories preserve historical data in a read-only format, supporting compliance and lifecycle management. Together, these governance measures ensure that data remains accessible, secure, and auditable over time.</a:t>
            </a:r>
          </a:p>
        </p:txBody>
      </p:sp>
      <p:sp>
        <p:nvSpPr>
          <p:cNvPr id="4" name="Slide Number Placeholder 3"/>
          <p:cNvSpPr>
            <a:spLocks noGrp="1"/>
          </p:cNvSpPr>
          <p:nvPr>
            <p:ph type="sldNum" sz="quarter" idx="5"/>
          </p:nvPr>
        </p:nvSpPr>
        <p:spPr/>
        <p:txBody>
          <a:bodyPr/>
          <a:lstStyle/>
          <a:p>
            <a:fld id="{FA1221D4-216F-4D48-B7AA-E32EC3030C4E}" type="slidenum">
              <a:t>19</a:t>
            </a:fld>
            <a:endParaRPr lang="en-US"/>
          </a:p>
        </p:txBody>
      </p:sp>
    </p:spTree>
    <p:extLst>
      <p:ext uri="{BB962C8B-B14F-4D97-AF65-F5344CB8AC3E}">
        <p14:creationId xmlns:p14="http://schemas.microsoft.com/office/powerpoint/2010/main" val="18719033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business continuity strategy ensures that Ubuntu Innovations can continue operating despite disruptions such as hardware failures, cyber incidents, or power outages. Key elements include redundant connectivity, UPS protection, and documented recovery procedures. By identifying critical systems and defining acceptable recovery times, the organization prioritizes resources effectively during an incident. Business continuity planning reduces downtime, protects revenue, and maintains customer confidence, making it a critical component of the overall IT strategy.</a:t>
            </a:r>
          </a:p>
        </p:txBody>
      </p:sp>
      <p:sp>
        <p:nvSpPr>
          <p:cNvPr id="4" name="Slide Number Placeholder 3"/>
          <p:cNvSpPr>
            <a:spLocks noGrp="1"/>
          </p:cNvSpPr>
          <p:nvPr>
            <p:ph type="sldNum" sz="quarter" idx="5"/>
          </p:nvPr>
        </p:nvSpPr>
        <p:spPr/>
        <p:txBody>
          <a:bodyPr/>
          <a:lstStyle/>
          <a:p>
            <a:fld id="{FA1221D4-216F-4D48-B7AA-E32EC3030C4E}" type="slidenum">
              <a:t>20</a:t>
            </a:fld>
            <a:endParaRPr lang="en-US"/>
          </a:p>
        </p:txBody>
      </p:sp>
    </p:spTree>
    <p:extLst>
      <p:ext uri="{BB962C8B-B14F-4D97-AF65-F5344CB8AC3E}">
        <p14:creationId xmlns:p14="http://schemas.microsoft.com/office/powerpoint/2010/main" val="38679255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backup and disaster recovery framework is built around the 3-2-1-1 rule, ensuring multiple copies of data across different media, including off-site and immutable storage. Regular backup schedules protect against data loss, while documented disaster recovery procedures guide the restoration of systems in a controlled manner. Testing and verification confirm that backups are usable and recovery objectives can be met. This framework significantly reduces the impact of ransomware, accidental deletion, and catastrophic events.</a:t>
            </a:r>
          </a:p>
        </p:txBody>
      </p:sp>
      <p:sp>
        <p:nvSpPr>
          <p:cNvPr id="4" name="Slide Number Placeholder 3"/>
          <p:cNvSpPr>
            <a:spLocks noGrp="1"/>
          </p:cNvSpPr>
          <p:nvPr>
            <p:ph type="sldNum" sz="quarter" idx="5"/>
          </p:nvPr>
        </p:nvSpPr>
        <p:spPr/>
        <p:txBody>
          <a:bodyPr/>
          <a:lstStyle/>
          <a:p>
            <a:fld id="{FA1221D4-216F-4D48-B7AA-E32EC3030C4E}" type="slidenum">
              <a:t>21</a:t>
            </a:fld>
            <a:endParaRPr lang="en-US"/>
          </a:p>
        </p:txBody>
      </p:sp>
    </p:spTree>
    <p:extLst>
      <p:ext uri="{BB962C8B-B14F-4D97-AF65-F5344CB8AC3E}">
        <p14:creationId xmlns:p14="http://schemas.microsoft.com/office/powerpoint/2010/main" val="13662902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Cybersecurity Framework Overview, Security Policies and Controls, Risk Management and Threat Landscape, Incident Response Planning</a:t>
            </a:r>
          </a:p>
        </p:txBody>
      </p:sp>
      <p:sp>
        <p:nvSpPr>
          <p:cNvPr id="4" name="Slide Number Placeholder 3"/>
          <p:cNvSpPr>
            <a:spLocks noGrp="1"/>
          </p:cNvSpPr>
          <p:nvPr>
            <p:ph type="sldNum" sz="quarter" idx="5"/>
          </p:nvPr>
        </p:nvSpPr>
        <p:spPr/>
        <p:txBody>
          <a:bodyPr/>
          <a:lstStyle/>
          <a:p>
            <a:fld id="{FA1221D4-216F-4D48-B7AA-E32EC3030C4E}" type="slidenum">
              <a:t>22</a:t>
            </a:fld>
            <a:endParaRPr lang="en-US"/>
          </a:p>
        </p:txBody>
      </p:sp>
    </p:spTree>
    <p:extLst>
      <p:ext uri="{BB962C8B-B14F-4D97-AF65-F5344CB8AC3E}">
        <p14:creationId xmlns:p14="http://schemas.microsoft.com/office/powerpoint/2010/main" val="10327581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cybersecurity framework adopted for Ubuntu Innovations is designed to protect the confidentiality, integrity, and availability of information systems. It aligns with recognized standards such as ISO/IEC 27001 and the NIST Cybersecurity Framework, providing a structured approach to identifying, protecting against, detecting, responding to, and recovering from cyber threats. Policies, technical controls, and user awareness all contribute to defense in depth, ensuring that no single failure compromises the entire environment.</a:t>
            </a:r>
          </a:p>
        </p:txBody>
      </p:sp>
      <p:sp>
        <p:nvSpPr>
          <p:cNvPr id="4" name="Slide Number Placeholder 3"/>
          <p:cNvSpPr>
            <a:spLocks noGrp="1"/>
          </p:cNvSpPr>
          <p:nvPr>
            <p:ph type="sldNum" sz="quarter" idx="5"/>
          </p:nvPr>
        </p:nvSpPr>
        <p:spPr/>
        <p:txBody>
          <a:bodyPr/>
          <a:lstStyle/>
          <a:p>
            <a:fld id="{FA1221D4-216F-4D48-B7AA-E32EC3030C4E}" type="slidenum">
              <a:t>23</a:t>
            </a:fld>
            <a:endParaRPr lang="en-US"/>
          </a:p>
        </p:txBody>
      </p:sp>
    </p:spTree>
    <p:extLst>
      <p:ext uri="{BB962C8B-B14F-4D97-AF65-F5344CB8AC3E}">
        <p14:creationId xmlns:p14="http://schemas.microsoft.com/office/powerpoint/2010/main" val="12111275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Security policies define acceptable use, password standards, device security requirements, and data handling procedures. Technical controls such as endpoint detection, firewalls, and encryption enforce these policies in practice. Regular reviews ensure that controls remain effective as threats evolve. By clearly communicating expectations and enforcing compliance, the organization reduces the likelihood of security incidents caused by human error or misconfiguration.</a:t>
            </a:r>
          </a:p>
        </p:txBody>
      </p:sp>
      <p:sp>
        <p:nvSpPr>
          <p:cNvPr id="4" name="Slide Number Placeholder 3"/>
          <p:cNvSpPr>
            <a:spLocks noGrp="1"/>
          </p:cNvSpPr>
          <p:nvPr>
            <p:ph type="sldNum" sz="quarter" idx="5"/>
          </p:nvPr>
        </p:nvSpPr>
        <p:spPr/>
        <p:txBody>
          <a:bodyPr/>
          <a:lstStyle/>
          <a:p>
            <a:fld id="{FA1221D4-216F-4D48-B7AA-E32EC3030C4E}" type="slidenum">
              <a:t>24</a:t>
            </a:fld>
            <a:endParaRPr lang="en-US"/>
          </a:p>
        </p:txBody>
      </p:sp>
    </p:spTree>
    <p:extLst>
      <p:ext uri="{BB962C8B-B14F-4D97-AF65-F5344CB8AC3E}">
        <p14:creationId xmlns:p14="http://schemas.microsoft.com/office/powerpoint/2010/main" val="25907941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Risk management involves identifying and prioritizing threats such as phishing, ransomware, insider misuse, and device theft. Each risk is assessed based on likelihood and impact, with mitigation strategies assigned accordingly. High-risk threats receive immediate attention, while medium risks are monitored and addressed through reasonable controls. This structured approach ensures that security investments are proportionate and focused on the most significant exposures.</a:t>
            </a:r>
          </a:p>
        </p:txBody>
      </p:sp>
      <p:sp>
        <p:nvSpPr>
          <p:cNvPr id="4" name="Slide Number Placeholder 3"/>
          <p:cNvSpPr>
            <a:spLocks noGrp="1"/>
          </p:cNvSpPr>
          <p:nvPr>
            <p:ph type="sldNum" sz="quarter" idx="5"/>
          </p:nvPr>
        </p:nvSpPr>
        <p:spPr/>
        <p:txBody>
          <a:bodyPr/>
          <a:lstStyle/>
          <a:p>
            <a:fld id="{FA1221D4-216F-4D48-B7AA-E32EC3030C4E}" type="slidenum">
              <a:t>25</a:t>
            </a:fld>
            <a:endParaRPr lang="en-US"/>
          </a:p>
        </p:txBody>
      </p:sp>
    </p:spTree>
    <p:extLst>
      <p:ext uri="{BB962C8B-B14F-4D97-AF65-F5344CB8AC3E}">
        <p14:creationId xmlns:p14="http://schemas.microsoft.com/office/powerpoint/2010/main" val="17522049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incident response plan defines roles, escalation paths, and actions to be taken during a security event. Following a structured lifecycle—preparation, detection, containment, eradication, recovery, and lessons learned—ensures a calm and effective response. Regular testing and post-incident reviews improve readiness and strengthen the organization’s overall security posture.</a:t>
            </a:r>
          </a:p>
        </p:txBody>
      </p:sp>
      <p:sp>
        <p:nvSpPr>
          <p:cNvPr id="4" name="Slide Number Placeholder 3"/>
          <p:cNvSpPr>
            <a:spLocks noGrp="1"/>
          </p:cNvSpPr>
          <p:nvPr>
            <p:ph type="sldNum" sz="quarter" idx="5"/>
          </p:nvPr>
        </p:nvSpPr>
        <p:spPr/>
        <p:txBody>
          <a:bodyPr/>
          <a:lstStyle/>
          <a:p>
            <a:fld id="{FA1221D4-216F-4D48-B7AA-E32EC3030C4E}" type="slidenum">
              <a:t>26</a:t>
            </a:fld>
            <a:endParaRPr lang="en-US"/>
          </a:p>
        </p:txBody>
      </p:sp>
    </p:spTree>
    <p:extLst>
      <p:ext uri="{BB962C8B-B14F-4D97-AF65-F5344CB8AC3E}">
        <p14:creationId xmlns:p14="http://schemas.microsoft.com/office/powerpoint/2010/main" val="28502134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IT Support Operations Model, Common IT Issues and Troubleshooting, Support Workflow and Escalation, Operational Governance</a:t>
            </a:r>
          </a:p>
        </p:txBody>
      </p:sp>
      <p:sp>
        <p:nvSpPr>
          <p:cNvPr id="4" name="Slide Number Placeholder 3"/>
          <p:cNvSpPr>
            <a:spLocks noGrp="1"/>
          </p:cNvSpPr>
          <p:nvPr>
            <p:ph type="sldNum" sz="quarter" idx="5"/>
          </p:nvPr>
        </p:nvSpPr>
        <p:spPr/>
        <p:txBody>
          <a:bodyPr/>
          <a:lstStyle/>
          <a:p>
            <a:fld id="{FA1221D4-216F-4D48-B7AA-E32EC3030C4E}" type="slidenum">
              <a:t>27</a:t>
            </a:fld>
            <a:endParaRPr lang="en-US"/>
          </a:p>
        </p:txBody>
      </p:sp>
    </p:spTree>
    <p:extLst>
      <p:ext uri="{BB962C8B-B14F-4D97-AF65-F5344CB8AC3E}">
        <p14:creationId xmlns:p14="http://schemas.microsoft.com/office/powerpoint/2010/main" val="1092123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IT support operations model is structured into three tiers to ensure efficient issue resolution. Tier 1 handles common user issues such as password resets and printer problems. Tier 2 addresses more complex technical issues, including network and hardware faults. Tier 3 involves senior IT staff or vendors for critical incidents. This model ensures that problems are resolved at the appropriate level, reducing downtime and support costs.</a:t>
            </a:r>
          </a:p>
        </p:txBody>
      </p:sp>
      <p:sp>
        <p:nvSpPr>
          <p:cNvPr id="4" name="Slide Number Placeholder 3"/>
          <p:cNvSpPr>
            <a:spLocks noGrp="1"/>
          </p:cNvSpPr>
          <p:nvPr>
            <p:ph type="sldNum" sz="quarter" idx="5"/>
          </p:nvPr>
        </p:nvSpPr>
        <p:spPr/>
        <p:txBody>
          <a:bodyPr/>
          <a:lstStyle/>
          <a:p>
            <a:fld id="{FA1221D4-216F-4D48-B7AA-E32EC3030C4E}" type="slidenum">
              <a:t>28</a:t>
            </a:fld>
            <a:endParaRPr lang="en-US"/>
          </a:p>
        </p:txBody>
      </p:sp>
    </p:spTree>
    <p:extLst>
      <p:ext uri="{BB962C8B-B14F-4D97-AF65-F5344CB8AC3E}">
        <p14:creationId xmlns:p14="http://schemas.microsoft.com/office/powerpoint/2010/main" val="14073605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Common IT issues include printer connectivity problems, account lockouts, and slow system performance. Standardized troubleshooting procedures guide support staff through diagnosis and resolution, ensuring consistency and efficiency. Documentation of incidents supports trend analysis and continuous improvement of the IT environment.</a:t>
            </a:r>
          </a:p>
        </p:txBody>
      </p:sp>
      <p:sp>
        <p:nvSpPr>
          <p:cNvPr id="4" name="Slide Number Placeholder 3"/>
          <p:cNvSpPr>
            <a:spLocks noGrp="1"/>
          </p:cNvSpPr>
          <p:nvPr>
            <p:ph type="sldNum" sz="quarter" idx="5"/>
          </p:nvPr>
        </p:nvSpPr>
        <p:spPr/>
        <p:txBody>
          <a:bodyPr/>
          <a:lstStyle/>
          <a:p>
            <a:fld id="{FA1221D4-216F-4D48-B7AA-E32EC3030C4E}" type="slidenum">
              <a:t>29</a:t>
            </a:fld>
            <a:endParaRPr lang="en-US"/>
          </a:p>
        </p:txBody>
      </p:sp>
    </p:spTree>
    <p:extLst>
      <p:ext uri="{BB962C8B-B14F-4D97-AF65-F5344CB8AC3E}">
        <p14:creationId xmlns:p14="http://schemas.microsoft.com/office/powerpoint/2010/main" val="20061046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support workflow begins with issue identification and logging, followed by diagnosis, resolution, and documentation. Clear escalation timelines prevent delays and ensure accountability. By tracking incidents and resolutions, IT gains insight into recurring issues and opportunities for proactive improvement.</a:t>
            </a:r>
          </a:p>
        </p:txBody>
      </p:sp>
      <p:sp>
        <p:nvSpPr>
          <p:cNvPr id="4" name="Slide Number Placeholder 3"/>
          <p:cNvSpPr>
            <a:spLocks noGrp="1"/>
          </p:cNvSpPr>
          <p:nvPr>
            <p:ph type="sldNum" sz="quarter" idx="5"/>
          </p:nvPr>
        </p:nvSpPr>
        <p:spPr/>
        <p:txBody>
          <a:bodyPr/>
          <a:lstStyle/>
          <a:p>
            <a:fld id="{FA1221D4-216F-4D48-B7AA-E32EC3030C4E}" type="slidenum">
              <a:t>30</a:t>
            </a:fld>
            <a:endParaRPr lang="en-US"/>
          </a:p>
        </p:txBody>
      </p:sp>
    </p:spTree>
    <p:extLst>
      <p:ext uri="{BB962C8B-B14F-4D97-AF65-F5344CB8AC3E}">
        <p14:creationId xmlns:p14="http://schemas.microsoft.com/office/powerpoint/2010/main" val="33341321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Operational governance defines roles and responsibilities for IT, managers, and end-users. Regular reviews, change management processes, and documentation ensure that the IT environment remains aligned with business needs and compliant with policies. Governance provides transparency and accountability across all operational activities.</a:t>
            </a:r>
          </a:p>
        </p:txBody>
      </p:sp>
      <p:sp>
        <p:nvSpPr>
          <p:cNvPr id="4" name="Slide Number Placeholder 3"/>
          <p:cNvSpPr>
            <a:spLocks noGrp="1"/>
          </p:cNvSpPr>
          <p:nvPr>
            <p:ph type="sldNum" sz="quarter" idx="5"/>
          </p:nvPr>
        </p:nvSpPr>
        <p:spPr/>
        <p:txBody>
          <a:bodyPr/>
          <a:lstStyle/>
          <a:p>
            <a:fld id="{FA1221D4-216F-4D48-B7AA-E32EC3030C4E}" type="slidenum">
              <a:t>31</a:t>
            </a:fld>
            <a:endParaRPr lang="en-US"/>
          </a:p>
        </p:txBody>
      </p:sp>
    </p:spTree>
    <p:extLst>
      <p:ext uri="{BB962C8B-B14F-4D97-AF65-F5344CB8AC3E}">
        <p14:creationId xmlns:p14="http://schemas.microsoft.com/office/powerpoint/2010/main" val="37558796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Value Delivered, Productivity and Performance Gains, Cost Efficiency and Optimization, Risk Reduction and Compliance Benefits</a:t>
            </a:r>
          </a:p>
        </p:txBody>
      </p:sp>
      <p:sp>
        <p:nvSpPr>
          <p:cNvPr id="4" name="Slide Number Placeholder 3"/>
          <p:cNvSpPr>
            <a:spLocks noGrp="1"/>
          </p:cNvSpPr>
          <p:nvPr>
            <p:ph type="sldNum" sz="quarter" idx="5"/>
          </p:nvPr>
        </p:nvSpPr>
        <p:spPr/>
        <p:txBody>
          <a:bodyPr/>
          <a:lstStyle/>
          <a:p>
            <a:fld id="{FA1221D4-216F-4D48-B7AA-E32EC3030C4E}" type="slidenum">
              <a:t>32</a:t>
            </a:fld>
            <a:endParaRPr lang="en-US"/>
          </a:p>
        </p:txBody>
      </p:sp>
    </p:spTree>
    <p:extLst>
      <p:ext uri="{BB962C8B-B14F-4D97-AF65-F5344CB8AC3E}">
        <p14:creationId xmlns:p14="http://schemas.microsoft.com/office/powerpoint/2010/main" val="19753004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proposed IT infrastructure delivers significant business value by improving reliability, security, and productivity. Employees benefit from stable systems and clear access controls, while management gains confidence in data protection and compliance. Reduced downtime and faster issue resolution directly support revenue generation and operational efficiency.</a:t>
            </a:r>
          </a:p>
        </p:txBody>
      </p:sp>
      <p:sp>
        <p:nvSpPr>
          <p:cNvPr id="4" name="Slide Number Placeholder 3"/>
          <p:cNvSpPr>
            <a:spLocks noGrp="1"/>
          </p:cNvSpPr>
          <p:nvPr>
            <p:ph type="sldNum" sz="quarter" idx="5"/>
          </p:nvPr>
        </p:nvSpPr>
        <p:spPr/>
        <p:txBody>
          <a:bodyPr/>
          <a:lstStyle/>
          <a:p>
            <a:fld id="{FA1221D4-216F-4D48-B7AA-E32EC3030C4E}" type="slidenum">
              <a:t>33</a:t>
            </a:fld>
            <a:endParaRPr lang="en-US"/>
          </a:p>
        </p:txBody>
      </p:sp>
    </p:spTree>
    <p:extLst>
      <p:ext uri="{BB962C8B-B14F-4D97-AF65-F5344CB8AC3E}">
        <p14:creationId xmlns:p14="http://schemas.microsoft.com/office/powerpoint/2010/main" val="6457708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Standardized hardware, optimized networks, and modern software tools enhance employee productivity. Developers experience improved performance, sales teams benefit from reliable connectivity, and administrative staff work more efficiently with centralized systems. These gains translate into measurable improvements in output and service quality.</a:t>
            </a:r>
          </a:p>
        </p:txBody>
      </p:sp>
      <p:sp>
        <p:nvSpPr>
          <p:cNvPr id="4" name="Slide Number Placeholder 3"/>
          <p:cNvSpPr>
            <a:spLocks noGrp="1"/>
          </p:cNvSpPr>
          <p:nvPr>
            <p:ph type="sldNum" sz="quarter" idx="5"/>
          </p:nvPr>
        </p:nvSpPr>
        <p:spPr/>
        <p:txBody>
          <a:bodyPr/>
          <a:lstStyle/>
          <a:p>
            <a:fld id="{FA1221D4-216F-4D48-B7AA-E32EC3030C4E}" type="slidenum">
              <a:t>34</a:t>
            </a:fld>
            <a:endParaRPr lang="en-US"/>
          </a:p>
        </p:txBody>
      </p:sp>
    </p:spTree>
    <p:extLst>
      <p:ext uri="{BB962C8B-B14F-4D97-AF65-F5344CB8AC3E}">
        <p14:creationId xmlns:p14="http://schemas.microsoft.com/office/powerpoint/2010/main" val="42768868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Cost efficiency is achieved by leveraging existing platforms such as Active Directory and Group Policy, reducing the need for additional tools. Centralized management lowers administrative overhead, while proactive maintenance reduces costly outages. Long-term savings result from scalable design and reduced risk exposure.</a:t>
            </a:r>
          </a:p>
        </p:txBody>
      </p:sp>
      <p:sp>
        <p:nvSpPr>
          <p:cNvPr id="4" name="Slide Number Placeholder 3"/>
          <p:cNvSpPr>
            <a:spLocks noGrp="1"/>
          </p:cNvSpPr>
          <p:nvPr>
            <p:ph type="sldNum" sz="quarter" idx="5"/>
          </p:nvPr>
        </p:nvSpPr>
        <p:spPr/>
        <p:txBody>
          <a:bodyPr/>
          <a:lstStyle/>
          <a:p>
            <a:fld id="{FA1221D4-216F-4D48-B7AA-E32EC3030C4E}" type="slidenum">
              <a:t>35</a:t>
            </a:fld>
            <a:endParaRPr lang="en-US"/>
          </a:p>
        </p:txBody>
      </p:sp>
    </p:spTree>
    <p:extLst>
      <p:ext uri="{BB962C8B-B14F-4D97-AF65-F5344CB8AC3E}">
        <p14:creationId xmlns:p14="http://schemas.microsoft.com/office/powerpoint/2010/main" val="32517196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By implementing structured security, backup, and governance controls, the organization significantly reduces operational and regulatory risk. Compliance with POPIA and alignment with best practices protect the company from legal and reputational harm, reinforcing stakeholder trust.</a:t>
            </a:r>
          </a:p>
        </p:txBody>
      </p:sp>
      <p:sp>
        <p:nvSpPr>
          <p:cNvPr id="4" name="Slide Number Placeholder 3"/>
          <p:cNvSpPr>
            <a:spLocks noGrp="1"/>
          </p:cNvSpPr>
          <p:nvPr>
            <p:ph type="sldNum" sz="quarter" idx="5"/>
          </p:nvPr>
        </p:nvSpPr>
        <p:spPr/>
        <p:txBody>
          <a:bodyPr/>
          <a:lstStyle/>
          <a:p>
            <a:fld id="{FA1221D4-216F-4D48-B7AA-E32EC3030C4E}" type="slidenum">
              <a:t>36</a:t>
            </a:fld>
            <a:endParaRPr lang="en-US"/>
          </a:p>
        </p:txBody>
      </p:sp>
    </p:spTree>
    <p:extLst>
      <p:ext uri="{BB962C8B-B14F-4D97-AF65-F5344CB8AC3E}">
        <p14:creationId xmlns:p14="http://schemas.microsoft.com/office/powerpoint/2010/main" val="35993376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Project Conclusion, Future Vision and Scalability, Innovation and Continuous Improvement, Closing and Next Steps</a:t>
            </a:r>
          </a:p>
        </p:txBody>
      </p:sp>
      <p:sp>
        <p:nvSpPr>
          <p:cNvPr id="4" name="Slide Number Placeholder 3"/>
          <p:cNvSpPr>
            <a:spLocks noGrp="1"/>
          </p:cNvSpPr>
          <p:nvPr>
            <p:ph type="sldNum" sz="quarter" idx="5"/>
          </p:nvPr>
        </p:nvSpPr>
        <p:spPr/>
        <p:txBody>
          <a:bodyPr/>
          <a:lstStyle/>
          <a:p>
            <a:fld id="{FA1221D4-216F-4D48-B7AA-E32EC3030C4E}" type="slidenum">
              <a:t>37</a:t>
            </a:fld>
            <a:endParaRPr lang="en-US"/>
          </a:p>
        </p:txBody>
      </p:sp>
    </p:spTree>
    <p:extLst>
      <p:ext uri="{BB962C8B-B14F-4D97-AF65-F5344CB8AC3E}">
        <p14:creationId xmlns:p14="http://schemas.microsoft.com/office/powerpoint/2010/main" val="16678164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IT Infrastructure and Support Solution for Ubuntu Innovations establishes a secure, reliable, and scalable foundation for current and future operations. By addressing hardware, software, networking, security, and support in an integrated manner, the project mitigates key risks and supports business objectives. The result is an IT environment that enables growth, protects critical assets, and delivers consistent value to the organization.</a:t>
            </a:r>
          </a:p>
        </p:txBody>
      </p:sp>
      <p:sp>
        <p:nvSpPr>
          <p:cNvPr id="4" name="Slide Number Placeholder 3"/>
          <p:cNvSpPr>
            <a:spLocks noGrp="1"/>
          </p:cNvSpPr>
          <p:nvPr>
            <p:ph type="sldNum" sz="quarter" idx="5"/>
          </p:nvPr>
        </p:nvSpPr>
        <p:spPr/>
        <p:txBody>
          <a:bodyPr/>
          <a:lstStyle/>
          <a:p>
            <a:fld id="{FA1221D4-216F-4D48-B7AA-E32EC3030C4E}" type="slidenum">
              <a:t>38</a:t>
            </a:fld>
            <a:endParaRPr lang="en-US"/>
          </a:p>
        </p:txBody>
      </p:sp>
    </p:spTree>
    <p:extLst>
      <p:ext uri="{BB962C8B-B14F-4D97-AF65-F5344CB8AC3E}">
        <p14:creationId xmlns:p14="http://schemas.microsoft.com/office/powerpoint/2010/main" val="13401703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Looking ahead, the infrastructure is designed to support cloud expansion, increased automation, and advanced security capabilities. As Ubuntu Innovations grows, additional users, services, and locations can be integrated without disrupting existing systems. Continuous improvement and regular reviews ensure that the IT environment evolves alongside the business.</a:t>
            </a:r>
          </a:p>
        </p:txBody>
      </p:sp>
      <p:sp>
        <p:nvSpPr>
          <p:cNvPr id="4" name="Slide Number Placeholder 3"/>
          <p:cNvSpPr>
            <a:spLocks noGrp="1"/>
          </p:cNvSpPr>
          <p:nvPr>
            <p:ph type="sldNum" sz="quarter" idx="5"/>
          </p:nvPr>
        </p:nvSpPr>
        <p:spPr/>
        <p:txBody>
          <a:bodyPr/>
          <a:lstStyle/>
          <a:p>
            <a:fld id="{FA1221D4-216F-4D48-B7AA-E32EC3030C4E}" type="slidenum">
              <a:t>39</a:t>
            </a:fld>
            <a:endParaRPr lang="en-US"/>
          </a:p>
        </p:txBody>
      </p:sp>
    </p:spTree>
    <p:extLst>
      <p:ext uri="{BB962C8B-B14F-4D97-AF65-F5344CB8AC3E}">
        <p14:creationId xmlns:p14="http://schemas.microsoft.com/office/powerpoint/2010/main" val="42281938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future vision emphasizes innovation through the adoption of emerging technologies such as cloud-native services, enhanced monitoring, and data analytics. Continuous improvement processes ensure that lessons learned from operations and incidents inform ongoing enhancements, keeping the IT environment resilient and competitive.</a:t>
            </a:r>
          </a:p>
        </p:txBody>
      </p:sp>
      <p:sp>
        <p:nvSpPr>
          <p:cNvPr id="4" name="Slide Number Placeholder 3"/>
          <p:cNvSpPr>
            <a:spLocks noGrp="1"/>
          </p:cNvSpPr>
          <p:nvPr>
            <p:ph type="sldNum" sz="quarter" idx="5"/>
          </p:nvPr>
        </p:nvSpPr>
        <p:spPr/>
        <p:txBody>
          <a:bodyPr/>
          <a:lstStyle/>
          <a:p>
            <a:fld id="{FA1221D4-216F-4D48-B7AA-E32EC3030C4E}" type="slidenum">
              <a:t>40</a:t>
            </a:fld>
            <a:endParaRPr lang="en-US"/>
          </a:p>
        </p:txBody>
      </p:sp>
    </p:spTree>
    <p:extLst>
      <p:ext uri="{BB962C8B-B14F-4D97-AF65-F5344CB8AC3E}">
        <p14:creationId xmlns:p14="http://schemas.microsoft.com/office/powerpoint/2010/main" val="5666526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next steps involve final validation, user onboarding, and operational handover. With the infrastructure in place, Ubuntu Innovations is well positioned to focus on its core business objectives, confident that its IT systems can support innovation, protect assets, and adapt to future challenges.</a:t>
            </a:r>
          </a:p>
        </p:txBody>
      </p:sp>
      <p:sp>
        <p:nvSpPr>
          <p:cNvPr id="4" name="Slide Number Placeholder 3"/>
          <p:cNvSpPr>
            <a:spLocks noGrp="1"/>
          </p:cNvSpPr>
          <p:nvPr>
            <p:ph type="sldNum" sz="quarter" idx="5"/>
          </p:nvPr>
        </p:nvSpPr>
        <p:spPr/>
        <p:txBody>
          <a:bodyPr/>
          <a:lstStyle/>
          <a:p>
            <a:fld id="{FA1221D4-216F-4D48-B7AA-E32EC3030C4E}" type="slidenum">
              <a:t>41</a:t>
            </a:fld>
            <a:endParaRPr lang="en-US"/>
          </a:p>
        </p:txBody>
      </p:sp>
    </p:spTree>
    <p:extLst>
      <p:ext uri="{BB962C8B-B14F-4D97-AF65-F5344CB8AC3E}">
        <p14:creationId xmlns:p14="http://schemas.microsoft.com/office/powerpoint/2010/main" val="13339772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gradFill>
                  <a:gsLst>
                    <a:gs pos="0">
                      <a:schemeClr val="accent2"/>
                    </a:gs>
                    <a:gs pos="100000">
                      <a:schemeClr val="accent5"/>
                    </a:gs>
                  </a:gsLst>
                  <a:lin ang="156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endParaRPr lang="en-US"/>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3AEEF7F6-ECFE-4473-B3E9-C91BE833927A}" type="datetimeFigureOut">
              <a:rPr lang="en-US" smtClean="0"/>
              <a:t>6/17/2026</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7344"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6949650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EACE7F8-A7D9-2E2C-2B0B-0DB8D7168AAC}"/>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DB768309-21D1-59BA-F479-9F846B9A0FB2}"/>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D94F90-5391-9976-036B-C34C2C30448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954512" cy="731520"/>
          </a:xfrm>
        </p:spPr>
        <p:txBody>
          <a:bodyPr/>
          <a:lstStyle>
            <a:lvl1pPr>
              <a:defRPr>
                <a:gradFill>
                  <a:gsLst>
                    <a:gs pos="0">
                      <a:schemeClr val="accent5"/>
                    </a:gs>
                    <a:gs pos="100000">
                      <a:schemeClr val="accent2"/>
                    </a:gs>
                  </a:gsLst>
                  <a:lin ang="13800000" scaled="0"/>
                </a:gra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362455"/>
            <a:ext cx="10954512" cy="49560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BEDC843-90AD-36D3-6615-3505603F8E22}"/>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852C5F7B-97CA-C06C-A155-E4BC307DB0FB}"/>
              </a:ext>
            </a:extLst>
          </p:cNvPr>
          <p:cNvSpPr>
            <a:spLocks noGrp="1"/>
          </p:cNvSpPr>
          <p:nvPr>
            <p:ph type="dt" sz="half" idx="10"/>
          </p:nvPr>
        </p:nvSpPr>
        <p:spPr/>
        <p:txBody>
          <a:bodyPr/>
          <a:lstStyle/>
          <a:p>
            <a:fld id="{3AEEF7F6-ECFE-4473-B3E9-C91BE833927A}" type="datetimeFigureOut">
              <a:rPr lang="en-US" smtClean="0"/>
              <a:t>6/17/2026</a:t>
            </a:fld>
            <a:endParaRPr lang="en-US"/>
          </a:p>
        </p:txBody>
      </p:sp>
      <p:sp>
        <p:nvSpPr>
          <p:cNvPr id="9" name="Slide Number Placeholder 8">
            <a:extLst>
              <a:ext uri="{FF2B5EF4-FFF2-40B4-BE49-F238E27FC236}">
                <a16:creationId xmlns:a16="http://schemas.microsoft.com/office/drawing/2014/main" id="{DB324737-C1DF-CE60-245E-385E02AC2FB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77372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vert="horz" lIns="91440" tIns="45720" rIns="91440" bIns="45720" rtlCol="0" anchor="t">
            <a:normAutofit/>
          </a:bodyPr>
          <a:lstStyle>
            <a:lvl1pPr>
              <a:defRPr lang="en-US" sz="4000" dirty="0">
                <a:gradFill>
                  <a:gsLst>
                    <a:gs pos="0">
                      <a:schemeClr val="accent2"/>
                    </a:gs>
                    <a:gs pos="100000">
                      <a:schemeClr val="accent5"/>
                    </a:gs>
                  </a:gsLst>
                  <a:lin ang="156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47888" y="5138927"/>
            <a:ext cx="3200400" cy="1197864"/>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7548451" cy="6858000"/>
          </a:xfrm>
          <a:blipFill>
            <a:blip r:embed="rId2">
              <a:alphaModFix amt="70000"/>
            </a:blip>
            <a:stretch>
              <a:fillRect/>
            </a:stretch>
          </a:blipFill>
        </p:spPr>
        <p:txBody>
          <a:bodyPr/>
          <a:lstStyle>
            <a:lvl1pPr marL="0" indent="0">
              <a:buNone/>
              <a:defRPr/>
            </a:lvl1pPr>
          </a:lstStyle>
          <a:p>
            <a:r>
              <a:rPr lang="en-US"/>
              <a:t> </a:t>
            </a:r>
          </a:p>
        </p:txBody>
      </p:sp>
      <p:grpSp>
        <p:nvGrpSpPr>
          <p:cNvPr id="7" name="Group 6">
            <a:extLst>
              <a:ext uri="{FF2B5EF4-FFF2-40B4-BE49-F238E27FC236}">
                <a16:creationId xmlns:a16="http://schemas.microsoft.com/office/drawing/2014/main" id="{9BCBE317-7590-8646-B2DB-5BED6EE8A19B}"/>
              </a:ext>
              <a:ext uri="{C183D7F6-B498-43B3-948B-1728B52AA6E4}">
                <adec:decorative xmlns:adec="http://schemas.microsoft.com/office/drawing/2017/decorative" val="1"/>
              </a:ext>
            </a:extLst>
          </p:cNvPr>
          <p:cNvGrpSpPr/>
          <p:nvPr/>
        </p:nvGrpSpPr>
        <p:grpSpPr>
          <a:xfrm rot="5400000">
            <a:off x="4181134" y="3367319"/>
            <a:ext cx="6858000" cy="123363"/>
            <a:chOff x="-5025" y="6737718"/>
            <a:chExt cx="12207200" cy="123363"/>
          </a:xfrm>
        </p:grpSpPr>
        <p:sp>
          <p:nvSpPr>
            <p:cNvPr id="8" name="Rectangle 7">
              <a:extLst>
                <a:ext uri="{FF2B5EF4-FFF2-40B4-BE49-F238E27FC236}">
                  <a16:creationId xmlns:a16="http://schemas.microsoft.com/office/drawing/2014/main" id="{55B255D3-4FB2-87A8-E502-9CDE10990A39}"/>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15F704-CD21-A249-03F6-4F036D21400B}"/>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8247888" y="6318504"/>
            <a:ext cx="2459736" cy="365760"/>
          </a:xfrm>
        </p:spPr>
        <p:txBody>
          <a:bodyPr/>
          <a:lstStyle/>
          <a:p>
            <a:endParaRPr lang="en-US"/>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10707624" y="6318504"/>
            <a:ext cx="859536" cy="365760"/>
          </a:xfrm>
        </p:spPr>
        <p:txBody>
          <a:bodyPr/>
          <a:lstStyle/>
          <a:p>
            <a:fld id="{3AEEF7F6-ECFE-4473-B3E9-C91BE833927A}" type="datetimeFigureOut">
              <a:rPr lang="en-US" smtClean="0"/>
              <a:t>6/17/2026</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7693531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AB82C7-4740-BEAB-85E9-C816E1CDC453}"/>
              </a:ext>
              <a:ext uri="{C183D7F6-B498-43B3-948B-1728B52AA6E4}">
                <adec:decorative xmlns:adec="http://schemas.microsoft.com/office/drawing/2017/decorative" val="1"/>
              </a:ext>
            </a:extLst>
          </p:cNvPr>
          <p:cNvGrpSpPr/>
          <p:nvPr/>
        </p:nvGrpSpPr>
        <p:grpSpPr>
          <a:xfrm rot="10800000">
            <a:off x="0" y="4492680"/>
            <a:ext cx="12207200" cy="123363"/>
            <a:chOff x="-5025" y="6737718"/>
            <a:chExt cx="12207200" cy="123363"/>
          </a:xfrm>
        </p:grpSpPr>
        <p:sp>
          <p:nvSpPr>
            <p:cNvPr id="5" name="Rectangle 4">
              <a:extLst>
                <a:ext uri="{FF2B5EF4-FFF2-40B4-BE49-F238E27FC236}">
                  <a16:creationId xmlns:a16="http://schemas.microsoft.com/office/drawing/2014/main" id="{0B7E10D0-EE9E-6432-2C4D-0324DE19518E}"/>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63B4BE8-5DA5-6F2B-0DB6-7901D4547F64}"/>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36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4492679"/>
          </a:xfrm>
          <a:blipFill>
            <a:blip r:embed="rId2">
              <a:alphaModFix amt="70000"/>
            </a:blip>
            <a:stretch>
              <a:fillRect/>
            </a:stretch>
          </a:blipFill>
        </p:spPr>
        <p:txBody>
          <a:bodyPr/>
          <a:lstStyle>
            <a:lvl1pPr marL="0" indent="0">
              <a:buNone/>
              <a:defRPr/>
            </a:lvl1pPr>
          </a:lstStyle>
          <a:p>
            <a:r>
              <a:rPr lang="en-US"/>
              <a:t> </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p:txBody>
          <a:bodyPr/>
          <a:lstStyle/>
          <a:p>
            <a:fld id="{3AEEF7F6-ECFE-4473-B3E9-C91BE833927A}" type="datetimeFigureOut">
              <a:rPr lang="en-US" smtClean="0"/>
              <a:t>6/17/2026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2668328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6/17/2026</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09302463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b">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6/17/2026</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21547839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219385-CEEC-20A5-C72F-B13448DE6E0F}"/>
              </a:ext>
            </a:extLst>
          </p:cNvPr>
          <p:cNvSpPr/>
          <p:nvPr/>
        </p:nvSpPr>
        <p:spPr>
          <a:xfrm>
            <a:off x="0" y="-12003"/>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9FFFB07-15C3-5030-73A7-6D0EBC2FB180}"/>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FC67F9-A48C-BB0E-03C5-9C32A6BB8C5D}"/>
              </a:ext>
            </a:extLst>
          </p:cNvPr>
          <p:cNvSpPr/>
          <p:nvPr/>
        </p:nvSpPr>
        <p:spPr>
          <a:xfrm rot="16200000" flipH="1">
            <a:off x="2660997" y="-2673001"/>
            <a:ext cx="6870003" cy="12192002"/>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8A2436E8-8599-9171-B0E5-3A3CED0AE2C4}"/>
              </a:ext>
            </a:extLst>
          </p:cNvPr>
          <p:cNvSpPr/>
          <p:nvPr/>
        </p:nvSpPr>
        <p:spPr>
          <a:xfrm rot="5400000" flipH="1">
            <a:off x="2719785" y="-1537266"/>
            <a:ext cx="5669226" cy="11108800"/>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p:nvSpPr>
        <p:spPr>
          <a:xfrm rot="16200000" flipH="1">
            <a:off x="-648303"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solidFill>
                  <a:schemeClr val="tx1"/>
                </a:solidFill>
              </a:defRPr>
            </a:lvl1pPr>
          </a:lstStyle>
          <a:p>
            <a:pPr lvl="0"/>
            <a:r>
              <a:rPr lang="en-US"/>
              <a:t>Click to edit Master subtitle style</a:t>
            </a:r>
          </a:p>
        </p:txBody>
      </p:sp>
      <p:sp>
        <p:nvSpPr>
          <p:cNvPr id="12" name="Footer Placeholder 11">
            <a:extLst>
              <a:ext uri="{FF2B5EF4-FFF2-40B4-BE49-F238E27FC236}">
                <a16:creationId xmlns:a16="http://schemas.microsoft.com/office/drawing/2014/main" id="{1EF90BDF-2A3B-8AD7-6EE4-11ED28664F7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1" name="Date Placeholder 10">
            <a:extLst>
              <a:ext uri="{FF2B5EF4-FFF2-40B4-BE49-F238E27FC236}">
                <a16:creationId xmlns:a16="http://schemas.microsoft.com/office/drawing/2014/main" id="{81B66C1B-A1AD-A2BC-11D8-9AEA5E834AAC}"/>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6/17/2026</a:t>
            </a:fld>
            <a:endParaRPr lang="en-US"/>
          </a:p>
        </p:txBody>
      </p:sp>
      <p:sp>
        <p:nvSpPr>
          <p:cNvPr id="13" name="Slide Number Placeholder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2092080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65FF0-EE88-E48A-1552-AF2B228EADC6}"/>
              </a:ext>
            </a:extLst>
          </p:cNvPr>
          <p:cNvSpPr/>
          <p:nvPr/>
        </p:nvSpPr>
        <p:spPr>
          <a:xfrm>
            <a:off x="0" y="0"/>
            <a:ext cx="12192000" cy="6857999"/>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93006-CD9A-ACB8-4DFF-755585BD51C6}"/>
              </a:ext>
            </a:extLst>
          </p:cNvPr>
          <p:cNvSpPr/>
          <p:nvPr/>
        </p:nvSpPr>
        <p:spPr>
          <a:xfrm rot="5400000" flipH="1" flipV="1">
            <a:off x="2657856" y="-2666214"/>
            <a:ext cx="6876288" cy="12192001"/>
          </a:xfrm>
          <a:prstGeom prst="rect">
            <a:avLst/>
          </a:prstGeom>
          <a:gradFill>
            <a:gsLst>
              <a:gs pos="13000">
                <a:schemeClr val="accent2"/>
              </a:gs>
              <a:gs pos="100000">
                <a:schemeClr val="accent5"/>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3B71B6E1-2B98-87C0-C97D-DC19E754324D}"/>
              </a:ext>
            </a:extLst>
          </p:cNvPr>
          <p:cNvSpPr/>
          <p:nvPr/>
        </p:nvSpPr>
        <p:spPr>
          <a:xfrm rot="16200000" flipH="1" flipV="1">
            <a:off x="2144989" y="-2153344"/>
            <a:ext cx="5473326" cy="9763303"/>
          </a:xfrm>
          <a:prstGeom prst="rect">
            <a:avLst/>
          </a:prstGeom>
          <a:gradFill flip="none" rotWithShape="1">
            <a:gsLst>
              <a:gs pos="0">
                <a:schemeClr val="accent5">
                  <a:lumMod val="75000"/>
                  <a:alpha val="68000"/>
                </a:schemeClr>
              </a:gs>
              <a:gs pos="45000">
                <a:schemeClr val="accent5">
                  <a:lumMod val="60000"/>
                  <a:lumOff val="40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flipV="1">
            <a:off x="1031672" y="2962966"/>
            <a:ext cx="11160328" cy="3895034"/>
          </a:xfrm>
          <a:prstGeom prst="rect">
            <a:avLst/>
          </a:prstGeom>
          <a:gradFill>
            <a:gsLst>
              <a:gs pos="0">
                <a:schemeClr val="accent5">
                  <a:lumMod val="75000"/>
                </a:schemeClr>
              </a:gs>
              <a:gs pos="42000">
                <a:schemeClr val="accent5">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DA413373-13C5-71D9-C45A-699B0F451355}"/>
              </a:ext>
              <a:ext uri="{C183D7F6-B498-43B3-948B-1728B52AA6E4}">
                <adec:decorative xmlns:adec="http://schemas.microsoft.com/office/drawing/2017/decorative" val="1"/>
              </a:ext>
            </a:extLst>
          </p:cNvPr>
          <p:cNvSpPr/>
          <p:nvPr/>
        </p:nvSpPr>
        <p:spPr>
          <a:xfrm rot="5400000" flipH="1" flipV="1">
            <a:off x="1233479" y="361146"/>
            <a:ext cx="5263375" cy="7730333"/>
          </a:xfrm>
          <a:prstGeom prst="rect">
            <a:avLst/>
          </a:prstGeom>
          <a:gradFill flip="none" rotWithShape="1">
            <a:gsLst>
              <a:gs pos="8000">
                <a:schemeClr val="accent2">
                  <a:lumMod val="75000"/>
                </a:schemeClr>
              </a:gs>
              <a:gs pos="50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8229600" cy="4178808"/>
          </a:xfrm>
        </p:spPr>
        <p:txBody>
          <a:bodyPr vert="horz" lIns="91440" tIns="45720" rIns="91440" bIns="45720" rtlCol="0" anchor="b">
            <a:normAutofit/>
          </a:bodyPr>
          <a:lstStyle>
            <a:lvl1pPr>
              <a:defRPr lang="en-US" sz="6600" dirty="0">
                <a:solidFill>
                  <a:schemeClr val="tx1"/>
                </a:solidFill>
              </a:defRPr>
            </a:lvl1pPr>
          </a:lstStyle>
          <a:p>
            <a:pPr lvl="0"/>
            <a:r>
              <a:rPr lang="en-US"/>
              <a:t>Click to edit Master title style</a:t>
            </a:r>
          </a:p>
        </p:txBody>
      </p:sp>
      <p:sp>
        <p:nvSpPr>
          <p:cNvPr id="15" name="Footer Placeholder 14">
            <a:extLst>
              <a:ext uri="{FF2B5EF4-FFF2-40B4-BE49-F238E27FC236}">
                <a16:creationId xmlns:a16="http://schemas.microsoft.com/office/drawing/2014/main" id="{C3B3753E-6E60-F731-58BF-7C4D0497E93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4" name="Date Placeholder 13">
            <a:extLst>
              <a:ext uri="{FF2B5EF4-FFF2-40B4-BE49-F238E27FC236}">
                <a16:creationId xmlns:a16="http://schemas.microsoft.com/office/drawing/2014/main" id="{08CEB89B-6066-557A-EBEC-18307AC240FE}"/>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6/17/2026</a:t>
            </a:fld>
            <a:endParaRPr lang="en-US"/>
          </a:p>
        </p:txBody>
      </p:sp>
      <p:sp>
        <p:nvSpPr>
          <p:cNvPr id="16" name="Slide Number Placeholder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315436194"/>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6" y="2093976"/>
            <a:ext cx="8229600" cy="4178808"/>
          </a:xfrm>
        </p:spPr>
        <p:txBody>
          <a:bodyPr vert="horz" lIns="91440" tIns="45720" rIns="91440" bIns="45720" rtlCol="0" anchor="b">
            <a:normAutofit/>
          </a:bodyPr>
          <a:lstStyle>
            <a:lvl1pPr>
              <a:defRPr lang="en-US" sz="7200" dirty="0">
                <a:gradFill>
                  <a:gsLst>
                    <a:gs pos="0">
                      <a:schemeClr val="accent5"/>
                    </a:gs>
                    <a:gs pos="100000">
                      <a:schemeClr val="accent2"/>
                    </a:gs>
                  </a:gsLst>
                  <a:lin ang="6000000" scaled="0"/>
                </a:gradFill>
              </a:defRPr>
            </a:lvl1pPr>
          </a:lstStyle>
          <a:p>
            <a:pPr lvl="0"/>
            <a:r>
              <a:rPr lang="en-US"/>
              <a:t>Click to edit Master title style</a:t>
            </a:r>
          </a:p>
        </p:txBody>
      </p:sp>
      <p:sp>
        <p:nvSpPr>
          <p:cNvPr id="5" name="Footer Placeholder 4">
            <a:extLst>
              <a:ext uri="{FF2B5EF4-FFF2-40B4-BE49-F238E27FC236}">
                <a16:creationId xmlns:a16="http://schemas.microsoft.com/office/drawing/2014/main" id="{028F8ECD-BC5C-69B8-45CB-D6C697E807B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57F97286-C615-453F-E284-B5C22987E2C1}"/>
              </a:ext>
            </a:extLst>
          </p:cNvPr>
          <p:cNvSpPr>
            <a:spLocks noGrp="1"/>
          </p:cNvSpPr>
          <p:nvPr>
            <p:ph type="dt" sz="half" idx="10"/>
          </p:nvPr>
        </p:nvSpPr>
        <p:spPr/>
        <p:txBody>
          <a:bodyPr/>
          <a:lstStyle/>
          <a:p>
            <a:fld id="{3AEEF7F6-ECFE-4473-B3E9-C91BE833927A}" type="datetimeFigureOut">
              <a:rPr lang="en-US" smtClean="0"/>
              <a:t>6/17/2026</a:t>
            </a:fld>
            <a:endParaRPr lang="en-US"/>
          </a:p>
        </p:txBody>
      </p:sp>
      <p:sp>
        <p:nvSpPr>
          <p:cNvPr id="6" name="Slide Number Placeholder 5">
            <a:extLst>
              <a:ext uri="{FF2B5EF4-FFF2-40B4-BE49-F238E27FC236}">
                <a16:creationId xmlns:a16="http://schemas.microsoft.com/office/drawing/2014/main" id="{96A721B8-1357-D164-0082-D2B50441B99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31379630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F4C684-CDD4-5CA8-12DC-BB0C4BFE21EA}"/>
              </a:ext>
              <a:ext uri="{C183D7F6-B498-43B3-948B-1728B52AA6E4}">
                <adec:decorative xmlns:adec="http://schemas.microsoft.com/office/drawing/2017/decorative" val="1"/>
              </a:ext>
            </a:extLst>
          </p:cNvPr>
          <p:cNvGrpSpPr/>
          <p:nvPr/>
        </p:nvGrpSpPr>
        <p:grpSpPr>
          <a:xfrm>
            <a:off x="0" y="-4329"/>
            <a:ext cx="5056093" cy="6869586"/>
            <a:chOff x="5171844" y="-11586"/>
            <a:chExt cx="7020159" cy="6869586"/>
          </a:xfrm>
        </p:grpSpPr>
        <p:sp>
          <p:nvSpPr>
            <p:cNvPr id="4" name="Rectangle 3">
              <a:extLst>
                <a:ext uri="{FF2B5EF4-FFF2-40B4-BE49-F238E27FC236}">
                  <a16:creationId xmlns:a16="http://schemas.microsoft.com/office/drawing/2014/main" id="{F6ECDBF0-A1F0-37B6-C87A-8687287F7950}"/>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0F90E0-14F7-6838-2C0A-149459C1D143}"/>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7578B55F-B3C4-0B70-7EAE-5FBFD3308543}"/>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FBDE35-AEB9-6AFE-BC7A-79FEFBB51D0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8368" y="2103120"/>
            <a:ext cx="3666744" cy="2624328"/>
          </a:xfrm>
          <a:noFill/>
        </p:spPr>
        <p:txBody>
          <a:bodyPr anchor="ctr">
            <a:normAutofit/>
          </a:bodyPr>
          <a:lstStyle>
            <a:lvl1pPr algn="ctr">
              <a:defRPr sz="4800">
                <a:solidFill>
                  <a:schemeClr val="bg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lvl1pPr>
              <a:defRPr>
                <a:solidFill>
                  <a:schemeClr val="bg1"/>
                </a:solidFill>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57702" y="877824"/>
            <a:ext cx="5509458"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3AEEF7F6-ECFE-4473-B3E9-C91BE833927A}" type="datetimeFigureOut">
              <a:rPr lang="en-US" smtClean="0"/>
              <a:t>6/17/2026</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34792890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BA5514-C4EC-5772-F451-90A91C385D2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1C95E155-D254-47EB-52CD-C66E0A29E9A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5" name="Rectangle 4">
              <a:extLst>
                <a:ext uri="{FF2B5EF4-FFF2-40B4-BE49-F238E27FC236}">
                  <a16:creationId xmlns:a16="http://schemas.microsoft.com/office/drawing/2014/main" id="{B947EE6D-F09F-E804-C40C-AB228BDE8E64}"/>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72783" y="722376"/>
            <a:ext cx="5138927" cy="1581912"/>
          </a:xfrm>
        </p:spPr>
        <p:txBody>
          <a:bodyPr vert="horz" lIns="91440" tIns="45720" rIns="91440" bIns="45720" rtlCol="0" anchor="b">
            <a:normAutofit/>
          </a:bodyPr>
          <a:lstStyle>
            <a:lvl1pPr>
              <a:defRPr lang="en-US" sz="6000" dirty="0">
                <a:gradFill>
                  <a:gsLst>
                    <a:gs pos="0">
                      <a:schemeClr val="accent2"/>
                    </a:gs>
                    <a:gs pos="100000">
                      <a:schemeClr val="accent5"/>
                    </a:gs>
                  </a:gsLst>
                  <a:lin ang="12000000" scaled="0"/>
                </a:gradFill>
              </a:defRPr>
            </a:lvl1pPr>
          </a:lstStyle>
          <a:p>
            <a:pPr lvl="0"/>
            <a:r>
              <a:rPr lang="en-US"/>
              <a:t>Click to edit Master title style</a:t>
            </a:r>
          </a:p>
        </p:txBody>
      </p:sp>
      <p:sp>
        <p:nvSpPr>
          <p:cNvPr id="11" name="Picture Placeholder 10">
            <a:extLst>
              <a:ext uri="{FF2B5EF4-FFF2-40B4-BE49-F238E27FC236}">
                <a16:creationId xmlns:a16="http://schemas.microsoft.com/office/drawing/2014/main" id="{630EF3B0-9D02-EBD8-2D14-79BF34534AA1}"/>
              </a:ext>
            </a:extLst>
          </p:cNvPr>
          <p:cNvSpPr>
            <a:spLocks noGrp="1"/>
          </p:cNvSpPr>
          <p:nvPr>
            <p:ph type="pic" sz="quarter" idx="17" hasCustomPrompt="1"/>
          </p:nvPr>
        </p:nvSpPr>
        <p:spPr>
          <a:xfrm>
            <a:off x="119307" y="0"/>
            <a:ext cx="5413248" cy="6858000"/>
          </a:xfrm>
          <a:blipFill>
            <a:blip r:embed="rId2">
              <a:alphaModFix amt="70000"/>
            </a:blip>
            <a:stretch>
              <a:fillRect/>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834640"/>
            <a:ext cx="5138928" cy="2999232"/>
          </a:xfrm>
        </p:spPr>
        <p:txBody>
          <a:bodyPr vert="horz" lIns="91440" tIns="45720" rIns="91440" bIns="45720" rtlCol="0" anchor="b">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272784" y="6318504"/>
            <a:ext cx="3569956" cy="365760"/>
          </a:xfrm>
        </p:spPr>
        <p:txBody>
          <a:bodyPr/>
          <a:lstStyle/>
          <a:p>
            <a:endParaRPr lang="en-US"/>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10075652" y="6318504"/>
            <a:ext cx="1491507" cy="365760"/>
          </a:xfrm>
        </p:spPr>
        <p:txBody>
          <a:bodyPr/>
          <a:lstStyle/>
          <a:p>
            <a:fld id="{3AEEF7F6-ECFE-4473-B3E9-C91BE833927A}" type="datetimeFigureOut">
              <a:rPr lang="en-US" smtClean="0"/>
              <a:t>6/17/2026</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67371498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E855AC-5F95-123D-E0A1-CBD75D8FD00A}"/>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F3A6A854-7BA6-35FC-898F-37F3BC10E5D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5EF75-521C-7F12-2397-68B6128751E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82496" y="2222436"/>
            <a:ext cx="4160520" cy="2825496"/>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7376" y="2222436"/>
            <a:ext cx="3959352" cy="2697480"/>
          </a:xfrm>
        </p:spPr>
        <p:txBody>
          <a:bodyPr vert="horz" lIns="91440" tIns="45720" rIns="91440" bIns="45720" rtlCol="0">
            <a:normAutofit/>
          </a:bodyPr>
          <a:lstStyle>
            <a:lvl1pPr marL="0" indent="0">
              <a:buNone/>
              <a:defRPr lang="en-US" sz="1800" dirty="0"/>
            </a:lvl1pPr>
            <a:lvl2pPr marL="228600" indent="0">
              <a:buNone/>
              <a:defRPr lang="en-US" sz="16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3AEEF7F6-ECFE-4473-B3E9-C91BE833927A}" type="datetimeFigureOut">
              <a:rPr lang="en-US" smtClean="0"/>
              <a:t>6/17/2026</a:t>
            </a:fld>
            <a:endParaRPr lang="en-US"/>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7806578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74537F0-59D7-5CF5-65CE-33DFA62B3767}"/>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C7EFD035-FCE9-275A-5EEF-94FC6583E39A}"/>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FF3E46-4915-D511-DDA5-9451667C3C8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8552" y="2048256"/>
            <a:ext cx="3813048" cy="3538728"/>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75960" y="2048256"/>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57CB2298-A12A-D380-ED4F-AD870434F233}"/>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9D1F2EAD-3327-FA60-8B7F-6CBBD02C3F07}"/>
              </a:ext>
            </a:extLst>
          </p:cNvPr>
          <p:cNvSpPr>
            <a:spLocks noGrp="1"/>
          </p:cNvSpPr>
          <p:nvPr>
            <p:ph type="dt" sz="half" idx="14"/>
          </p:nvPr>
        </p:nvSpPr>
        <p:spPr/>
        <p:txBody>
          <a:bodyPr/>
          <a:lstStyle/>
          <a:p>
            <a:fld id="{3AEEF7F6-ECFE-4473-B3E9-C91BE833927A}" type="datetimeFigureOut">
              <a:rPr lang="en-US" smtClean="0"/>
              <a:t>6/17/2026</a:t>
            </a:fld>
            <a:endParaRPr lang="en-US"/>
          </a:p>
        </p:txBody>
      </p:sp>
      <p:sp>
        <p:nvSpPr>
          <p:cNvPr id="9" name="Slide Number Placeholder 8">
            <a:extLst>
              <a:ext uri="{FF2B5EF4-FFF2-40B4-BE49-F238E27FC236}">
                <a16:creationId xmlns:a16="http://schemas.microsoft.com/office/drawing/2014/main" id="{A63D4A7C-9E9E-96BC-68B8-3F92C9B3B40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4344078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9" name="Rectangle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22376"/>
            <a:ext cx="7214616" cy="1280160"/>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922776" y="2240280"/>
            <a:ext cx="7349947" cy="37216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4A089F15-F7A9-6130-79CF-D853C6B4B742}"/>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65C79459-C978-FF61-F7FC-DC5D1F170174}"/>
              </a:ext>
            </a:extLst>
          </p:cNvPr>
          <p:cNvSpPr>
            <a:spLocks noGrp="1"/>
          </p:cNvSpPr>
          <p:nvPr>
            <p:ph type="dt" sz="half" idx="14"/>
          </p:nvPr>
        </p:nvSpPr>
        <p:spPr/>
        <p:txBody>
          <a:bodyPr/>
          <a:lstStyle/>
          <a:p>
            <a:fld id="{3AEEF7F6-ECFE-4473-B3E9-C91BE833927A}" type="datetimeFigureOut">
              <a:rPr lang="en-US" smtClean="0"/>
              <a:t>6/17/2026</a:t>
            </a:fld>
            <a:endParaRPr lang="en-US"/>
          </a:p>
        </p:txBody>
      </p:sp>
      <p:sp>
        <p:nvSpPr>
          <p:cNvPr id="13" name="Slide Number Placeholder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850722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3A83600-30C4-2F21-93C5-D07537A3964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BA1F9F49-F979-53D6-3ED8-352816078D4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745F95-9BA3-B7A5-F004-E2BB1CFFE2F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4215384" cy="3136392"/>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68696" y="640080"/>
            <a:ext cx="5998464" cy="56967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6/17/2026</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9372922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604B371-347D-80EC-2C2C-C69CD2EF7B9D}"/>
              </a:ext>
              <a:ext uri="{C183D7F6-B498-43B3-948B-1728B52AA6E4}">
                <adec:decorative xmlns:adec="http://schemas.microsoft.com/office/drawing/2017/decorative" val="1"/>
              </a:ext>
            </a:extLst>
          </p:cNvPr>
          <p:cNvGrpSpPr/>
          <p:nvPr/>
        </p:nvGrpSpPr>
        <p:grpSpPr>
          <a:xfrm flipV="1">
            <a:off x="12068340" y="0"/>
            <a:ext cx="123362" cy="6858000"/>
            <a:chOff x="12068638" y="0"/>
            <a:chExt cx="123362" cy="6858000"/>
          </a:xfrm>
        </p:grpSpPr>
        <p:sp>
          <p:nvSpPr>
            <p:cNvPr id="5" name="Rectangle 4">
              <a:extLst>
                <a:ext uri="{FF2B5EF4-FFF2-40B4-BE49-F238E27FC236}">
                  <a16:creationId xmlns:a16="http://schemas.microsoft.com/office/drawing/2014/main" id="{3F227FEA-4B4B-3484-7267-B7BD65A4E9BF}"/>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3530AA-F724-4235-0FDF-84595FCBFBC1}"/>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21792"/>
            <a:ext cx="10872216" cy="749808"/>
          </a:xfrm>
        </p:spPr>
        <p:txBody>
          <a:bodyPr anchor="ctr">
            <a:normAutofit/>
          </a:bodyPr>
          <a:lstStyle>
            <a:lvl1pPr>
              <a:defRPr sz="3200">
                <a:gradFill>
                  <a:gsLst>
                    <a:gs pos="0">
                      <a:schemeClr val="accent5"/>
                    </a:gs>
                    <a:gs pos="100000">
                      <a:schemeClr val="accent2"/>
                    </a:gs>
                  </a:gsLst>
                  <a:lin ang="138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6/17/2026</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546071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1155E4-5659-692F-6CDC-095E555AF698}"/>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8AFD6F-0EAD-ADCF-CB9A-AB74C59048E1}"/>
              </a:ext>
            </a:extLst>
          </p:cNvPr>
          <p:cNvSpPr/>
          <p:nvPr/>
        </p:nvSpPr>
        <p:spPr>
          <a:xfrm rot="16200000">
            <a:off x="6635246" y="-3716556"/>
            <a:ext cx="1855397" cy="9288510"/>
          </a:xfrm>
          <a:prstGeom prst="rect">
            <a:avLst/>
          </a:prstGeom>
          <a:gradFill>
            <a:gsLst>
              <a:gs pos="45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310896"/>
            <a:ext cx="10872216" cy="1225296"/>
          </a:xfrm>
        </p:spPr>
        <p:txBody>
          <a:bodyPr anchor="ctr">
            <a:normAutofit/>
          </a:bodyPr>
          <a:lstStyle>
            <a:lvl1pPr>
              <a:defRPr sz="3200">
                <a:solidFill>
                  <a:schemeClr val="bg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2313432"/>
            <a:ext cx="8732520" cy="3895344"/>
          </a:xfr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6/17/2026</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9227629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394E45B-1239-5927-7239-231AB33A23C5}"/>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3" name="Rectangle 12">
              <a:extLst>
                <a:ext uri="{FF2B5EF4-FFF2-40B4-BE49-F238E27FC236}">
                  <a16:creationId xmlns:a16="http://schemas.microsoft.com/office/drawing/2014/main" id="{C82CCE1C-1D53-2F67-CA11-693E1CA40CC5}"/>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C77A3C2-9949-B8A0-8486-8228C60D0C3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493008" cy="3621024"/>
          </a:xfrm>
        </p:spPr>
        <p:txBody>
          <a:bodyPr vert="horz" lIns="91440" tIns="45720" rIns="91440" bIns="45720" rtlCol="0" anchor="t">
            <a:normAutofit/>
          </a:bodyPr>
          <a:lstStyle>
            <a:lvl1pPr>
              <a:defRPr lang="en-US" dirty="0">
                <a:gradFill>
                  <a:gsLst>
                    <a:gs pos="0">
                      <a:schemeClr val="accent5"/>
                    </a:gs>
                    <a:gs pos="100000">
                      <a:schemeClr val="accent2"/>
                    </a:gs>
                  </a:gsLst>
                  <a:lin ang="13800000" scaled="0"/>
                </a:gradFill>
              </a:defRPr>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3AEEF7F6-ECFE-4473-B3E9-C91BE833927A}" type="datetimeFigureOut">
              <a:rPr lang="en-US" smtClean="0"/>
              <a:t>6/17/2026</a:t>
            </a:fld>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0466977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2293C7-9DD5-C84B-6A44-F0D117C4C94B}"/>
              </a:ext>
            </a:extLst>
          </p:cNvPr>
          <p:cNvSpPr/>
          <p:nvPr/>
        </p:nvSpPr>
        <p:spPr>
          <a:xfrm>
            <a:off x="3" y="-4323"/>
            <a:ext cx="4059076"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088F0D-A4DE-CAA0-43A6-84E52AD904F3}"/>
              </a:ext>
            </a:extLst>
          </p:cNvPr>
          <p:cNvSpPr/>
          <p:nvPr/>
        </p:nvSpPr>
        <p:spPr>
          <a:xfrm rot="10800000">
            <a:off x="-1" y="1061883"/>
            <a:ext cx="4059079" cy="5803372"/>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 name="Rectangle 5">
            <a:extLst>
              <a:ext uri="{FF2B5EF4-FFF2-40B4-BE49-F238E27FC236}">
                <a16:creationId xmlns:a16="http://schemas.microsoft.com/office/drawing/2014/main" id="{25CD67E0-1350-1985-A4E1-5215AF902BF2}"/>
              </a:ext>
            </a:extLst>
          </p:cNvPr>
          <p:cNvSpPr/>
          <p:nvPr/>
        </p:nvSpPr>
        <p:spPr>
          <a:xfrm rot="16200000">
            <a:off x="-524095" y="1129367"/>
            <a:ext cx="5716870" cy="3449479"/>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081528" cy="4014216"/>
          </a:xfrm>
        </p:spPr>
        <p:txBody>
          <a:bodyPr vert="horz" lIns="91440" tIns="45720" rIns="91440" bIns="45720" rtlCol="0" anchor="t">
            <a:normAutofit/>
          </a:bodyPr>
          <a:lstStyle>
            <a:lvl1pPr>
              <a:defRPr lang="en-US" dirty="0">
                <a:solidFill>
                  <a:schemeClr val="bg1"/>
                </a:solidFill>
              </a:defRPr>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2B6B8768-08ED-B8FE-AB87-3961B13E76EC}"/>
              </a:ext>
            </a:extLst>
          </p:cNvPr>
          <p:cNvSpPr>
            <a:spLocks noGrp="1"/>
          </p:cNvSpPr>
          <p:nvPr>
            <p:ph type="ftr" sz="quarter" idx="15"/>
          </p:nvPr>
        </p:nvSpPr>
        <p:spPr>
          <a:xfrm>
            <a:off x="612648" y="6318504"/>
            <a:ext cx="3446431" cy="365760"/>
          </a:xfrm>
        </p:spPr>
        <p:txBody>
          <a:bodyPr/>
          <a:lstStyle>
            <a:lvl1pPr>
              <a:defRPr>
                <a:solidFill>
                  <a:schemeClr val="bg1"/>
                </a:solidFill>
              </a:defRPr>
            </a:lvl1pPr>
          </a:lstStyle>
          <a:p>
            <a:endParaRPr lang="en-US"/>
          </a:p>
        </p:txBody>
      </p:sp>
      <p:sp>
        <p:nvSpPr>
          <p:cNvPr id="10" name="Date Placeholder 9">
            <a:extLst>
              <a:ext uri="{FF2B5EF4-FFF2-40B4-BE49-F238E27FC236}">
                <a16:creationId xmlns:a16="http://schemas.microsoft.com/office/drawing/2014/main" id="{0790CD73-4635-8D46-A7E8-EDF5E35D34ED}"/>
              </a:ext>
            </a:extLst>
          </p:cNvPr>
          <p:cNvSpPr>
            <a:spLocks noGrp="1"/>
          </p:cNvSpPr>
          <p:nvPr>
            <p:ph type="dt" sz="half" idx="14"/>
          </p:nvPr>
        </p:nvSpPr>
        <p:spPr/>
        <p:txBody>
          <a:bodyPr/>
          <a:lstStyle/>
          <a:p>
            <a:fld id="{3AEEF7F6-ECFE-4473-B3E9-C91BE833927A}" type="datetimeFigureOut">
              <a:rPr lang="en-US" smtClean="0"/>
              <a:t>6/17/2026</a:t>
            </a:fld>
            <a:endParaRPr lang="en-US"/>
          </a:p>
        </p:txBody>
      </p:sp>
      <p:sp>
        <p:nvSpPr>
          <p:cNvPr id="12" name="Slide Number Placeholder 11">
            <a:extLst>
              <a:ext uri="{FF2B5EF4-FFF2-40B4-BE49-F238E27FC236}">
                <a16:creationId xmlns:a16="http://schemas.microsoft.com/office/drawing/2014/main" id="{CE7E57EE-CAE7-24C5-9F1D-159F32ADDDD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314793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05272" y="502920"/>
            <a:ext cx="5961888" cy="1197864"/>
          </a:xfrm>
        </p:spPr>
        <p:txBody>
          <a:bodyPr anchor="b"/>
          <a:lstStyle/>
          <a:p>
            <a:r>
              <a:rPr lang="en-US"/>
              <a:t>Click to edit Master title style</a:t>
            </a:r>
          </a:p>
        </p:txBody>
      </p:sp>
      <p:grpSp>
        <p:nvGrpSpPr>
          <p:cNvPr id="3" name="Group 2">
            <a:extLst>
              <a:ext uri="{FF2B5EF4-FFF2-40B4-BE49-F238E27FC236}">
                <a16:creationId xmlns:a16="http://schemas.microsoft.com/office/drawing/2014/main" id="{125E9B8B-7499-A48C-F314-3620CFFB8E0B}"/>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139B506F-0FAC-8905-0F05-E889644A7B9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AC1EBA-955D-23C1-CCE1-CF2C6CBFD05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15866" y="0"/>
            <a:ext cx="4837176" cy="6858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605272" y="1801367"/>
            <a:ext cx="5961888"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5605272" y="6318504"/>
            <a:ext cx="4096512" cy="365760"/>
          </a:xfrm>
        </p:spPr>
        <p:txBody>
          <a:bodyPr/>
          <a:lstStyle/>
          <a:p>
            <a:endParaRPr lang="en-US"/>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9701784" y="6318504"/>
            <a:ext cx="1865376" cy="365760"/>
          </a:xfrm>
        </p:spPr>
        <p:txBody>
          <a:bodyPr/>
          <a:lstStyle/>
          <a:p>
            <a:fld id="{3AEEF7F6-ECFE-4473-B3E9-C91BE833927A}" type="datetimeFigureOut">
              <a:rPr lang="en-US" smtClean="0"/>
              <a:t>6/17/2026</a:t>
            </a:fld>
            <a:endParaRPr lang="en-US"/>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663782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6858000" cy="8412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472184"/>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655B44AF-FB05-4BBA-5AC9-C89D1BB5BE69}"/>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2632EABA-2011-B91D-C867-6B03C4743305}"/>
              </a:ext>
            </a:extLst>
          </p:cNvPr>
          <p:cNvSpPr>
            <a:spLocks noGrp="1"/>
          </p:cNvSpPr>
          <p:nvPr>
            <p:ph type="dt" sz="half" idx="16"/>
          </p:nvPr>
        </p:nvSpPr>
        <p:spPr>
          <a:xfrm>
            <a:off x="4709160" y="6318504"/>
            <a:ext cx="2350008" cy="365760"/>
          </a:xfrm>
        </p:spPr>
        <p:txBody>
          <a:bodyPr/>
          <a:lstStyle/>
          <a:p>
            <a:fld id="{3AEEF7F6-ECFE-4473-B3E9-C91BE833927A}" type="datetimeFigureOut">
              <a:rPr lang="en-US" smtClean="0"/>
              <a:t>6/17/2026</a:t>
            </a:fld>
            <a:endParaRPr lang="en-US"/>
          </a:p>
        </p:txBody>
      </p:sp>
      <p:sp>
        <p:nvSpPr>
          <p:cNvPr id="13" name="Slide Number Placeholder 12">
            <a:extLst>
              <a:ext uri="{FF2B5EF4-FFF2-40B4-BE49-F238E27FC236}">
                <a16:creationId xmlns:a16="http://schemas.microsoft.com/office/drawing/2014/main" id="{437E37F5-E579-D12C-536E-A9118707E1C6}"/>
              </a:ext>
            </a:extLst>
          </p:cNvPr>
          <p:cNvSpPr>
            <a:spLocks noGrp="1"/>
          </p:cNvSpPr>
          <p:nvPr>
            <p:ph type="sldNum" sz="quarter" idx="18"/>
          </p:nvPr>
        </p:nvSpPr>
        <p:spPr>
          <a:xfrm>
            <a:off x="6976872"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19D3616B-B0C6-AB9E-48FA-05090671826A}"/>
              </a:ext>
            </a:extLst>
          </p:cNvPr>
          <p:cNvSpPr>
            <a:spLocks noGrp="1"/>
          </p:cNvSpPr>
          <p:nvPr>
            <p:ph type="pic" sz="quarter" idx="15" hasCustomPrompt="1"/>
          </p:nvPr>
        </p:nvSpPr>
        <p:spPr>
          <a:xfrm>
            <a:off x="8129142" y="0"/>
            <a:ext cx="3939493"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0" name="Group 9">
            <a:extLst>
              <a:ext uri="{FF2B5EF4-FFF2-40B4-BE49-F238E27FC236}">
                <a16:creationId xmlns:a16="http://schemas.microsoft.com/office/drawing/2014/main" id="{D5BBFBAF-5922-A442-5D1A-BC28ADE0D2B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E9DBF79C-336C-A5FC-F9A7-F678FEB5C351}"/>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3E95C8-0894-01F3-97E4-60803AAA24A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13335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06516" y="502920"/>
            <a:ext cx="6858000" cy="841248"/>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8AF4E90B-EF6F-24B4-C4FE-7FBC72B7E9EE}"/>
              </a:ext>
            </a:extLst>
          </p:cNvPr>
          <p:cNvSpPr>
            <a:spLocks noGrp="1"/>
          </p:cNvSpPr>
          <p:nvPr>
            <p:ph type="pic" sz="quarter" idx="15" hasCustomPrompt="1"/>
          </p:nvPr>
        </p:nvSpPr>
        <p:spPr>
          <a:xfrm>
            <a:off x="115867" y="0"/>
            <a:ext cx="3968496"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3F50B082-E806-677A-B150-164003C5BF2E}"/>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CEBF228F-ECC6-8326-8C59-4539BE646E4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9E235C-963A-D79C-5145-5233B1FD5A8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06516" y="1472183"/>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46FDC5C-46E3-4585-C089-E091BE6E5D36}"/>
              </a:ext>
            </a:extLst>
          </p:cNvPr>
          <p:cNvSpPr>
            <a:spLocks noGrp="1"/>
          </p:cNvSpPr>
          <p:nvPr>
            <p:ph type="ftr" sz="quarter" idx="17"/>
          </p:nvPr>
        </p:nvSpPr>
        <p:spPr>
          <a:xfrm>
            <a:off x="4706516" y="6318504"/>
            <a:ext cx="4096512" cy="365760"/>
          </a:xfrm>
        </p:spPr>
        <p:txBody>
          <a:bodyPr/>
          <a:lstStyle/>
          <a:p>
            <a:endParaRPr lang="en-US"/>
          </a:p>
        </p:txBody>
      </p:sp>
      <p:sp>
        <p:nvSpPr>
          <p:cNvPr id="3" name="Date Placeholder 2">
            <a:extLst>
              <a:ext uri="{FF2B5EF4-FFF2-40B4-BE49-F238E27FC236}">
                <a16:creationId xmlns:a16="http://schemas.microsoft.com/office/drawing/2014/main" id="{5721447D-8AA6-9863-0212-376200A916F4}"/>
              </a:ext>
            </a:extLst>
          </p:cNvPr>
          <p:cNvSpPr>
            <a:spLocks noGrp="1"/>
          </p:cNvSpPr>
          <p:nvPr>
            <p:ph type="dt" sz="half" idx="16"/>
          </p:nvPr>
        </p:nvSpPr>
        <p:spPr>
          <a:xfrm>
            <a:off x="8729070" y="6318504"/>
            <a:ext cx="2838090" cy="365760"/>
          </a:xfrm>
        </p:spPr>
        <p:txBody>
          <a:bodyPr/>
          <a:lstStyle/>
          <a:p>
            <a:fld id="{3AEEF7F6-ECFE-4473-B3E9-C91BE833927A}" type="datetimeFigureOut">
              <a:rPr lang="en-US" smtClean="0"/>
              <a:t>6/17/2026</a:t>
            </a:fld>
            <a:endParaRPr lang="en-US"/>
          </a:p>
        </p:txBody>
      </p:sp>
      <p:sp>
        <p:nvSpPr>
          <p:cNvPr id="9" name="Slide Number Placeholder 8">
            <a:extLst>
              <a:ext uri="{FF2B5EF4-FFF2-40B4-BE49-F238E27FC236}">
                <a16:creationId xmlns:a16="http://schemas.microsoft.com/office/drawing/2014/main" id="{86395A93-90A0-8500-32A5-2011DF9658F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0978687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AE7BB9-8F3B-888B-7C5F-C693E4B78B3D}"/>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7CA2AA3A-CAA5-475A-C3CD-9ABFCE2B0092}"/>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3ED07E-CBE3-22B8-BCE0-4F98BB64C4C6}"/>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573413" cy="8412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472184"/>
            <a:ext cx="4573413"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42B6E2F6-1C60-7678-922C-01C4DB211D7A}"/>
              </a:ext>
            </a:extLst>
          </p:cNvPr>
          <p:cNvSpPr>
            <a:spLocks noGrp="1"/>
          </p:cNvSpPr>
          <p:nvPr>
            <p:ph type="ftr" sz="quarter" idx="17"/>
          </p:nvPr>
        </p:nvSpPr>
        <p:spPr>
          <a:xfrm>
            <a:off x="612648" y="6318504"/>
            <a:ext cx="2743200" cy="365760"/>
          </a:xfrm>
        </p:spPr>
        <p:txBody>
          <a:bodyPr/>
          <a:lstStyle/>
          <a:p>
            <a:endParaRPr lang="en-US"/>
          </a:p>
        </p:txBody>
      </p:sp>
      <p:sp>
        <p:nvSpPr>
          <p:cNvPr id="4" name="Date Placeholder 3">
            <a:extLst>
              <a:ext uri="{FF2B5EF4-FFF2-40B4-BE49-F238E27FC236}">
                <a16:creationId xmlns:a16="http://schemas.microsoft.com/office/drawing/2014/main" id="{0D5BA7FF-A77E-82D8-382F-C60F9EB7D403}"/>
              </a:ext>
            </a:extLst>
          </p:cNvPr>
          <p:cNvSpPr>
            <a:spLocks noGrp="1"/>
          </p:cNvSpPr>
          <p:nvPr>
            <p:ph type="dt" sz="half" idx="16"/>
          </p:nvPr>
        </p:nvSpPr>
        <p:spPr>
          <a:xfrm>
            <a:off x="3355847" y="6318504"/>
            <a:ext cx="1418733" cy="365760"/>
          </a:xfrm>
        </p:spPr>
        <p:txBody>
          <a:bodyPr/>
          <a:lstStyle/>
          <a:p>
            <a:fld id="{3AEEF7F6-ECFE-4473-B3E9-C91BE833927A}" type="datetimeFigureOut">
              <a:rPr lang="en-US" smtClean="0"/>
              <a:t>6/17/2026</a:t>
            </a:fld>
            <a:endParaRPr lang="en-US"/>
          </a:p>
        </p:txBody>
      </p:sp>
      <p:sp>
        <p:nvSpPr>
          <p:cNvPr id="13" name="Slide Number Placeholder 12">
            <a:extLst>
              <a:ext uri="{FF2B5EF4-FFF2-40B4-BE49-F238E27FC236}">
                <a16:creationId xmlns:a16="http://schemas.microsoft.com/office/drawing/2014/main" id="{277AED5A-2B3B-6F43-CA78-5BF85217FD6E}"/>
              </a:ext>
            </a:extLst>
          </p:cNvPr>
          <p:cNvSpPr>
            <a:spLocks noGrp="1"/>
          </p:cNvSpPr>
          <p:nvPr>
            <p:ph type="sldNum" sz="quarter" idx="18"/>
          </p:nvPr>
        </p:nvSpPr>
        <p:spPr>
          <a:xfrm>
            <a:off x="4692285" y="6318504"/>
            <a:ext cx="493776" cy="365760"/>
          </a:xfrm>
        </p:spPr>
        <p:txBody>
          <a:bodyPr/>
          <a:lstStyle/>
          <a:p>
            <a:fld id="{5DAD859A-2C66-45B9-9A71-3CF205EC2D4A}" type="slidenum">
              <a:rPr lang="en-US" smtClean="0"/>
              <a:t>‹#›</a:t>
            </a:fld>
            <a:endParaRPr lang="en-US"/>
          </a:p>
        </p:txBody>
      </p:sp>
      <p:sp>
        <p:nvSpPr>
          <p:cNvPr id="12" name="Picture Placeholder 11">
            <a:extLst>
              <a:ext uri="{FF2B5EF4-FFF2-40B4-BE49-F238E27FC236}">
                <a16:creationId xmlns:a16="http://schemas.microsoft.com/office/drawing/2014/main" id="{EC59C038-AFE7-F1BB-D482-33E170892572}"/>
              </a:ext>
            </a:extLst>
          </p:cNvPr>
          <p:cNvSpPr>
            <a:spLocks noGrp="1"/>
          </p:cNvSpPr>
          <p:nvPr>
            <p:ph type="pic" sz="quarter" idx="15" hasCustomPrompt="1"/>
          </p:nvPr>
        </p:nvSpPr>
        <p:spPr>
          <a:xfrm>
            <a:off x="5844556" y="0"/>
            <a:ext cx="6224082" cy="6858000"/>
          </a:xfrm>
          <a:blipFill dpi="0" rotWithShape="1">
            <a:blip r:embed="rId2">
              <a:alphaModFix amt="7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87642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389120" cy="14447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084832"/>
            <a:ext cx="4389120" cy="41696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612648" y="6318504"/>
            <a:ext cx="2651760" cy="365760"/>
          </a:xfrm>
        </p:spPr>
        <p:txBody>
          <a:bodyPr/>
          <a:lstStyle/>
          <a:p>
            <a:endParaRPr lang="en-US"/>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264408" y="6318504"/>
            <a:ext cx="1325880" cy="365760"/>
          </a:xfrm>
        </p:spPr>
        <p:txBody>
          <a:bodyPr/>
          <a:lstStyle/>
          <a:p>
            <a:fld id="{3AEEF7F6-ECFE-4473-B3E9-C91BE833927A}" type="datetimeFigureOut">
              <a:rPr lang="en-US" smtClean="0"/>
              <a:t>6/17/2026</a:t>
            </a:fld>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4507992"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5660263" y="0"/>
            <a:ext cx="6408375"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5D76C82F-0CA8-713E-E19A-65D51910A5DC}"/>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C3A0EB22-0640-E9D6-5C90-504668EDC47C}"/>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95F219-6751-8C9C-0F4E-1048F537CB6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728207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C494689-2DF4-F719-B5A3-0E33B5AB963F}"/>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7" name="Rectangle 16">
              <a:extLst>
                <a:ext uri="{FF2B5EF4-FFF2-40B4-BE49-F238E27FC236}">
                  <a16:creationId xmlns:a16="http://schemas.microsoft.com/office/drawing/2014/main" id="{258C88C8-2ADC-03E1-DA79-C09C9FFCB40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E9281E-3F01-B630-B5DF-17CEE295D67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22376"/>
            <a:ext cx="3017520" cy="3364992"/>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105656" y="722376"/>
            <a:ext cx="3417212" cy="544068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356" y="722376"/>
            <a:ext cx="3566160" cy="544068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B46F9121-A740-6137-350B-F287FC3F65ED}"/>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71DDF62D-265F-648C-DEAF-A6B63AFE9A88}"/>
              </a:ext>
            </a:extLst>
          </p:cNvPr>
          <p:cNvSpPr>
            <a:spLocks noGrp="1"/>
          </p:cNvSpPr>
          <p:nvPr>
            <p:ph type="dt" sz="half" idx="16"/>
          </p:nvPr>
        </p:nvSpPr>
        <p:spPr/>
        <p:txBody>
          <a:bodyPr/>
          <a:lstStyle/>
          <a:p>
            <a:fld id="{3AEEF7F6-ECFE-4473-B3E9-C91BE833927A}" type="datetimeFigureOut">
              <a:rPr lang="en-US" smtClean="0"/>
              <a:t>6/17/2026</a:t>
            </a:fld>
            <a:endParaRPr lang="en-US"/>
          </a:p>
        </p:txBody>
      </p:sp>
      <p:sp>
        <p:nvSpPr>
          <p:cNvPr id="15" name="Slide Number Placeholder 14">
            <a:extLst>
              <a:ext uri="{FF2B5EF4-FFF2-40B4-BE49-F238E27FC236}">
                <a16:creationId xmlns:a16="http://schemas.microsoft.com/office/drawing/2014/main" id="{4B1E5F69-8168-1838-71D3-E395524793E7}"/>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601428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DB5D765-4DB1-83CD-C254-A90B6611CFB6}"/>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C69A84EF-6D24-A163-8B58-B5389FD4DDD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9A50A9-013C-611D-B106-1ED459519F5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115866" y="-1"/>
            <a:ext cx="7397496" cy="6857999"/>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a:lstStyle/>
          <a:p>
            <a:endParaRPr lang="en-US"/>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a:lstStyle/>
          <a:p>
            <a:fld id="{3AEEF7F6-ECFE-4473-B3E9-C91BE833927A}" type="datetimeFigureOut">
              <a:rPr lang="en-US" smtClean="0"/>
              <a:t>6/17/2026</a:t>
            </a:fld>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9218595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401568" cy="14447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2648"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8" y="6318504"/>
            <a:ext cx="1975502" cy="365760"/>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88150" y="6318504"/>
            <a:ext cx="1014586" cy="365760"/>
          </a:xfrm>
        </p:spPr>
        <p:txBody>
          <a:bodyPr/>
          <a:lstStyle>
            <a:lvl1pPr>
              <a:defRPr>
                <a:solidFill>
                  <a:schemeClr val="tx1"/>
                </a:solidFill>
                <a:effectLst/>
              </a:defRPr>
            </a:lvl1pPr>
          </a:lstStyle>
          <a:p>
            <a:fld id="{3AEEF7F6-ECFE-4473-B3E9-C91BE833927A}" type="datetimeFigureOut">
              <a:rPr lang="en-US" smtClean="0"/>
              <a:t>6/17/2026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520440"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802819" y="0"/>
            <a:ext cx="7265819"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DCFD1FA7-C4E8-DE5C-3B9D-DCD115B6C32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C133272-DC27-4D54-F532-D2039EAA5D9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C8420D-B6AB-D6E7-38A4-FFF30B404590}"/>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520157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115866" y="0"/>
            <a:ext cx="7397496" cy="6858000"/>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11" name="Group 10">
            <a:extLst>
              <a:ext uri="{FF2B5EF4-FFF2-40B4-BE49-F238E27FC236}">
                <a16:creationId xmlns:a16="http://schemas.microsoft.com/office/drawing/2014/main" id="{E02754B6-EAB4-945C-FC4E-F8F7D453BCCD}"/>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A699CF6F-40DA-4FCF-FBCF-9907CB96FB7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7C8A1CA-3094-3344-5C05-30F5E18CD02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a:lstStyle/>
          <a:p>
            <a:endParaRPr lang="en-US"/>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a:lstStyle/>
          <a:p>
            <a:fld id="{3AEEF7F6-ECFE-4473-B3E9-C91BE833927A}" type="datetimeFigureOut">
              <a:rPr lang="en-US" smtClean="0"/>
              <a:t>6/17/2026</a:t>
            </a:fld>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613924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56312"/>
            <a:ext cx="3647839" cy="142023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4591025"/>
          </a:xfrm>
          <a:blipFill dpi="0" rotWithShape="1">
            <a:blip r:embed="rId2">
              <a:alphaModFix amt="70000"/>
            </a:blip>
            <a:srcRect/>
            <a:stretch>
              <a:fillRect/>
            </a:stretch>
          </a:blipFill>
        </p:spPr>
        <p:txBody>
          <a:bodyPr/>
          <a:lstStyle>
            <a:lvl1pPr marL="0" indent="0">
              <a:buNone/>
              <a:defRPr/>
            </a:lvl1pPr>
          </a:lstStyle>
          <a:p>
            <a:r>
              <a:rPr lang="en-US"/>
              <a:t> </a:t>
            </a:r>
          </a:p>
        </p:txBody>
      </p:sp>
      <p:grpSp>
        <p:nvGrpSpPr>
          <p:cNvPr id="9" name="Group 8">
            <a:extLst>
              <a:ext uri="{FF2B5EF4-FFF2-40B4-BE49-F238E27FC236}">
                <a16:creationId xmlns:a16="http://schemas.microsoft.com/office/drawing/2014/main" id="{7A6CD91D-B3A8-3626-F189-B9F77A315DD9}"/>
              </a:ext>
              <a:ext uri="{C183D7F6-B498-43B3-948B-1728B52AA6E4}">
                <adec:decorative xmlns:adec="http://schemas.microsoft.com/office/drawing/2017/decorative" val="1"/>
              </a:ext>
            </a:extLst>
          </p:cNvPr>
          <p:cNvGrpSpPr/>
          <p:nvPr/>
        </p:nvGrpSpPr>
        <p:grpSpPr>
          <a:xfrm rot="10800000">
            <a:off x="0" y="4591027"/>
            <a:ext cx="12198096" cy="123363"/>
            <a:chOff x="-5025" y="6737718"/>
            <a:chExt cx="12207200" cy="123363"/>
          </a:xfrm>
        </p:grpSpPr>
        <p:sp>
          <p:nvSpPr>
            <p:cNvPr id="10" name="Rectangle 9">
              <a:extLst>
                <a:ext uri="{FF2B5EF4-FFF2-40B4-BE49-F238E27FC236}">
                  <a16:creationId xmlns:a16="http://schemas.microsoft.com/office/drawing/2014/main" id="{6869147E-E51A-3B94-6CD8-EE629F8797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CD771F-7FFC-BCEC-B388-8883BD9CBC6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257800" y="4956312"/>
            <a:ext cx="6309360" cy="1420235"/>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AEEF7F6-ECFE-4473-B3E9-C91BE833927A}" type="datetimeFigureOut">
              <a:rPr lang="en-US" smtClean="0"/>
              <a:t>6/17/2026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507177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093596"/>
            <a:ext cx="2953618" cy="200791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2" name="Picture Placeholder 11">
            <a:extLst>
              <a:ext uri="{FF2B5EF4-FFF2-40B4-BE49-F238E27FC236}">
                <a16:creationId xmlns:a16="http://schemas.microsoft.com/office/drawing/2014/main" id="{B8FB154D-4A60-735B-FA5C-F17F96D0F7DD}"/>
              </a:ext>
            </a:extLst>
          </p:cNvPr>
          <p:cNvSpPr>
            <a:spLocks noGrp="1"/>
          </p:cNvSpPr>
          <p:nvPr>
            <p:ph type="pic" sz="quarter" idx="15" hasCustomPrompt="1"/>
          </p:nvPr>
        </p:nvSpPr>
        <p:spPr>
          <a:xfrm>
            <a:off x="0" y="0"/>
            <a:ext cx="12192000" cy="3700807"/>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8555" y="4093596"/>
            <a:ext cx="7298605" cy="2289578"/>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p:txBody>
          <a:bodyPr/>
          <a:lstStyle/>
          <a:p>
            <a:endParaRPr lang="en-US"/>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p:txBody>
          <a:bodyPr/>
          <a:lstStyle/>
          <a:p>
            <a:fld id="{3AEEF7F6-ECFE-4473-B3E9-C91BE833927A}" type="datetimeFigureOut">
              <a:rPr lang="en-US" smtClean="0"/>
              <a:t>6/17/2026</a:t>
            </a:fld>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2128391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333CDCF-1D03-5851-5ADE-6C229D9C93F1}"/>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36CADBC-4985-70E0-56BE-1C8385BBCBD0}"/>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1B3299-F1D4-88B7-5B22-7D623606691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7978"/>
            <a:ext cx="10954512" cy="969264"/>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65C3B04B-96C8-DA90-9593-3508CE34B4EE}"/>
              </a:ext>
            </a:extLst>
          </p:cNvPr>
          <p:cNvSpPr>
            <a:spLocks noGrp="1"/>
          </p:cNvSpPr>
          <p:nvPr>
            <p:ph type="pic" sz="quarter" idx="15" hasCustomPrompt="1"/>
          </p:nvPr>
        </p:nvSpPr>
        <p:spPr>
          <a:xfrm>
            <a:off x="612648" y="1801367"/>
            <a:ext cx="6550152" cy="4489704"/>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848600" y="1801367"/>
            <a:ext cx="3718561" cy="448970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E02B3BF-7794-675C-7382-345519B43BE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08303468-1991-7CCF-2C67-0B5A3850BAD1}"/>
              </a:ext>
            </a:extLst>
          </p:cNvPr>
          <p:cNvSpPr>
            <a:spLocks noGrp="1"/>
          </p:cNvSpPr>
          <p:nvPr>
            <p:ph type="dt" sz="half" idx="16"/>
          </p:nvPr>
        </p:nvSpPr>
        <p:spPr/>
        <p:txBody>
          <a:bodyPr/>
          <a:lstStyle/>
          <a:p>
            <a:fld id="{3AEEF7F6-ECFE-4473-B3E9-C91BE833927A}" type="datetimeFigureOut">
              <a:rPr lang="en-US" smtClean="0"/>
              <a:t>6/17/2026</a:t>
            </a:fld>
            <a:endParaRPr lang="en-US"/>
          </a:p>
        </p:txBody>
      </p:sp>
      <p:sp>
        <p:nvSpPr>
          <p:cNvPr id="10" name="Slide Number Placeholder 9">
            <a:extLst>
              <a:ext uri="{FF2B5EF4-FFF2-40B4-BE49-F238E27FC236}">
                <a16:creationId xmlns:a16="http://schemas.microsoft.com/office/drawing/2014/main" id="{5AF75D71-C32E-4EF6-2C8E-B5F29DBF4D14}"/>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891771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6287667-A4F8-6B7A-7C1E-415768F3B3A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860F260A-40A1-ED4C-F5A8-F915D3BDB7F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9CD2C2-2541-1223-03B1-97955C134718}"/>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4669536" cy="4024566"/>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F3134235-8D6E-735A-EBA0-BA533F60F020}"/>
              </a:ext>
            </a:extLst>
          </p:cNvPr>
          <p:cNvSpPr>
            <a:spLocks noGrp="1"/>
          </p:cNvSpPr>
          <p:nvPr>
            <p:ph type="ftr" sz="quarter" idx="17"/>
          </p:nvPr>
        </p:nvSpPr>
        <p:spPr/>
        <p:txBody>
          <a:bodyPr/>
          <a:lstStyle/>
          <a:p>
            <a:endParaRPr lang="en-US"/>
          </a:p>
        </p:txBody>
      </p:sp>
      <p:sp>
        <p:nvSpPr>
          <p:cNvPr id="10" name="Date Placeholder 9">
            <a:extLst>
              <a:ext uri="{FF2B5EF4-FFF2-40B4-BE49-F238E27FC236}">
                <a16:creationId xmlns:a16="http://schemas.microsoft.com/office/drawing/2014/main" id="{9D2F68ED-5552-E109-B7F4-671217CABF2D}"/>
              </a:ext>
            </a:extLst>
          </p:cNvPr>
          <p:cNvSpPr>
            <a:spLocks noGrp="1"/>
          </p:cNvSpPr>
          <p:nvPr>
            <p:ph type="dt" sz="half" idx="16"/>
          </p:nvPr>
        </p:nvSpPr>
        <p:spPr/>
        <p:txBody>
          <a:bodyPr/>
          <a:lstStyle/>
          <a:p>
            <a:fld id="{3AEEF7F6-ECFE-4473-B3E9-C91BE833927A}" type="datetimeFigureOut">
              <a:rPr lang="en-US" smtClean="0"/>
              <a:t>6/17/2026</a:t>
            </a:fld>
            <a:endParaRPr lang="en-US"/>
          </a:p>
        </p:txBody>
      </p:sp>
      <p:sp>
        <p:nvSpPr>
          <p:cNvPr id="12" name="Slide Number Placeholder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2294971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3C02DA-0C9D-12C9-42BB-CC4820B41CF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0" name="Rectangle 9">
              <a:extLst>
                <a:ext uri="{FF2B5EF4-FFF2-40B4-BE49-F238E27FC236}">
                  <a16:creationId xmlns:a16="http://schemas.microsoft.com/office/drawing/2014/main" id="{43680A20-A590-D755-5AA0-BAF1B1402907}"/>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CA06CF-7B14-32D2-2412-3434710512E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645980" cy="1453896"/>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3645980" cy="4024565"/>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12227" y="502919"/>
            <a:ext cx="6354933" cy="58155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AEEF7F6-ECFE-4473-B3E9-C91BE833927A}" type="datetimeFigureOut">
              <a:rPr lang="en-US" smtClean="0"/>
              <a:t>6/17/2026</a:t>
            </a:fld>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57222263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93BC13-F3D8-0BDA-D1BF-7B8E455AC066}"/>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7362B5B-CACD-7203-74DE-7B0BBF7D69CE}"/>
              </a:ext>
            </a:extLst>
          </p:cNvPr>
          <p:cNvGrpSpPr/>
          <p:nvPr/>
        </p:nvGrpSpPr>
        <p:grpSpPr>
          <a:xfrm>
            <a:off x="-22276" y="-6922"/>
            <a:ext cx="12214276" cy="6869101"/>
            <a:chOff x="-22276" y="-6922"/>
            <a:chExt cx="12214276" cy="6869101"/>
          </a:xfrm>
        </p:grpSpPr>
        <p:sp>
          <p:nvSpPr>
            <p:cNvPr id="9" name="Rectangle 8">
              <a:extLst>
                <a:ext uri="{FF2B5EF4-FFF2-40B4-BE49-F238E27FC236}">
                  <a16:creationId xmlns:a16="http://schemas.microsoft.com/office/drawing/2014/main" id="{7D6A753B-AD01-7A7A-4F2D-C75592EC67B9}"/>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33E82525-BA9A-AA08-8DF0-B77178C6BC45}"/>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0A4B5202-8712-82B4-1B42-E7E4336E8698}"/>
                </a:ext>
              </a:extLst>
            </p:cNvPr>
            <p:cNvSpPr/>
            <p:nvPr/>
          </p:nvSpPr>
          <p:spPr>
            <a:xfrm flipH="1">
              <a:off x="-22276" y="-6922"/>
              <a:ext cx="3849318" cy="6864922"/>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2" name="Rectangle 11">
              <a:extLst>
                <a:ext uri="{FF2B5EF4-FFF2-40B4-BE49-F238E27FC236}">
                  <a16:creationId xmlns:a16="http://schemas.microsoft.com/office/drawing/2014/main" id="{D95172D8-9117-7FB7-2347-567B5663C51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1143000" y="4928616"/>
            <a:ext cx="9912096" cy="1545336"/>
          </a:xfrm>
        </p:spPr>
        <p:txBody>
          <a:bodyPr anchor="t">
            <a:normAutofit/>
          </a:bodyPr>
          <a:lstStyle>
            <a:lvl1pPr algn="ctr">
              <a:lnSpc>
                <a:spcPct val="120000"/>
              </a:lnSpc>
              <a:defRPr sz="28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30352" y="978408"/>
            <a:ext cx="11137392" cy="4114800"/>
          </a:xfrm>
        </p:spPr>
        <p:txBody>
          <a:bodyPr anchor="b">
            <a:normAutofit/>
          </a:bodyPr>
          <a:lstStyle>
            <a:lvl1pPr marL="0" indent="0" algn="ctr">
              <a:lnSpc>
                <a:spcPct val="90000"/>
              </a:lnSpc>
              <a:buNone/>
              <a:defRPr sz="27800" b="1">
                <a:solidFill>
                  <a:schemeClr val="tx1"/>
                </a:solidFill>
              </a:defRPr>
            </a:lvl1pPr>
          </a:lstStyle>
          <a:p>
            <a:pPr lvl="0"/>
            <a:r>
              <a:rPr lang="en-US"/>
              <a:t>##%</a:t>
            </a:r>
          </a:p>
        </p:txBody>
      </p:sp>
      <p:sp>
        <p:nvSpPr>
          <p:cNvPr id="3" name="Footer Placeholder 2">
            <a:extLst>
              <a:ext uri="{FF2B5EF4-FFF2-40B4-BE49-F238E27FC236}">
                <a16:creationId xmlns:a16="http://schemas.microsoft.com/office/drawing/2014/main" id="{31932224-E515-4E44-2832-0D5E94847CF7}"/>
              </a:ext>
            </a:extLst>
          </p:cNvPr>
          <p:cNvSpPr>
            <a:spLocks noGrp="1"/>
          </p:cNvSpPr>
          <p:nvPr>
            <p:ph type="ftr" sz="quarter" idx="10"/>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9E371D16-7052-CB51-10DB-659F8F77B25F}"/>
              </a:ext>
            </a:extLst>
          </p:cNvPr>
          <p:cNvSpPr>
            <a:spLocks noGrp="1"/>
          </p:cNvSpPr>
          <p:nvPr>
            <p:ph type="dt" sz="half" idx="11"/>
          </p:nvPr>
        </p:nvSpPr>
        <p:spPr/>
        <p:txBody>
          <a:bodyPr/>
          <a:lstStyle>
            <a:lvl1pPr>
              <a:defRPr>
                <a:solidFill>
                  <a:schemeClr val="tx1"/>
                </a:solidFill>
              </a:defRPr>
            </a:lvl1pPr>
          </a:lstStyle>
          <a:p>
            <a:fld id="{3AEEF7F6-ECFE-4473-B3E9-C91BE833927A}" type="datetimeFigureOut">
              <a:rPr lang="en-US" smtClean="0"/>
              <a:t>6/17/2026</a:t>
            </a:fld>
            <a:endParaRPr lang="en-US"/>
          </a:p>
        </p:txBody>
      </p:sp>
      <p:sp>
        <p:nvSpPr>
          <p:cNvPr id="5" name="Slide Number Placeholder 4">
            <a:extLst>
              <a:ext uri="{FF2B5EF4-FFF2-40B4-BE49-F238E27FC236}">
                <a16:creationId xmlns:a16="http://schemas.microsoft.com/office/drawing/2014/main" id="{85B132CC-C4B7-E2AF-5520-00C69FF3762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302180913"/>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718304"/>
            <a:ext cx="6281928" cy="1353312"/>
          </a:xfrm>
        </p:spPr>
        <p:txBody>
          <a:bodyPr vert="horz" lIns="91440" tIns="45720" rIns="91440" bIns="45720" rtlCol="0" anchor="t">
            <a:normAutofit/>
          </a:bodyPr>
          <a:lstStyle>
            <a:lvl1pPr>
              <a:lnSpc>
                <a:spcPct val="120000"/>
              </a:lnSpc>
              <a:defRPr lang="en-US" sz="2800" dirty="0"/>
            </a:lvl1pPr>
          </a:lstStyle>
          <a:p>
            <a:pPr lvl="0"/>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21208" y="786384"/>
            <a:ext cx="11155680" cy="4334256"/>
          </a:xfrm>
        </p:spPr>
        <p:txBody>
          <a:bodyPr vert="horz" lIns="91440" tIns="45720" rIns="91440" bIns="45720" rtlCol="0" anchor="b">
            <a:normAutofit/>
          </a:bodyPr>
          <a:lstStyle>
            <a:lvl1pPr marL="0" indent="0">
              <a:buNone/>
              <a:defRPr lang="en-US" sz="27800" b="1" dirty="0">
                <a:gradFill>
                  <a:gsLst>
                    <a:gs pos="0">
                      <a:schemeClr val="accent2"/>
                    </a:gs>
                    <a:gs pos="100000">
                      <a:schemeClr val="accent5"/>
                    </a:gs>
                  </a:gsLst>
                  <a:lin ang="4200000" scaled="0"/>
                </a:gradFill>
              </a:defRPr>
            </a:lvl1pPr>
          </a:lstStyle>
          <a:p>
            <a:pPr lvl="0"/>
            <a:r>
              <a:rPr lang="en-US"/>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6/17/2026</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7389908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983480"/>
            <a:ext cx="6281928" cy="1353312"/>
          </a:xfrm>
        </p:spPr>
        <p:txBody>
          <a:bodyPr vert="horz" lIns="91440" tIns="45720" rIns="91440" bIns="45720" rtlCol="0" anchor="b">
            <a:normAutofit/>
          </a:bodyPr>
          <a:lstStyle>
            <a:lvl1pPr>
              <a:lnSpc>
                <a:spcPct val="120000"/>
              </a:lnSpc>
              <a:defRPr lang="en-US" sz="2800" dirty="0"/>
            </a:lvl1pPr>
          </a:lstStyle>
          <a:p>
            <a:pPr lvl="0"/>
            <a:r>
              <a:rPr lang="en-US"/>
              <a:t>Click to edit Master title style</a:t>
            </a:r>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457200" y="182880"/>
            <a:ext cx="11247120" cy="4974336"/>
          </a:xfrm>
        </p:spPr>
        <p:txBody>
          <a:bodyPr vert="horz" lIns="91440" tIns="45720" rIns="91440" bIns="45720" rtlCol="0">
            <a:normAutofit/>
          </a:bodyPr>
          <a:lstStyle>
            <a:lvl1pPr marL="0" indent="0">
              <a:lnSpc>
                <a:spcPct val="90000"/>
              </a:lnSpc>
              <a:buNone/>
              <a:defRPr lang="en-US" sz="32500" b="1" dirty="0">
                <a:gradFill>
                  <a:gsLst>
                    <a:gs pos="0">
                      <a:schemeClr val="accent2"/>
                    </a:gs>
                    <a:gs pos="100000">
                      <a:schemeClr val="accent5"/>
                    </a:gs>
                  </a:gsLst>
                  <a:lin ang="4200000" scaled="0"/>
                </a:gradFill>
              </a:defRPr>
            </a:lvl1pPr>
          </a:lstStyle>
          <a:p>
            <a:pPr lvl="0"/>
            <a:r>
              <a:rPr lang="en-US"/>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6/17/2026</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324166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gradFill>
                  <a:gsLst>
                    <a:gs pos="0">
                      <a:schemeClr val="accent2"/>
                    </a:gs>
                    <a:gs pos="100000">
                      <a:schemeClr val="accent5"/>
                    </a:gs>
                  </a:gsLst>
                  <a:lin ang="0" scaled="0"/>
                </a:gradFill>
              </a:defRPr>
            </a:lvl1pPr>
            <a:lvl2pPr marL="228600" indent="0">
              <a:lnSpc>
                <a:spcPct val="100000"/>
              </a:lnSpc>
              <a:buNone/>
              <a:defRPr sz="4800" b="1">
                <a:gradFill>
                  <a:gsLst>
                    <a:gs pos="0">
                      <a:schemeClr val="accent2"/>
                    </a:gs>
                    <a:gs pos="100000">
                      <a:schemeClr val="accent5"/>
                    </a:gs>
                  </a:gsLst>
                  <a:lin ang="0" scaled="0"/>
                </a:gradFill>
              </a:defRPr>
            </a:lvl2pPr>
            <a:lvl3pPr marL="457200" indent="0">
              <a:lnSpc>
                <a:spcPct val="100000"/>
              </a:lnSpc>
              <a:buNone/>
              <a:defRPr sz="4400" b="1">
                <a:gradFill>
                  <a:gsLst>
                    <a:gs pos="0">
                      <a:schemeClr val="accent2"/>
                    </a:gs>
                    <a:gs pos="100000">
                      <a:schemeClr val="accent5"/>
                    </a:gs>
                  </a:gsLst>
                  <a:lin ang="0" scaled="0"/>
                </a:gradFill>
              </a:defRPr>
            </a:lvl3pPr>
            <a:lvl4pPr marL="685800" indent="0">
              <a:lnSpc>
                <a:spcPct val="100000"/>
              </a:lnSpc>
              <a:buNone/>
              <a:defRPr sz="4000" b="1">
                <a:gradFill>
                  <a:gsLst>
                    <a:gs pos="0">
                      <a:schemeClr val="accent2"/>
                    </a:gs>
                    <a:gs pos="100000">
                      <a:schemeClr val="accent5"/>
                    </a:gs>
                  </a:gsLst>
                  <a:lin ang="0" scaled="0"/>
                </a:gradFill>
              </a:defRPr>
            </a:lvl4pPr>
            <a:lvl5pPr marL="914400" indent="0">
              <a:lnSpc>
                <a:spcPct val="100000"/>
              </a:lnSpc>
              <a:buNone/>
              <a:defRPr sz="3600" b="1">
                <a:gradFill>
                  <a:gsLst>
                    <a:gs pos="0">
                      <a:schemeClr val="accent2"/>
                    </a:gs>
                    <a:gs pos="100000">
                      <a:schemeClr val="accent5"/>
                    </a:gs>
                  </a:gsLst>
                  <a:lin ang="0" scaled="0"/>
                </a:gra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AEEF7F6-ECFE-4473-B3E9-C91BE833927A}" type="datetimeFigureOut">
              <a:rPr lang="en-US" smtClean="0"/>
              <a:t>6/17/2026</a:t>
            </a:fld>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71020605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2">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1C0A04-3BC7-B88E-3974-2A73D0A107E7}"/>
              </a:ext>
            </a:extLst>
          </p:cNvPr>
          <p:cNvSpPr/>
          <p:nvPr/>
        </p:nvSpPr>
        <p:spPr>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B07991EE-474F-899B-8FEF-F82B3E5BDF10}"/>
              </a:ext>
            </a:extLst>
          </p:cNvPr>
          <p:cNvGrpSpPr/>
          <p:nvPr/>
        </p:nvGrpSpPr>
        <p:grpSpPr>
          <a:xfrm>
            <a:off x="-7285" y="-6922"/>
            <a:ext cx="12199285" cy="6869101"/>
            <a:chOff x="-22275" y="-6922"/>
            <a:chExt cx="12214275" cy="6869101"/>
          </a:xfrm>
        </p:grpSpPr>
        <p:sp>
          <p:nvSpPr>
            <p:cNvPr id="8" name="Rectangle 7">
              <a:extLst>
                <a:ext uri="{FF2B5EF4-FFF2-40B4-BE49-F238E27FC236}">
                  <a16:creationId xmlns:a16="http://schemas.microsoft.com/office/drawing/2014/main" id="{19D5B255-8277-F118-03CD-8BAE19E8D68B}"/>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9" name="Rectangle 8">
              <a:extLst>
                <a:ext uri="{FF2B5EF4-FFF2-40B4-BE49-F238E27FC236}">
                  <a16:creationId xmlns:a16="http://schemas.microsoft.com/office/drawing/2014/main" id="{2E8FF695-246F-077D-F2C8-36B38501750D}"/>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1DB72F2E-896E-2C27-7B7B-07C3BA02B78E}"/>
                </a:ext>
              </a:extLst>
            </p:cNvPr>
            <p:cNvSpPr/>
            <p:nvPr/>
          </p:nvSpPr>
          <p:spPr>
            <a:xfrm flipH="1">
              <a:off x="-14981" y="-6922"/>
              <a:ext cx="3836566"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9522BC71-28C2-81D8-FB44-31BC493BBF5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grpSp>
        <p:nvGrpSpPr>
          <p:cNvPr id="16" name="Group 15">
            <a:extLst>
              <a:ext uri="{FF2B5EF4-FFF2-40B4-BE49-F238E27FC236}">
                <a16:creationId xmlns:a16="http://schemas.microsoft.com/office/drawing/2014/main" id="{83681088-8C72-D3AA-E951-F32AA4318F60}"/>
              </a:ext>
              <a:ext uri="{C183D7F6-B498-43B3-948B-1728B52AA6E4}">
                <adec:decorative xmlns:adec="http://schemas.microsoft.com/office/drawing/2017/decorative" val="1"/>
              </a:ext>
            </a:extLst>
          </p:cNvPr>
          <p:cNvGrpSpPr/>
          <p:nvPr/>
        </p:nvGrpSpPr>
        <p:grpSpPr>
          <a:xfrm rot="10800000">
            <a:off x="-8784" y="6739061"/>
            <a:ext cx="12207240" cy="137160"/>
            <a:chOff x="-5025" y="6737718"/>
            <a:chExt cx="12207200" cy="123363"/>
          </a:xfrm>
          <a:solidFill>
            <a:schemeClr val="tx1"/>
          </a:solidFill>
        </p:grpSpPr>
        <p:sp>
          <p:nvSpPr>
            <p:cNvPr id="17" name="Rectangle 16">
              <a:extLst>
                <a:ext uri="{FF2B5EF4-FFF2-40B4-BE49-F238E27FC236}">
                  <a16:creationId xmlns:a16="http://schemas.microsoft.com/office/drawing/2014/main" id="{923FCCF6-A9CE-8C06-A018-3526E4B210A6}"/>
                </a:ext>
              </a:extLst>
            </p:cNvPr>
            <p:cNvSpPr/>
            <p:nvPr/>
          </p:nvSpPr>
          <p:spPr>
            <a:xfrm rot="5400000" flipH="1">
              <a:off x="6036894" y="695800"/>
              <a:ext cx="123362" cy="122071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641A033-DCF1-2B2E-7479-E074B140FA8C}"/>
                </a:ext>
              </a:extLst>
            </p:cNvPr>
            <p:cNvSpPr/>
            <p:nvPr/>
          </p:nvSpPr>
          <p:spPr>
            <a:xfrm rot="16200000">
              <a:off x="9176406" y="3835311"/>
              <a:ext cx="123362" cy="5928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83F83B6E-95ED-1D70-2F6E-8299525C04B0}"/>
              </a:ext>
              <a:ext uri="{C183D7F6-B498-43B3-948B-1728B52AA6E4}">
                <adec:decorative xmlns:adec="http://schemas.microsoft.com/office/drawing/2017/decorative" val="1"/>
              </a:ext>
            </a:extLst>
          </p:cNvPr>
          <p:cNvGrpSpPr/>
          <p:nvPr/>
        </p:nvGrpSpPr>
        <p:grpSpPr>
          <a:xfrm>
            <a:off x="12068636" y="0"/>
            <a:ext cx="137160" cy="6858000"/>
            <a:chOff x="12068638" y="0"/>
            <a:chExt cx="123362" cy="6858000"/>
          </a:xfrm>
          <a:solidFill>
            <a:schemeClr val="tx1"/>
          </a:solidFill>
        </p:grpSpPr>
        <p:sp>
          <p:nvSpPr>
            <p:cNvPr id="20" name="Rectangle 19">
              <a:extLst>
                <a:ext uri="{FF2B5EF4-FFF2-40B4-BE49-F238E27FC236}">
                  <a16:creationId xmlns:a16="http://schemas.microsoft.com/office/drawing/2014/main" id="{A1F59BE4-AC2E-2AB9-FE80-40CAF77CA798}"/>
                </a:ext>
              </a:extLst>
            </p:cNvPr>
            <p:cNvSpPr/>
            <p:nvPr/>
          </p:nvSpPr>
          <p:spPr>
            <a:xfrm>
              <a:off x="12068638" y="0"/>
              <a:ext cx="12336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01C2DAC-E593-02EE-C7E4-01B9BAA443C6}"/>
                </a:ext>
              </a:extLst>
            </p:cNvPr>
            <p:cNvSpPr/>
            <p:nvPr/>
          </p:nvSpPr>
          <p:spPr>
            <a:xfrm>
              <a:off x="12068638" y="3527553"/>
              <a:ext cx="123362" cy="333044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7680960" cy="5605272"/>
          </a:xfrm>
        </p:spPr>
        <p:txBody>
          <a:bodyPr anchor="t">
            <a:normAutofit/>
          </a:bodyPr>
          <a:lstStyle>
            <a:lvl1pPr marL="0" indent="0">
              <a:lnSpc>
                <a:spcPct val="100000"/>
              </a:lnSpc>
              <a:buNone/>
              <a:defRPr sz="5600" b="1">
                <a:solidFill>
                  <a:schemeClr val="tx1"/>
                </a:solidFill>
              </a:defRPr>
            </a:lvl1pPr>
            <a:lvl2pPr marL="228600" indent="0">
              <a:lnSpc>
                <a:spcPct val="100000"/>
              </a:lnSpc>
              <a:buNone/>
              <a:defRPr sz="5600" b="1">
                <a:solidFill>
                  <a:schemeClr val="tx1"/>
                </a:solidFill>
              </a:defRPr>
            </a:lvl2pPr>
            <a:lvl3pPr marL="457200" indent="0">
              <a:lnSpc>
                <a:spcPct val="100000"/>
              </a:lnSpc>
              <a:buNone/>
              <a:defRPr sz="5600" b="1">
                <a:solidFill>
                  <a:schemeClr val="tx1"/>
                </a:solidFill>
              </a:defRPr>
            </a:lvl3pPr>
            <a:lvl4pPr marL="685800" indent="0">
              <a:lnSpc>
                <a:spcPct val="100000"/>
              </a:lnSpc>
              <a:buNone/>
              <a:defRPr sz="5600" b="1">
                <a:solidFill>
                  <a:schemeClr val="tx1"/>
                </a:solidFill>
              </a:defRPr>
            </a:lvl4pPr>
            <a:lvl5pPr marL="914400" indent="0">
              <a:lnSpc>
                <a:spcPct val="100000"/>
              </a:lnSpc>
              <a:buNone/>
              <a:defRPr sz="5600" b="1">
                <a:solidFill>
                  <a:schemeClr val="tx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lvl1pPr>
              <a:defRPr>
                <a:solidFill>
                  <a:schemeClr val="tx1"/>
                </a:solidFill>
              </a:defRPr>
            </a:lvl1pPr>
          </a:lstStyle>
          <a:p>
            <a:fld id="{3AEEF7F6-ECFE-4473-B3E9-C91BE833927A}" type="datetimeFigureOut">
              <a:rPr lang="en-US" smtClean="0"/>
              <a:t>6/17/2026</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144554243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23AF82-B640-17D0-AC4B-55F4EDF5C4D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2DA5C8EA-7A6C-8AC0-78D1-F538329B41B8}"/>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F2FAD3C-DB75-D855-489D-B09F992EA0E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FB287CE5-00A5-FA1D-EB2D-E5CFD27420D3}"/>
              </a:ext>
              <a:ext uri="{C183D7F6-B498-43B3-948B-1728B52AA6E4}">
                <adec:decorative xmlns:adec="http://schemas.microsoft.com/office/drawing/2017/decorative" val="1"/>
              </a:ext>
            </a:extLst>
          </p:cNvPr>
          <p:cNvGrpSpPr/>
          <p:nvPr/>
        </p:nvGrpSpPr>
        <p:grpSpPr>
          <a:xfrm rot="10800000">
            <a:off x="12357" y="6746828"/>
            <a:ext cx="12188952" cy="123363"/>
            <a:chOff x="-5025" y="6737718"/>
            <a:chExt cx="12207200" cy="123363"/>
          </a:xfrm>
        </p:grpSpPr>
        <p:sp>
          <p:nvSpPr>
            <p:cNvPr id="23" name="Rectangle 22">
              <a:extLst>
                <a:ext uri="{FF2B5EF4-FFF2-40B4-BE49-F238E27FC236}">
                  <a16:creationId xmlns:a16="http://schemas.microsoft.com/office/drawing/2014/main" id="{12C43EBD-E088-A3CD-FCDE-E6ED8F87D14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D88F00F-9D01-378E-377E-26B543D2FA77}"/>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82175" y="751366"/>
            <a:ext cx="8353433" cy="5402545"/>
          </a:xfrm>
        </p:spPr>
        <p:txBody>
          <a:bodyPr anchor="ctr">
            <a:normAutofit/>
          </a:bodyPr>
          <a:lstStyle>
            <a:lvl1pPr marL="0" indent="0">
              <a:lnSpc>
                <a:spcPct val="100000"/>
              </a:lnSpc>
              <a:buNone/>
              <a:defRPr sz="4800" b="1">
                <a:gradFill>
                  <a:gsLst>
                    <a:gs pos="0">
                      <a:schemeClr val="accent5"/>
                    </a:gs>
                    <a:gs pos="90000">
                      <a:schemeClr val="accent2"/>
                    </a:gs>
                  </a:gsLst>
                  <a:lin ang="9600000" scaled="0"/>
                </a:gradFill>
              </a:defRPr>
            </a:lvl1pPr>
            <a:lvl2pPr marL="228600" indent="0">
              <a:lnSpc>
                <a:spcPct val="100000"/>
              </a:lnSpc>
              <a:buNone/>
              <a:defRPr sz="4800" b="1">
                <a:gradFill>
                  <a:gsLst>
                    <a:gs pos="0">
                      <a:schemeClr val="accent5"/>
                    </a:gs>
                    <a:gs pos="90000">
                      <a:schemeClr val="accent2"/>
                    </a:gs>
                  </a:gsLst>
                  <a:lin ang="9600000" scaled="0"/>
                </a:gradFill>
              </a:defRPr>
            </a:lvl2pPr>
            <a:lvl3pPr marL="457200" indent="0">
              <a:lnSpc>
                <a:spcPct val="100000"/>
              </a:lnSpc>
              <a:buNone/>
              <a:defRPr sz="4800" b="1">
                <a:gradFill>
                  <a:gsLst>
                    <a:gs pos="0">
                      <a:schemeClr val="accent5"/>
                    </a:gs>
                    <a:gs pos="90000">
                      <a:schemeClr val="accent2"/>
                    </a:gs>
                  </a:gsLst>
                  <a:lin ang="9600000" scaled="0"/>
                </a:gradFill>
              </a:defRPr>
            </a:lvl3pPr>
            <a:lvl4pPr marL="685800" indent="0">
              <a:lnSpc>
                <a:spcPct val="100000"/>
              </a:lnSpc>
              <a:buNone/>
              <a:defRPr sz="4800" b="1">
                <a:gradFill>
                  <a:gsLst>
                    <a:gs pos="0">
                      <a:schemeClr val="accent5"/>
                    </a:gs>
                    <a:gs pos="90000">
                      <a:schemeClr val="accent2"/>
                    </a:gs>
                  </a:gsLst>
                  <a:lin ang="9600000" scaled="0"/>
                </a:gradFill>
              </a:defRPr>
            </a:lvl4pPr>
            <a:lvl5pPr marL="914400" indent="0">
              <a:lnSpc>
                <a:spcPct val="100000"/>
              </a:lnSpc>
              <a:buNone/>
              <a:defRPr sz="4800" b="1">
                <a:gradFill>
                  <a:gsLst>
                    <a:gs pos="0">
                      <a:schemeClr val="accent5"/>
                    </a:gs>
                    <a:gs pos="90000">
                      <a:schemeClr val="accent2"/>
                    </a:gs>
                  </a:gsLst>
                  <a:lin ang="9600000" scaled="0"/>
                </a:gra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p>
            <a:fld id="{3AEEF7F6-ECFE-4473-B3E9-C91BE833927A}" type="datetimeFigureOut">
              <a:rPr lang="en-US" smtClean="0"/>
              <a:t>6/17/2026</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85665249"/>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645920" y="5203004"/>
            <a:ext cx="9052560" cy="557784"/>
          </a:xfrm>
        </p:spPr>
        <p:txBody>
          <a:bodyPr anchor="ctr">
            <a:normAutofit/>
          </a:bodyPr>
          <a:lstStyle>
            <a:lvl1pPr>
              <a:lnSpc>
                <a:spcPct val="120000"/>
              </a:lnSpc>
              <a:defRPr sz="2400" b="1">
                <a:gradFill>
                  <a:gsLst>
                    <a:gs pos="0">
                      <a:schemeClr val="accent5"/>
                    </a:gs>
                    <a:gs pos="90000">
                      <a:schemeClr val="accent2"/>
                    </a:gs>
                  </a:gsLst>
                  <a:lin ang="9600000" scaled="0"/>
                </a:gra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499616" y="1795462"/>
            <a:ext cx="9198864" cy="2871216"/>
          </a:xfrm>
        </p:spPr>
        <p:txBody>
          <a:bodyPr anchor="ctr">
            <a:normAutofit/>
          </a:bodyPr>
          <a:lstStyle>
            <a:lvl1pPr marL="137160" indent="-137160">
              <a:lnSpc>
                <a:spcPct val="100000"/>
              </a:lnSpc>
              <a:buNone/>
              <a:defRPr sz="4400"/>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6/17/2026</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2759135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93FB6C-5982-EAFA-94FA-F06EABA0EC3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48F732B-25DE-1819-DB0A-266B26703011}"/>
              </a:ext>
            </a:extLst>
          </p:cNvPr>
          <p:cNvGrpSpPr/>
          <p:nvPr/>
        </p:nvGrpSpPr>
        <p:grpSpPr>
          <a:xfrm>
            <a:off x="807326" y="778051"/>
            <a:ext cx="10577346" cy="5314435"/>
            <a:chOff x="807326" y="778051"/>
            <a:chExt cx="10577346" cy="5314435"/>
          </a:xfrm>
        </p:grpSpPr>
        <p:sp>
          <p:nvSpPr>
            <p:cNvPr id="9" name="Rectangle 8">
              <a:extLst>
                <a:ext uri="{FF2B5EF4-FFF2-40B4-BE49-F238E27FC236}">
                  <a16:creationId xmlns:a16="http://schemas.microsoft.com/office/drawing/2014/main" id="{70BBD41E-DAB9-A564-3A2B-295B7AE87C42}"/>
                </a:ext>
              </a:extLst>
            </p:cNvPr>
            <p:cNvSpPr/>
            <p:nvPr/>
          </p:nvSpPr>
          <p:spPr>
            <a:xfrm rot="5400000" flipH="1">
              <a:off x="3438786" y="-1853401"/>
              <a:ext cx="5314432" cy="10577340"/>
            </a:xfrm>
            <a:prstGeom prst="rect">
              <a:avLst/>
            </a:prstGeom>
            <a:gradFill>
              <a:gsLst>
                <a:gs pos="0">
                  <a:schemeClr val="accent2">
                    <a:alpha val="78000"/>
                  </a:schemeClr>
                </a:gs>
                <a:gs pos="93000">
                  <a:schemeClr val="accent5">
                    <a:alpha val="8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54A4391-9FDD-C033-0A4D-647A73420405}"/>
                </a:ext>
              </a:extLst>
            </p:cNvPr>
            <p:cNvSpPr/>
            <p:nvPr/>
          </p:nvSpPr>
          <p:spPr>
            <a:xfrm rot="16200000" flipH="1">
              <a:off x="3445177" y="-1846407"/>
              <a:ext cx="5314435" cy="10563352"/>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290101F-E74A-5C0F-8CC5-E0B5E3DC0E24}"/>
                </a:ext>
              </a:extLst>
            </p:cNvPr>
            <p:cNvSpPr/>
            <p:nvPr/>
          </p:nvSpPr>
          <p:spPr>
            <a:xfrm rot="10800000">
              <a:off x="807326" y="778051"/>
              <a:ext cx="3333441" cy="530836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38E2756-2591-1046-1B67-C9DEEDDCB82E}"/>
                </a:ext>
                <a:ext uri="{C183D7F6-B498-43B3-948B-1728B52AA6E4}">
                  <adec:decorative xmlns:adec="http://schemas.microsoft.com/office/drawing/2017/decorative" val="1"/>
                </a:ext>
              </a:extLst>
            </p:cNvPr>
            <p:cNvSpPr/>
            <p:nvPr/>
          </p:nvSpPr>
          <p:spPr>
            <a:xfrm rot="5400000" flipH="1">
              <a:off x="4205050" y="-1083744"/>
              <a:ext cx="4078718" cy="10273742"/>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tx1"/>
                </a:soli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655064" y="1965960"/>
            <a:ext cx="8695944" cy="2331720"/>
          </a:xfrm>
        </p:spPr>
        <p:txBody>
          <a:bodyPr anchor="ctr">
            <a:normAutofit/>
          </a:bodyPr>
          <a:lstStyle>
            <a:lvl1pPr marL="137160" indent="-137160">
              <a:lnSpc>
                <a:spcPct val="100000"/>
              </a:lnSpc>
              <a:buNone/>
              <a:defRPr sz="3800">
                <a:solidFill>
                  <a:schemeClr val="tx1"/>
                </a:solidFill>
                <a:latin typeface="+mn-lt"/>
              </a:defRPr>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lvl1pPr>
              <a:defRPr>
                <a:solidFill>
                  <a:schemeClr val="bg1"/>
                </a:solidFill>
              </a:defRPr>
            </a:lvl1pPr>
          </a:lstStyle>
          <a:p>
            <a:fld id="{3AEEF7F6-ECFE-4473-B3E9-C91BE833927A}" type="datetimeFigureOut">
              <a:rPr lang="en-US" smtClean="0"/>
              <a:t>6/17/2026</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lvl1pPr>
              <a:defRPr>
                <a:solidFill>
                  <a:schemeClr val="bg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223776316"/>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3D49479-B594-DDBA-C16A-3A98635C8A4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4" name="Rectangle 13">
              <a:extLst>
                <a:ext uri="{FF2B5EF4-FFF2-40B4-BE49-F238E27FC236}">
                  <a16:creationId xmlns:a16="http://schemas.microsoft.com/office/drawing/2014/main" id="{0E065CA7-C91C-8C4F-CD30-E6DB950A620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DCDB482-1274-EA4E-11EA-FDB308F1540E}"/>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FAEF3D1-EB50-234E-F0C0-5C4E6FB69937}"/>
              </a:ext>
              <a:ext uri="{C183D7F6-B498-43B3-948B-1728B52AA6E4}">
                <adec:decorative xmlns:adec="http://schemas.microsoft.com/office/drawing/2017/decorative" val="1"/>
              </a:ext>
            </a:extLst>
          </p:cNvPr>
          <p:cNvGrpSpPr/>
          <p:nvPr/>
        </p:nvGrpSpPr>
        <p:grpSpPr>
          <a:xfrm rot="10800000">
            <a:off x="-1091" y="0"/>
            <a:ext cx="12188952" cy="123363"/>
            <a:chOff x="-5025" y="6737718"/>
            <a:chExt cx="12207200" cy="123363"/>
          </a:xfrm>
        </p:grpSpPr>
        <p:sp>
          <p:nvSpPr>
            <p:cNvPr id="17" name="Rectangle 16">
              <a:extLst>
                <a:ext uri="{FF2B5EF4-FFF2-40B4-BE49-F238E27FC236}">
                  <a16:creationId xmlns:a16="http://schemas.microsoft.com/office/drawing/2014/main" id="{5B35CE4F-16F9-575C-78CA-4F076F0C3D1F}"/>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D59711A-5559-82B6-B156-35D79618FF56}"/>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379836" y="5192776"/>
            <a:ext cx="8494776" cy="621792"/>
          </a:xfrm>
        </p:spPr>
        <p:txBody>
          <a:bodyPr anchor="ctr">
            <a:normAutofit/>
          </a:bodyPr>
          <a:lstStyle>
            <a:lvl1pPr>
              <a:lnSpc>
                <a:spcPct val="120000"/>
              </a:lnSpc>
              <a:defRPr sz="1800" b="1">
                <a:gradFill>
                  <a:gsLst>
                    <a:gs pos="0">
                      <a:schemeClr val="accent2"/>
                    </a:gs>
                    <a:gs pos="90000">
                      <a:schemeClr val="accent5"/>
                    </a:gs>
                  </a:gsLst>
                  <a:lin ang="9600000" scaled="0"/>
                </a:gradFill>
              </a:defRPr>
            </a:lvl1pPr>
          </a:lstStyle>
          <a:p>
            <a:r>
              <a:rPr lang="en-US"/>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233532" y="1792224"/>
            <a:ext cx="8641080" cy="2871216"/>
          </a:xfrm>
        </p:spPr>
        <p:txBody>
          <a:bodyPr anchor="ctr">
            <a:normAutofit/>
          </a:bodyPr>
          <a:lstStyle>
            <a:lvl1pPr marL="137160" indent="-137160">
              <a:lnSpc>
                <a:spcPct val="100000"/>
              </a:lnSpc>
              <a:buNone/>
              <a:defRPr sz="3600">
                <a:gradFill>
                  <a:gsLst>
                    <a:gs pos="0">
                      <a:schemeClr val="accent2"/>
                    </a:gs>
                    <a:gs pos="90000">
                      <a:schemeClr val="accent5"/>
                    </a:gs>
                  </a:gsLst>
                  <a:lin ang="9600000" scaled="0"/>
                </a:gradFill>
              </a:defRPr>
            </a:lvl1pPr>
          </a:lstStyle>
          <a:p>
            <a:pPr lvl="0"/>
            <a:r>
              <a:rPr lang="en-US"/>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6/17/2026</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966853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B646A9-91B4-D2CF-8B72-68E668219C00}"/>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a:lstStyle>
            <a:lvl1pPr>
              <a:defRPr>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D004E38F-46D8-838A-C636-0958E5B36CB4}"/>
              </a:ext>
            </a:extLst>
          </p:cNvPr>
          <p:cNvSpPr>
            <a:spLocks noGrp="1"/>
          </p:cNvSpPr>
          <p:nvPr>
            <p:ph sz="quarter" idx="18"/>
          </p:nvPr>
        </p:nvSpPr>
        <p:spPr>
          <a:xfrm>
            <a:off x="612775" y="2313433"/>
            <a:ext cx="5165725" cy="4000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E8F84C8F-5A53-198D-2CB3-A78F006C4D20}"/>
              </a:ext>
            </a:extLst>
          </p:cNvPr>
          <p:cNvSpPr>
            <a:spLocks noGrp="1"/>
          </p:cNvSpPr>
          <p:nvPr>
            <p:ph sz="quarter" idx="19"/>
          </p:nvPr>
        </p:nvSpPr>
        <p:spPr>
          <a:xfrm>
            <a:off x="6400800" y="2313430"/>
            <a:ext cx="5165725" cy="4000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3AEEF7F6-ECFE-4473-B3E9-C91BE833927A}" type="datetimeFigureOut">
              <a:rPr lang="en-US" smtClean="0"/>
              <a:t>6/17/2026</a:t>
            </a:fld>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447262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704A21-3725-4536-B210-EAED58DE1544}"/>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3750" cy="1197864"/>
          </a:xfrm>
        </p:spPr>
        <p:txBody>
          <a:bodyPr/>
          <a:lstStyle>
            <a:lvl1pPr>
              <a:defRPr>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198999"/>
            <a:ext cx="5166360" cy="484632"/>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Content Placeholder 8">
            <a:extLst>
              <a:ext uri="{FF2B5EF4-FFF2-40B4-BE49-F238E27FC236}">
                <a16:creationId xmlns:a16="http://schemas.microsoft.com/office/drawing/2014/main" id="{1D708347-B003-2458-75EC-D8317FBF028C}"/>
              </a:ext>
            </a:extLst>
          </p:cNvPr>
          <p:cNvSpPr>
            <a:spLocks noGrp="1"/>
          </p:cNvSpPr>
          <p:nvPr>
            <p:ph sz="quarter" idx="18"/>
          </p:nvPr>
        </p:nvSpPr>
        <p:spPr>
          <a:xfrm>
            <a:off x="612775" y="2794000"/>
            <a:ext cx="5165725"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2198999"/>
            <a:ext cx="5166360" cy="484633"/>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6F3E993C-0A55-1F54-C280-76AF30E5377A}"/>
              </a:ext>
            </a:extLst>
          </p:cNvPr>
          <p:cNvSpPr>
            <a:spLocks noGrp="1"/>
          </p:cNvSpPr>
          <p:nvPr>
            <p:ph sz="quarter" idx="19"/>
          </p:nvPr>
        </p:nvSpPr>
        <p:spPr>
          <a:xfrm>
            <a:off x="6400800" y="2794000"/>
            <a:ext cx="5166360"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0669AB3-1083-59C6-B9F8-A35C0D406617}"/>
              </a:ext>
            </a:extLst>
          </p:cNvPr>
          <p:cNvSpPr>
            <a:spLocks noGrp="1"/>
          </p:cNvSpPr>
          <p:nvPr>
            <p:ph type="ftr" sz="quarter" idx="16"/>
          </p:nvPr>
        </p:nvSpPr>
        <p:spPr/>
        <p:txBody>
          <a:bodyPr/>
          <a:lstStyle/>
          <a:p>
            <a:endParaRPr lang="en-US"/>
          </a:p>
        </p:txBody>
      </p:sp>
      <p:sp>
        <p:nvSpPr>
          <p:cNvPr id="4" name="Date Placeholder 3">
            <a:extLst>
              <a:ext uri="{FF2B5EF4-FFF2-40B4-BE49-F238E27FC236}">
                <a16:creationId xmlns:a16="http://schemas.microsoft.com/office/drawing/2014/main" id="{88D0645D-C128-9FF0-2E8B-D2E3E34687DA}"/>
              </a:ext>
            </a:extLst>
          </p:cNvPr>
          <p:cNvSpPr>
            <a:spLocks noGrp="1"/>
          </p:cNvSpPr>
          <p:nvPr>
            <p:ph type="dt" sz="half" idx="15"/>
          </p:nvPr>
        </p:nvSpPr>
        <p:spPr/>
        <p:txBody>
          <a:bodyPr/>
          <a:lstStyle/>
          <a:p>
            <a:fld id="{3AEEF7F6-ECFE-4473-B3E9-C91BE833927A}" type="datetimeFigureOut">
              <a:rPr lang="en-US" smtClean="0"/>
              <a:t>6/17/2026</a:t>
            </a:fld>
            <a:endParaRPr lang="en-US"/>
          </a:p>
        </p:txBody>
      </p:sp>
      <p:sp>
        <p:nvSpPr>
          <p:cNvPr id="10" name="Slide Number Placeholder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8262654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nchor="t"/>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3AEEF7F6-ECFE-4473-B3E9-C91BE833927A}" type="datetimeFigureOut">
              <a:rPr lang="en-US" smtClean="0"/>
              <a:t>6/17/2026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1557169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AEEF7F6-ECFE-4473-B3E9-C91BE833927A}" type="datetimeFigureOut">
              <a:rPr lang="en-US" smtClean="0"/>
              <a:t>6/17/2026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97334459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6BE0305-2234-39DE-EC35-B6881018EC3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2" name="Rectangle 11">
              <a:extLst>
                <a:ext uri="{FF2B5EF4-FFF2-40B4-BE49-F238E27FC236}">
                  <a16:creationId xmlns:a16="http://schemas.microsoft.com/office/drawing/2014/main" id="{BEBF17BE-BA15-771A-79F4-91B4C5C752F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79ADE0D-3A86-F364-6B2A-F373A75E29AE}"/>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02920"/>
            <a:ext cx="3595634" cy="1808201"/>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83299" y="502920"/>
            <a:ext cx="6283861" cy="580326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3AEEF7F6-ECFE-4473-B3E9-C91BE833927A}" type="datetimeFigureOut">
              <a:rPr lang="en-US" smtClean="0"/>
              <a:t>6/17/2026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9673752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D02923E9-478C-95DE-C678-A683A36F538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21" name="Rectangle 20">
              <a:extLst>
                <a:ext uri="{FF2B5EF4-FFF2-40B4-BE49-F238E27FC236}">
                  <a16:creationId xmlns:a16="http://schemas.microsoft.com/office/drawing/2014/main" id="{43DD8A0F-EB40-1201-2A23-685958AC5DF6}"/>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B912E4F-3FBB-39E4-2EA2-BA0D8858A74D}"/>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02920"/>
            <a:ext cx="3713996" cy="224720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p:txBody>
          <a:bodyPr/>
          <a:lstStyle/>
          <a:p>
            <a:endParaRPr lang="en-US"/>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153978" y="342016"/>
            <a:ext cx="6413182" cy="5976487"/>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3AEEF7F6-ECFE-4473-B3E9-C91BE833927A}" type="datetimeFigureOut">
              <a:rPr lang="en-US" smtClean="0"/>
              <a:t>6/17/2026</a:t>
            </a:fld>
            <a:endParaRPr lang="en-US"/>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3555343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0AE463B-60C7-F01E-97F6-1486FB41D22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7" name="Rectangle 6">
              <a:extLst>
                <a:ext uri="{FF2B5EF4-FFF2-40B4-BE49-F238E27FC236}">
                  <a16:creationId xmlns:a16="http://schemas.microsoft.com/office/drawing/2014/main" id="{EF94E48A-D751-8593-5D71-0683866A24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5092F9-8C9B-4865-CB0E-EFD550A28ED3}"/>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rmAutofit/>
          </a:bodyPr>
          <a:lstStyle>
            <a:lvl1pPr>
              <a:defRPr sz="6000">
                <a:gradFill>
                  <a:gsLst>
                    <a:gs pos="0">
                      <a:schemeClr val="accent2"/>
                    </a:gs>
                    <a:gs pos="100000">
                      <a:schemeClr val="accent5"/>
                    </a:gs>
                  </a:gsLst>
                  <a:lin ang="4200000" scaled="0"/>
                </a:gra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3AEEF7F6-ECFE-4473-B3E9-C91BE833927A}" type="datetimeFigureOut">
              <a:rPr lang="en-US" smtClean="0"/>
              <a:t>6/17/2026</a:t>
            </a:fld>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1554716"/>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627318"/>
            <a:ext cx="8430768" cy="1842020"/>
          </a:xfrm>
        </p:spPr>
        <p:txBody>
          <a:bodyPr anchor="b">
            <a:normAutofit/>
          </a:bodyPr>
          <a:lstStyle>
            <a:lvl1pPr>
              <a:defRPr sz="6000">
                <a:gradFill>
                  <a:gsLst>
                    <a:gs pos="0">
                      <a:schemeClr val="accent2"/>
                    </a:gs>
                    <a:gs pos="100000">
                      <a:schemeClr val="accent5"/>
                    </a:gs>
                  </a:gsLst>
                  <a:lin ang="4200000" scaled="0"/>
                </a:gra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EEF7F6-ECFE-4473-B3E9-C91BE833927A}" type="datetimeFigureOut">
              <a:rPr lang="en-US" smtClean="0"/>
              <a:t>6/17/2026</a:t>
            </a:fld>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23313866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02920"/>
            <a:ext cx="10954512" cy="119786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8" y="1801368"/>
            <a:ext cx="10954512" cy="44805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8" y="6318504"/>
            <a:ext cx="4096512" cy="365760"/>
          </a:xfrm>
          <a:prstGeom prst="rect">
            <a:avLst/>
          </a:prstGeom>
        </p:spPr>
        <p:txBody>
          <a:bodyPr vert="horz" lIns="91440" tIns="45720" rIns="91440" bIns="45720" rtlCol="0" anchor="ctr"/>
          <a:lstStyle>
            <a:lvl1pPr algn="l">
              <a:defRPr sz="85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430768" y="6318504"/>
            <a:ext cx="3136392" cy="365760"/>
          </a:xfrm>
          <a:prstGeom prst="rect">
            <a:avLst/>
          </a:prstGeom>
        </p:spPr>
        <p:txBody>
          <a:bodyPr vert="horz" lIns="91440" tIns="45720" rIns="91440" bIns="45720" rtlCol="0" anchor="ctr"/>
          <a:lstStyle>
            <a:lvl1pPr algn="r">
              <a:defRPr sz="850">
                <a:solidFill>
                  <a:schemeClr val="tx1"/>
                </a:solidFill>
              </a:defRPr>
            </a:lvl1pPr>
          </a:lstStyle>
          <a:p>
            <a:fld id="{3AEEF7F6-ECFE-4473-B3E9-C91BE833927A}" type="datetimeFigureOut">
              <a:rPr lang="en-US" smtClean="0"/>
              <a:t>6/17/2026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84864" y="6318504"/>
            <a:ext cx="493776" cy="365760"/>
          </a:xfrm>
          <a:prstGeom prst="rect">
            <a:avLst/>
          </a:prstGeom>
        </p:spPr>
        <p:txBody>
          <a:bodyPr vert="horz" lIns="91440" tIns="45720" rIns="91440" bIns="45720" rtlCol="0" anchor="ctr"/>
          <a:lstStyle>
            <a:lvl1pPr algn="r">
              <a:defRPr sz="850">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141763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Lst>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9.xml"/><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0.xml"/><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4.xml"/><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8.xml"/><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0.xml"/><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1.xml"/><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3.xml"/><Relationship Id="rId1" Type="http://schemas.openxmlformats.org/officeDocument/2006/relationships/slideLayout" Target="../slideLayouts/slideLayout28.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5.xml"/><Relationship Id="rId1" Type="http://schemas.openxmlformats.org/officeDocument/2006/relationships/slideLayout" Target="../slideLayouts/slideLayout32.xml"/></Relationships>
</file>

<file path=ppt/slides/_rels/slide3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6.xml"/><Relationship Id="rId1" Type="http://schemas.openxmlformats.org/officeDocument/2006/relationships/slideLayout" Target="../slideLayouts/slideLayout2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8.xml"/><Relationship Id="rId1" Type="http://schemas.openxmlformats.org/officeDocument/2006/relationships/slideLayout" Target="../slideLayouts/slideLayout28.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9.xml"/><Relationship Id="rId1" Type="http://schemas.openxmlformats.org/officeDocument/2006/relationships/slideLayout" Target="../slideLayouts/slideLayout32.xml"/></Relationships>
</file>

<file path=ppt/slides/_rels/slide4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0.xml"/><Relationship Id="rId1" Type="http://schemas.openxmlformats.org/officeDocument/2006/relationships/slideLayout" Target="../slideLayouts/slideLayout28.xml"/></Relationships>
</file>

<file path=ppt/slides/_rels/slide4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1.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9F726-06B5-8C73-9ADD-92C3480B15DF}"/>
              </a:ext>
            </a:extLst>
          </p:cNvPr>
          <p:cNvSpPr>
            <a:spLocks noGrp="1"/>
          </p:cNvSpPr>
          <p:nvPr>
            <p:ph type="ctrTitle"/>
          </p:nvPr>
        </p:nvSpPr>
        <p:spPr>
          <a:xfrm>
            <a:off x="8247888" y="713232"/>
            <a:ext cx="3364992" cy="3227832"/>
          </a:xfrm>
        </p:spPr>
        <p:txBody>
          <a:bodyPr anchor="t">
            <a:normAutofit/>
          </a:bodyPr>
          <a:lstStyle/>
          <a:p>
            <a:r>
              <a:rPr lang="en-US" sz="3700"/>
              <a:t>IT Infrastructure and Support Solution for Ubuntu Innovations</a:t>
            </a:r>
          </a:p>
        </p:txBody>
      </p:sp>
      <p:sp>
        <p:nvSpPr>
          <p:cNvPr id="3" name="Subtitle 2">
            <a:extLst>
              <a:ext uri="{FF2B5EF4-FFF2-40B4-BE49-F238E27FC236}">
                <a16:creationId xmlns:a16="http://schemas.microsoft.com/office/drawing/2014/main" id="{519A02FF-9874-C6C2-8082-F745644F6D6C}"/>
              </a:ext>
            </a:extLst>
          </p:cNvPr>
          <p:cNvSpPr>
            <a:spLocks noGrp="1"/>
          </p:cNvSpPr>
          <p:nvPr>
            <p:ph type="subTitle" idx="1"/>
          </p:nvPr>
        </p:nvSpPr>
        <p:spPr>
          <a:xfrm>
            <a:off x="8247888" y="5138927"/>
            <a:ext cx="3200400" cy="1197864"/>
          </a:xfrm>
        </p:spPr>
        <p:txBody>
          <a:bodyPr>
            <a:normAutofit/>
          </a:bodyPr>
          <a:lstStyle/>
          <a:p>
            <a:r>
              <a:rPr lang="en-US"/>
              <a:t>Enhancing technology with reliable infrastructure and support</a:t>
            </a:r>
          </a:p>
        </p:txBody>
      </p:sp>
      <p:pic>
        <p:nvPicPr>
          <p:cNvPr id="4" name="Picture 3">
            <a:extLst>
              <a:ext uri="{FF2B5EF4-FFF2-40B4-BE49-F238E27FC236}">
                <a16:creationId xmlns:a16="http://schemas.microsoft.com/office/drawing/2014/main" id="{A0BF8122-FE0F-48A8-8EB8-44D386BD198C}"/>
              </a:ext>
            </a:extLst>
          </p:cNvPr>
          <p:cNvPicPr>
            <a:picLocks noChangeAspect="1"/>
          </p:cNvPicPr>
          <p:nvPr/>
        </p:nvPicPr>
        <p:blipFill>
          <a:blip r:embed="rId3"/>
          <a:srcRect l="20166" r="17921"/>
          <a:stretch>
            <a:fillRect/>
          </a:stretch>
        </p:blipFill>
        <p:spPr>
          <a:xfrm>
            <a:off x="20" y="10"/>
            <a:ext cx="7548431" cy="6857990"/>
          </a:xfrm>
          <a:prstGeom prst="rect">
            <a:avLst/>
          </a:prstGeom>
        </p:spPr>
      </p:pic>
    </p:spTree>
    <p:extLst>
      <p:ext uri="{BB962C8B-B14F-4D97-AF65-F5344CB8AC3E}">
        <p14:creationId xmlns:p14="http://schemas.microsoft.com/office/powerpoint/2010/main" val="3984568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3CB91-0701-D9A2-55BA-B53BBEF33D45}"/>
              </a:ext>
            </a:extLst>
          </p:cNvPr>
          <p:cNvSpPr>
            <a:spLocks noGrp="1"/>
          </p:cNvSpPr>
          <p:nvPr>
            <p:ph type="title"/>
          </p:nvPr>
        </p:nvSpPr>
        <p:spPr>
          <a:xfrm>
            <a:off x="612648" y="2093976"/>
            <a:ext cx="8229600" cy="4178808"/>
          </a:xfrm>
        </p:spPr>
        <p:txBody>
          <a:bodyPr anchor="b">
            <a:normAutofit/>
          </a:bodyPr>
          <a:lstStyle/>
          <a:p>
            <a:r>
              <a:rPr lang="en-US"/>
              <a:t>Project Context and Overview</a:t>
            </a:r>
          </a:p>
        </p:txBody>
      </p:sp>
    </p:spTree>
    <p:extLst>
      <p:ext uri="{BB962C8B-B14F-4D97-AF65-F5344CB8AC3E}">
        <p14:creationId xmlns:p14="http://schemas.microsoft.com/office/powerpoint/2010/main" val="10469771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E62F4-ED59-BBD3-53E0-A739F8F50356}"/>
              </a:ext>
            </a:extLst>
          </p:cNvPr>
          <p:cNvSpPr>
            <a:spLocks noGrp="1"/>
          </p:cNvSpPr>
          <p:nvPr>
            <p:ph type="title"/>
          </p:nvPr>
        </p:nvSpPr>
        <p:spPr>
          <a:xfrm>
            <a:off x="612648" y="502920"/>
            <a:ext cx="4669536" cy="1453896"/>
          </a:xfrm>
        </p:spPr>
        <p:txBody>
          <a:bodyPr anchor="t">
            <a:normAutofit/>
          </a:bodyPr>
          <a:lstStyle/>
          <a:p>
            <a:r>
              <a:rPr lang="en-US"/>
              <a:t>IT Infrastructure and Support Solution Overview</a:t>
            </a:r>
          </a:p>
        </p:txBody>
      </p:sp>
      <p:pic>
        <p:nvPicPr>
          <p:cNvPr id="5" name="Content Placeholder 4" descr="Protection network security computer and safe your data concept. Server Room.">
            <a:extLst>
              <a:ext uri="{FF2B5EF4-FFF2-40B4-BE49-F238E27FC236}">
                <a16:creationId xmlns:a16="http://schemas.microsoft.com/office/drawing/2014/main" id="{361C1A48-357D-4061-8AC5-186B1E10AE24}"/>
              </a:ext>
            </a:extLst>
          </p:cNvPr>
          <p:cNvPicPr>
            <a:picLocks noGrp="1" noChangeAspect="1"/>
          </p:cNvPicPr>
          <p:nvPr>
            <p:ph type="pic" sz="quarter" idx="15"/>
          </p:nvPr>
        </p:nvPicPr>
        <p:blipFill>
          <a:blip r:embed="rId3"/>
          <a:srcRect l="3233" r="9747" b="-2"/>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2F14CCC1-7ED0-0239-D7CF-C385B180FBD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Comprehensive IT Solution</a:t>
            </a:r>
          </a:p>
          <a:p>
            <a:pPr marL="0" lvl="1" indent="0">
              <a:buFont typeface="Arial" panose="020B0604020202020204" pitchFamily="34" charset="0"/>
              <a:buNone/>
            </a:pPr>
            <a:r>
              <a:rPr lang="en-US"/>
              <a:t>The solution covers hardware, software, network, security, backup, and support tailored to Ubuntu Innovations' needs.</a:t>
            </a:r>
          </a:p>
          <a:p>
            <a:pPr marL="0" indent="0">
              <a:spcBef>
                <a:spcPts val="2500"/>
              </a:spcBef>
              <a:buFont typeface="Arial" panose="020B0604020202020204" pitchFamily="34" charset="0"/>
              <a:buNone/>
            </a:pPr>
            <a:r>
              <a:rPr lang="en-US" b="1"/>
              <a:t>Security and Compliance</a:t>
            </a:r>
          </a:p>
          <a:p>
            <a:pPr marL="0" lvl="1" indent="0">
              <a:buFont typeface="Arial" panose="020B0604020202020204" pitchFamily="34" charset="0"/>
              <a:buNone/>
            </a:pPr>
            <a:r>
              <a:rPr lang="en-US"/>
              <a:t>Emphasis on protecting sensitive data with role-based access and compliance with POPIA, ISO/IEC 27001, and NIST frameworks.</a:t>
            </a:r>
          </a:p>
          <a:p>
            <a:pPr marL="0" indent="0">
              <a:spcBef>
                <a:spcPts val="2500"/>
              </a:spcBef>
              <a:buFont typeface="Arial" panose="020B0604020202020204" pitchFamily="34" charset="0"/>
              <a:buNone/>
            </a:pPr>
            <a:r>
              <a:rPr lang="en-US" b="1"/>
              <a:t>Scalability and Performance</a:t>
            </a:r>
          </a:p>
          <a:p>
            <a:pPr marL="0" lvl="1" indent="0">
              <a:buFont typeface="Arial" panose="020B0604020202020204" pitchFamily="34" charset="0"/>
              <a:buNone/>
            </a:pPr>
            <a:r>
              <a:rPr lang="en-US"/>
              <a:t>Designed to support future growth with scalable infrastructure and high-performance support for developers and mobile executives.</a:t>
            </a:r>
          </a:p>
          <a:p>
            <a:pPr marL="0" indent="0">
              <a:spcBef>
                <a:spcPts val="2500"/>
              </a:spcBef>
              <a:buFont typeface="Arial" panose="020B0604020202020204" pitchFamily="34" charset="0"/>
              <a:buNone/>
            </a:pPr>
            <a:r>
              <a:rPr lang="en-US" b="1"/>
              <a:t>Business Continuity</a:t>
            </a:r>
          </a:p>
          <a:p>
            <a:pPr marL="0" lvl="1" indent="0">
              <a:buFont typeface="Arial" panose="020B0604020202020204" pitchFamily="34" charset="0"/>
              <a:buNone/>
            </a:pPr>
            <a:r>
              <a:rPr lang="en-US"/>
              <a:t>Automated backups and disaster recovery ensure uninterrupted operations and risk reduction in a digital environment.</a:t>
            </a:r>
          </a:p>
        </p:txBody>
      </p:sp>
    </p:spTree>
    <p:extLst>
      <p:ext uri="{BB962C8B-B14F-4D97-AF65-F5344CB8AC3E}">
        <p14:creationId xmlns:p14="http://schemas.microsoft.com/office/powerpoint/2010/main" val="38735535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C2950-190E-D749-2B0E-6D626169495E}"/>
              </a:ext>
            </a:extLst>
          </p:cNvPr>
          <p:cNvSpPr>
            <a:spLocks noGrp="1"/>
          </p:cNvSpPr>
          <p:nvPr>
            <p:ph type="title"/>
          </p:nvPr>
        </p:nvSpPr>
        <p:spPr>
          <a:xfrm>
            <a:off x="612648" y="502920"/>
            <a:ext cx="4669536" cy="1453896"/>
          </a:xfrm>
        </p:spPr>
        <p:txBody>
          <a:bodyPr anchor="t">
            <a:normAutofit/>
          </a:bodyPr>
          <a:lstStyle/>
          <a:p>
            <a:r>
              <a:rPr lang="en-US"/>
              <a:t>Project Introduction: IT Infrastructure for Ubuntu Innovations</a:t>
            </a:r>
          </a:p>
        </p:txBody>
      </p:sp>
      <p:pic>
        <p:nvPicPr>
          <p:cNvPr id="5" name="Content Placeholder 4" descr="Smart city and wireless communication network">
            <a:extLst>
              <a:ext uri="{FF2B5EF4-FFF2-40B4-BE49-F238E27FC236}">
                <a16:creationId xmlns:a16="http://schemas.microsoft.com/office/drawing/2014/main" id="{F4728D30-AB1B-4AED-BEE5-59A186789D1D}"/>
              </a:ext>
            </a:extLst>
          </p:cNvPr>
          <p:cNvPicPr>
            <a:picLocks noGrp="1" noChangeAspect="1"/>
          </p:cNvPicPr>
          <p:nvPr>
            <p:ph type="pic" sz="quarter" idx="15"/>
          </p:nvPr>
        </p:nvPicPr>
        <p:blipFill>
          <a:blip r:embed="rId3"/>
          <a:srcRect l="15665" r="6887" b="-2"/>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22FD826C-1997-127B-08F7-260E8E0013F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Purpose and Scope</a:t>
            </a:r>
          </a:p>
          <a:p>
            <a:pPr marL="0" lvl="1" indent="0">
              <a:buFont typeface="Arial" panose="020B0604020202020204" pitchFamily="34" charset="0"/>
              <a:buNone/>
            </a:pPr>
            <a:r>
              <a:rPr lang="en-US"/>
              <a:t>The project aims to create a secure, manageable IT environment supporting all business functions at Ubuntu Innovations.</a:t>
            </a:r>
          </a:p>
          <a:p>
            <a:pPr marL="0" indent="0">
              <a:spcBef>
                <a:spcPts val="2500"/>
              </a:spcBef>
              <a:buFont typeface="Arial" panose="020B0604020202020204" pitchFamily="34" charset="0"/>
              <a:buNone/>
            </a:pPr>
            <a:r>
              <a:rPr lang="en-US" b="1"/>
              <a:t>Structured IT Architecture</a:t>
            </a:r>
          </a:p>
          <a:p>
            <a:pPr marL="0" lvl="1" indent="0">
              <a:buFont typeface="Arial" panose="020B0604020202020204" pitchFamily="34" charset="0"/>
              <a:buNone/>
            </a:pPr>
            <a:r>
              <a:rPr lang="en-US"/>
              <a:t>A planned architecture ensures standards in hardware, software, access controls, and data storage from the start.</a:t>
            </a:r>
          </a:p>
          <a:p>
            <a:pPr marL="0" indent="0">
              <a:spcBef>
                <a:spcPts val="2500"/>
              </a:spcBef>
              <a:buFont typeface="Arial" panose="020B0604020202020204" pitchFamily="34" charset="0"/>
              <a:buNone/>
            </a:pPr>
            <a:r>
              <a:rPr lang="en-US" b="1"/>
              <a:t>Resilience to External Challenges</a:t>
            </a:r>
          </a:p>
          <a:p>
            <a:pPr marL="0" lvl="1" indent="0">
              <a:buFont typeface="Arial" panose="020B0604020202020204" pitchFamily="34" charset="0"/>
              <a:buNone/>
            </a:pPr>
            <a:r>
              <a:rPr lang="en-US"/>
              <a:t>The infrastructure design addresses disruptions by incorporating redundancy, segmentation, and recovery procedures.</a:t>
            </a:r>
          </a:p>
          <a:p>
            <a:pPr marL="0" indent="0">
              <a:spcBef>
                <a:spcPts val="2500"/>
              </a:spcBef>
              <a:buFont typeface="Arial" panose="020B0604020202020204" pitchFamily="34" charset="0"/>
              <a:buNone/>
            </a:pPr>
            <a:r>
              <a:rPr lang="en-US" b="1"/>
              <a:t>Strategic Business Enabler</a:t>
            </a:r>
          </a:p>
          <a:p>
            <a:pPr marL="0" lvl="1" indent="0">
              <a:buFont typeface="Arial" panose="020B0604020202020204" pitchFamily="34" charset="0"/>
              <a:buNone/>
            </a:pPr>
            <a:r>
              <a:rPr lang="en-US"/>
              <a:t>The IT infrastructure supports productivity, compliance, customer trust, and business continuity strategically.</a:t>
            </a:r>
          </a:p>
        </p:txBody>
      </p:sp>
    </p:spTree>
    <p:extLst>
      <p:ext uri="{BB962C8B-B14F-4D97-AF65-F5344CB8AC3E}">
        <p14:creationId xmlns:p14="http://schemas.microsoft.com/office/powerpoint/2010/main" val="32469064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0712B-954C-A3FD-DA9B-ABC9B4EBF99F}"/>
              </a:ext>
            </a:extLst>
          </p:cNvPr>
          <p:cNvSpPr>
            <a:spLocks noGrp="1"/>
          </p:cNvSpPr>
          <p:nvPr>
            <p:ph type="title"/>
          </p:nvPr>
        </p:nvSpPr>
        <p:spPr>
          <a:xfrm>
            <a:off x="612648" y="502920"/>
            <a:ext cx="4669536" cy="1453896"/>
          </a:xfrm>
        </p:spPr>
        <p:txBody>
          <a:bodyPr anchor="t">
            <a:normAutofit/>
          </a:bodyPr>
          <a:lstStyle/>
          <a:p>
            <a:r>
              <a:rPr lang="en-US"/>
              <a:t>Project Scope and Objectives</a:t>
            </a:r>
          </a:p>
        </p:txBody>
      </p:sp>
      <p:pic>
        <p:nvPicPr>
          <p:cNvPr id="5" name="Content Placeholder 4" descr="Server room interior in datacenter">
            <a:extLst>
              <a:ext uri="{FF2B5EF4-FFF2-40B4-BE49-F238E27FC236}">
                <a16:creationId xmlns:a16="http://schemas.microsoft.com/office/drawing/2014/main" id="{B97A4256-FA3F-4F05-B732-0748C864FC57}"/>
              </a:ext>
            </a:extLst>
          </p:cNvPr>
          <p:cNvPicPr>
            <a:picLocks noGrp="1" noChangeAspect="1"/>
          </p:cNvPicPr>
          <p:nvPr>
            <p:ph type="pic" sz="quarter" idx="15"/>
          </p:nvPr>
        </p:nvPicPr>
        <p:blipFill>
          <a:blip r:embed="rId3"/>
          <a:srcRect l="16035" r="18701"/>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017825F2-6CC8-4A2E-271B-D9D406BAEC8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Comprehensive IT Components</a:t>
            </a:r>
          </a:p>
          <a:p>
            <a:pPr marL="0" lvl="1" indent="0">
              <a:buFont typeface="Arial" panose="020B0604020202020204" pitchFamily="34" charset="0"/>
              <a:buNone/>
            </a:pPr>
            <a:r>
              <a:rPr lang="en-US"/>
              <a:t>The project covers hardware, software, networking, security, backup, and IT support for a secure SME environment.</a:t>
            </a:r>
          </a:p>
          <a:p>
            <a:pPr marL="0" indent="0">
              <a:spcBef>
                <a:spcPts val="2500"/>
              </a:spcBef>
              <a:buFont typeface="Arial" panose="020B0604020202020204" pitchFamily="34" charset="0"/>
              <a:buNone/>
            </a:pPr>
            <a:r>
              <a:rPr lang="en-US" b="1"/>
              <a:t>Network and Security Design</a:t>
            </a:r>
          </a:p>
          <a:p>
            <a:pPr marL="0" lvl="1" indent="0">
              <a:buFont typeface="Arial" panose="020B0604020202020204" pitchFamily="34" charset="0"/>
              <a:buNone/>
            </a:pPr>
            <a:r>
              <a:rPr lang="en-US"/>
              <a:t>Focus on LAN, Wi-Fi segmentation, firewall protection, identity management, and endpoint security.</a:t>
            </a:r>
          </a:p>
          <a:p>
            <a:pPr marL="0" indent="0">
              <a:spcBef>
                <a:spcPts val="2500"/>
              </a:spcBef>
              <a:buFont typeface="Arial" panose="020B0604020202020204" pitchFamily="34" charset="0"/>
              <a:buNone/>
            </a:pPr>
            <a:r>
              <a:rPr lang="en-US" b="1"/>
              <a:t>Backup and Disaster Recovery</a:t>
            </a:r>
          </a:p>
          <a:p>
            <a:pPr marL="0" lvl="1" indent="0">
              <a:buFont typeface="Arial" panose="020B0604020202020204" pitchFamily="34" charset="0"/>
              <a:buNone/>
            </a:pPr>
            <a:r>
              <a:rPr lang="en-US"/>
              <a:t>Ensuring data safety through backup solutions and disaster recovery plans to minimize downtime.</a:t>
            </a:r>
          </a:p>
          <a:p>
            <a:pPr marL="0" indent="0">
              <a:spcBef>
                <a:spcPts val="2500"/>
              </a:spcBef>
              <a:buFont typeface="Arial" panose="020B0604020202020204" pitchFamily="34" charset="0"/>
              <a:buNone/>
            </a:pPr>
            <a:r>
              <a:rPr lang="en-US" b="1"/>
              <a:t>Operational Support and Objectives</a:t>
            </a:r>
          </a:p>
          <a:p>
            <a:pPr marL="0" lvl="1" indent="0">
              <a:buFont typeface="Arial" panose="020B0604020202020204" pitchFamily="34" charset="0"/>
              <a:buNone/>
            </a:pPr>
            <a:r>
              <a:rPr lang="en-US"/>
              <a:t>Defines IT support operations, escalation paths, reliability, scalability, and alignment with business goals.</a:t>
            </a:r>
          </a:p>
        </p:txBody>
      </p:sp>
    </p:spTree>
    <p:extLst>
      <p:ext uri="{BB962C8B-B14F-4D97-AF65-F5344CB8AC3E}">
        <p14:creationId xmlns:p14="http://schemas.microsoft.com/office/powerpoint/2010/main" val="41094900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F993B-ADB6-AD8A-8A05-2C3DDA314F9D}"/>
              </a:ext>
            </a:extLst>
          </p:cNvPr>
          <p:cNvSpPr>
            <a:spLocks noGrp="1"/>
          </p:cNvSpPr>
          <p:nvPr>
            <p:ph type="title"/>
          </p:nvPr>
        </p:nvSpPr>
        <p:spPr>
          <a:xfrm>
            <a:off x="612648" y="502920"/>
            <a:ext cx="4669536" cy="1453896"/>
          </a:xfrm>
        </p:spPr>
        <p:txBody>
          <a:bodyPr anchor="t">
            <a:normAutofit/>
          </a:bodyPr>
          <a:lstStyle/>
          <a:p>
            <a:r>
              <a:rPr lang="en-US"/>
              <a:t>Organizational and Operational Context</a:t>
            </a:r>
          </a:p>
        </p:txBody>
      </p:sp>
      <p:pic>
        <p:nvPicPr>
          <p:cNvPr id="5" name="Content Placeholder 4" descr="Cloud Computing">
            <a:extLst>
              <a:ext uri="{FF2B5EF4-FFF2-40B4-BE49-F238E27FC236}">
                <a16:creationId xmlns:a16="http://schemas.microsoft.com/office/drawing/2014/main" id="{6F459356-36CA-4372-9EDD-9A80C2C52E90}"/>
              </a:ext>
            </a:extLst>
          </p:cNvPr>
          <p:cNvPicPr>
            <a:picLocks noGrp="1" noChangeAspect="1"/>
          </p:cNvPicPr>
          <p:nvPr>
            <p:ph type="pic" sz="quarter" idx="15"/>
          </p:nvPr>
        </p:nvPicPr>
        <p:blipFill>
          <a:blip r:embed="rId3"/>
          <a:srcRect l="13887" r="16498"/>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FD1D2265-D105-6B59-73B3-12FF5B427C1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Diverse Department Needs</a:t>
            </a:r>
          </a:p>
          <a:p>
            <a:pPr marL="0" lvl="1" indent="0">
              <a:buFont typeface="Arial" panose="020B0604020202020204" pitchFamily="34" charset="0"/>
              <a:buNone/>
            </a:pPr>
            <a:r>
              <a:rPr lang="en-US"/>
              <a:t>Ubuntu Innovations has five departments with unique technology needs and risk profiles requiring tailored IT solutions.</a:t>
            </a:r>
          </a:p>
          <a:p>
            <a:pPr marL="0" indent="0">
              <a:spcBef>
                <a:spcPts val="2500"/>
              </a:spcBef>
              <a:buFont typeface="Arial" panose="020B0604020202020204" pitchFamily="34" charset="0"/>
              <a:buNone/>
            </a:pPr>
            <a:r>
              <a:rPr lang="en-US" b="1"/>
              <a:t>Security and Compliance</a:t>
            </a:r>
          </a:p>
          <a:p>
            <a:pPr marL="0" lvl="1" indent="0">
              <a:buFont typeface="Arial" panose="020B0604020202020204" pitchFamily="34" charset="0"/>
              <a:buNone/>
            </a:pPr>
            <a:r>
              <a:rPr lang="en-US"/>
              <a:t>Finance and HR need strict access controls and auditing to comply with POPIA and protect sensitive data.</a:t>
            </a:r>
          </a:p>
          <a:p>
            <a:pPr marL="0" indent="0">
              <a:spcBef>
                <a:spcPts val="2500"/>
              </a:spcBef>
              <a:buFont typeface="Arial" panose="020B0604020202020204" pitchFamily="34" charset="0"/>
              <a:buNone/>
            </a:pPr>
            <a:r>
              <a:rPr lang="en-US" b="1"/>
              <a:t>Operational Challenges</a:t>
            </a:r>
          </a:p>
          <a:p>
            <a:pPr marL="0" lvl="1" indent="0">
              <a:buFont typeface="Arial" panose="020B0604020202020204" pitchFamily="34" charset="0"/>
              <a:buNone/>
            </a:pPr>
            <a:r>
              <a:rPr lang="en-US"/>
              <a:t>South African context involves power outages and cyber threats, requiring backup systems and resilient recovery plans.</a:t>
            </a:r>
          </a:p>
          <a:p>
            <a:pPr marL="0" indent="0">
              <a:spcBef>
                <a:spcPts val="2500"/>
              </a:spcBef>
              <a:buFont typeface="Arial" panose="020B0604020202020204" pitchFamily="34" charset="0"/>
              <a:buNone/>
            </a:pPr>
            <a:r>
              <a:rPr lang="en-US" b="1"/>
              <a:t>Technology Support Strategy</a:t>
            </a:r>
          </a:p>
          <a:p>
            <a:pPr marL="0" lvl="1" indent="0">
              <a:buFont typeface="Arial" panose="020B0604020202020204" pitchFamily="34" charset="0"/>
              <a:buNone/>
            </a:pPr>
            <a:r>
              <a:rPr lang="en-US"/>
              <a:t>IT must balance security, uptime, and cost to support all departments with cloud and high-performance solutions.</a:t>
            </a:r>
          </a:p>
        </p:txBody>
      </p:sp>
    </p:spTree>
    <p:extLst>
      <p:ext uri="{BB962C8B-B14F-4D97-AF65-F5344CB8AC3E}">
        <p14:creationId xmlns:p14="http://schemas.microsoft.com/office/powerpoint/2010/main" val="27317773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2CD07-1808-6978-9ECE-B375B2654B7A}"/>
              </a:ext>
            </a:extLst>
          </p:cNvPr>
          <p:cNvSpPr>
            <a:spLocks noGrp="1"/>
          </p:cNvSpPr>
          <p:nvPr>
            <p:ph type="title"/>
          </p:nvPr>
        </p:nvSpPr>
        <p:spPr>
          <a:xfrm>
            <a:off x="612648" y="2093976"/>
            <a:ext cx="8229600" cy="4178808"/>
          </a:xfrm>
        </p:spPr>
        <p:txBody>
          <a:bodyPr anchor="b">
            <a:normAutofit/>
          </a:bodyPr>
          <a:lstStyle/>
          <a:p>
            <a:r>
              <a:rPr lang="en-US"/>
              <a:t>Business Needs and Technology Foundations</a:t>
            </a:r>
          </a:p>
        </p:txBody>
      </p:sp>
    </p:spTree>
    <p:extLst>
      <p:ext uri="{BB962C8B-B14F-4D97-AF65-F5344CB8AC3E}">
        <p14:creationId xmlns:p14="http://schemas.microsoft.com/office/powerpoint/2010/main" val="10863959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763CC-321E-EF30-174C-2B3CCE93F913}"/>
              </a:ext>
            </a:extLst>
          </p:cNvPr>
          <p:cNvSpPr>
            <a:spLocks noGrp="1"/>
          </p:cNvSpPr>
          <p:nvPr>
            <p:ph type="title"/>
          </p:nvPr>
        </p:nvSpPr>
        <p:spPr>
          <a:xfrm>
            <a:off x="612648" y="502920"/>
            <a:ext cx="4669536" cy="1453896"/>
          </a:xfrm>
        </p:spPr>
        <p:txBody>
          <a:bodyPr anchor="t">
            <a:normAutofit/>
          </a:bodyPr>
          <a:lstStyle/>
          <a:p>
            <a:r>
              <a:rPr lang="en-US"/>
              <a:t>Business Needs and Assessment</a:t>
            </a:r>
          </a:p>
        </p:txBody>
      </p:sp>
      <p:pic>
        <p:nvPicPr>
          <p:cNvPr id="5" name="Content Placeholder 4" descr="Cloud Computing">
            <a:extLst>
              <a:ext uri="{FF2B5EF4-FFF2-40B4-BE49-F238E27FC236}">
                <a16:creationId xmlns:a16="http://schemas.microsoft.com/office/drawing/2014/main" id="{365424D2-B1DB-440F-8C1B-FD75F5FB5DF3}"/>
              </a:ext>
            </a:extLst>
          </p:cNvPr>
          <p:cNvPicPr>
            <a:picLocks noGrp="1" noChangeAspect="1"/>
          </p:cNvPicPr>
          <p:nvPr>
            <p:ph type="pic" sz="quarter" idx="15"/>
          </p:nvPr>
        </p:nvPicPr>
        <p:blipFill>
          <a:blip r:embed="rId3"/>
          <a:srcRect l="12853" r="17532"/>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4DB4B643-61E0-1FDB-459B-52A4BA33B5A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Core Infrastructure Needs</a:t>
            </a:r>
          </a:p>
          <a:p>
            <a:pPr marL="0" lvl="1" indent="0">
              <a:buFont typeface="Arial" panose="020B0604020202020204" pitchFamily="34" charset="0"/>
              <a:buNone/>
            </a:pPr>
            <a:r>
              <a:rPr lang="en-US"/>
              <a:t>Reliable computing devices and network connectivity are essential for efficient employee operations and communication.</a:t>
            </a:r>
          </a:p>
          <a:p>
            <a:pPr marL="0" indent="0">
              <a:spcBef>
                <a:spcPts val="2500"/>
              </a:spcBef>
              <a:buFont typeface="Arial" panose="020B0604020202020204" pitchFamily="34" charset="0"/>
              <a:buNone/>
            </a:pPr>
            <a:r>
              <a:rPr lang="en-US" b="1"/>
              <a:t>Security and Access Controls</a:t>
            </a:r>
          </a:p>
          <a:p>
            <a:pPr marL="0" lvl="1" indent="0">
              <a:buFont typeface="Arial" panose="020B0604020202020204" pitchFamily="34" charset="0"/>
              <a:buNone/>
            </a:pPr>
            <a:r>
              <a:rPr lang="en-US"/>
              <a:t>Security is critical due to sensitive data; role-based access controls ensure employees access only relevant information.</a:t>
            </a:r>
          </a:p>
          <a:p>
            <a:pPr marL="0" indent="0">
              <a:spcBef>
                <a:spcPts val="2500"/>
              </a:spcBef>
              <a:buFont typeface="Arial" panose="020B0604020202020204" pitchFamily="34" charset="0"/>
              <a:buNone/>
            </a:pPr>
            <a:r>
              <a:rPr lang="en-US" b="1"/>
              <a:t>Scalability and Performance</a:t>
            </a:r>
          </a:p>
          <a:p>
            <a:pPr marL="0" lvl="1" indent="0">
              <a:buFont typeface="Arial" panose="020B0604020202020204" pitchFamily="34" charset="0"/>
              <a:buNone/>
            </a:pPr>
            <a:r>
              <a:rPr lang="en-US"/>
              <a:t>Infrastructure must scale with company growth while meeting varied performance needs of different departments.</a:t>
            </a:r>
          </a:p>
          <a:p>
            <a:pPr marL="0" indent="0">
              <a:spcBef>
                <a:spcPts val="2500"/>
              </a:spcBef>
              <a:buFont typeface="Arial" panose="020B0604020202020204" pitchFamily="34" charset="0"/>
              <a:buNone/>
            </a:pPr>
            <a:r>
              <a:rPr lang="en-US" b="1"/>
              <a:t>Compliance and Continuity</a:t>
            </a:r>
          </a:p>
          <a:p>
            <a:pPr marL="0" lvl="1" indent="0">
              <a:buFont typeface="Arial" panose="020B0604020202020204" pitchFamily="34" charset="0"/>
              <a:buNone/>
            </a:pPr>
            <a:r>
              <a:rPr lang="en-US"/>
              <a:t>Compliance with data protection laws and operational continuity are vital to mitigate risks and downtime.</a:t>
            </a:r>
          </a:p>
        </p:txBody>
      </p:sp>
    </p:spTree>
    <p:extLst>
      <p:ext uri="{BB962C8B-B14F-4D97-AF65-F5344CB8AC3E}">
        <p14:creationId xmlns:p14="http://schemas.microsoft.com/office/powerpoint/2010/main" val="6209959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E8FCB-4436-647A-443A-0DAF58A293CE}"/>
              </a:ext>
            </a:extLst>
          </p:cNvPr>
          <p:cNvSpPr>
            <a:spLocks noGrp="1"/>
          </p:cNvSpPr>
          <p:nvPr>
            <p:ph type="title"/>
          </p:nvPr>
        </p:nvSpPr>
        <p:spPr>
          <a:xfrm>
            <a:off x="612648" y="640080"/>
            <a:ext cx="3493008" cy="3621024"/>
          </a:xfrm>
        </p:spPr>
        <p:txBody>
          <a:bodyPr anchor="t">
            <a:normAutofit/>
          </a:bodyPr>
          <a:lstStyle/>
          <a:p>
            <a:r>
              <a:rPr lang="en-US"/>
              <a:t>Departmental Requirements Analysis</a:t>
            </a:r>
          </a:p>
        </p:txBody>
      </p:sp>
      <p:sp>
        <p:nvSpPr>
          <p:cNvPr id="3" name="Content Placeholder 2">
            <a:extLst>
              <a:ext uri="{FF2B5EF4-FFF2-40B4-BE49-F238E27FC236}">
                <a16:creationId xmlns:a16="http://schemas.microsoft.com/office/drawing/2014/main" id="{76C0B45F-2646-1418-EE93-2822A403D20E}"/>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92040" y="640081"/>
            <a:ext cx="6675120" cy="5577840"/>
          </a:xfrm>
        </p:spPr>
        <p:txBody>
          <a:bodyPr>
            <a:normAutofit/>
          </a:bodyPr>
          <a:lstStyle/>
          <a:p>
            <a:pPr marL="0" indent="0">
              <a:lnSpc>
                <a:spcPct val="110000"/>
              </a:lnSpc>
              <a:spcBef>
                <a:spcPts val="2500"/>
              </a:spcBef>
              <a:buFont typeface="Arial" panose="020B0604020202020204" pitchFamily="34" charset="0"/>
              <a:buNone/>
            </a:pPr>
            <a:r>
              <a:rPr lang="en-US" sz="1100" b="1"/>
              <a:t>Executives' IT Needs</a:t>
            </a:r>
          </a:p>
          <a:p>
            <a:pPr marL="0" lvl="1" indent="0">
              <a:lnSpc>
                <a:spcPct val="110000"/>
              </a:lnSpc>
              <a:buFont typeface="Arial" panose="020B0604020202020204" pitchFamily="34" charset="0"/>
              <a:buNone/>
            </a:pPr>
            <a:r>
              <a:rPr lang="en-US" sz="1100"/>
              <a:t>Executives require secure laptops, mobile device management, and collaboration tools for effective decision-making and communication.</a:t>
            </a:r>
          </a:p>
          <a:p>
            <a:pPr marL="0" indent="0">
              <a:lnSpc>
                <a:spcPct val="110000"/>
              </a:lnSpc>
              <a:spcBef>
                <a:spcPts val="2500"/>
              </a:spcBef>
              <a:buFont typeface="Arial" panose="020B0604020202020204" pitchFamily="34" charset="0"/>
              <a:buNone/>
            </a:pPr>
            <a:r>
              <a:rPr lang="en-US" sz="1100" b="1"/>
              <a:t>Finance Department Security</a:t>
            </a:r>
          </a:p>
          <a:p>
            <a:pPr marL="0" lvl="1" indent="0">
              <a:lnSpc>
                <a:spcPct val="110000"/>
              </a:lnSpc>
              <a:buFont typeface="Arial" panose="020B0604020202020204" pitchFamily="34" charset="0"/>
              <a:buNone/>
            </a:pPr>
            <a:r>
              <a:rPr lang="en-US" sz="1100"/>
              <a:t>Finance depends on accounting software, secure banking access, and protected storage ensuring data confidentiality and integrity.</a:t>
            </a:r>
          </a:p>
          <a:p>
            <a:pPr marL="0" indent="0">
              <a:lnSpc>
                <a:spcPct val="110000"/>
              </a:lnSpc>
              <a:spcBef>
                <a:spcPts val="2500"/>
              </a:spcBef>
              <a:buFont typeface="Arial" panose="020B0604020202020204" pitchFamily="34" charset="0"/>
              <a:buNone/>
            </a:pPr>
            <a:r>
              <a:rPr lang="en-US" sz="1100" b="1"/>
              <a:t>Human Resources Privacy</a:t>
            </a:r>
          </a:p>
          <a:p>
            <a:pPr marL="0" lvl="1" indent="0">
              <a:lnSpc>
                <a:spcPct val="110000"/>
              </a:lnSpc>
              <a:buFont typeface="Arial" panose="020B0604020202020204" pitchFamily="34" charset="0"/>
              <a:buNone/>
            </a:pPr>
            <a:r>
              <a:rPr lang="en-US" sz="1100"/>
              <a:t>HR manages sensitive employee records and compliance documents requiring strict privacy controls and controlled access.</a:t>
            </a:r>
          </a:p>
          <a:p>
            <a:pPr marL="0" indent="0">
              <a:lnSpc>
                <a:spcPct val="110000"/>
              </a:lnSpc>
              <a:spcBef>
                <a:spcPts val="2500"/>
              </a:spcBef>
              <a:buFont typeface="Arial" panose="020B0604020202020204" pitchFamily="34" charset="0"/>
              <a:buNone/>
            </a:pPr>
            <a:r>
              <a:rPr lang="en-US" sz="1100" b="1"/>
              <a:t>Sales and Marketing Tools</a:t>
            </a:r>
          </a:p>
          <a:p>
            <a:pPr marL="0" lvl="1" indent="0">
              <a:lnSpc>
                <a:spcPct val="110000"/>
              </a:lnSpc>
              <a:buFont typeface="Arial" panose="020B0604020202020204" pitchFamily="34" charset="0"/>
              <a:buNone/>
            </a:pPr>
            <a:r>
              <a:rPr lang="en-US" sz="1100"/>
              <a:t>Sales and Marketing utilize CRM platforms, email marketing, design software, and reliable internet to drive revenue.</a:t>
            </a:r>
          </a:p>
          <a:p>
            <a:pPr marL="0" indent="0">
              <a:lnSpc>
                <a:spcPct val="110000"/>
              </a:lnSpc>
              <a:spcBef>
                <a:spcPts val="2500"/>
              </a:spcBef>
              <a:buFont typeface="Arial" panose="020B0604020202020204" pitchFamily="34" charset="0"/>
              <a:buNone/>
            </a:pPr>
            <a:r>
              <a:rPr lang="en-US" sz="1100" b="1"/>
              <a:t>Developer Infrastructure</a:t>
            </a:r>
          </a:p>
          <a:p>
            <a:pPr marL="0" lvl="1" indent="0">
              <a:lnSpc>
                <a:spcPct val="110000"/>
              </a:lnSpc>
              <a:buFont typeface="Arial" panose="020B0604020202020204" pitchFamily="34" charset="0"/>
              <a:buNone/>
            </a:pPr>
            <a:r>
              <a:rPr lang="en-US" sz="1100"/>
              <a:t>Developers require powerful workstations, version control, container platforms, cloud consoles, and network isolation for risk reduction.</a:t>
            </a:r>
          </a:p>
          <a:p>
            <a:pPr marL="0" indent="0">
              <a:lnSpc>
                <a:spcPct val="110000"/>
              </a:lnSpc>
              <a:spcBef>
                <a:spcPts val="2500"/>
              </a:spcBef>
              <a:buFont typeface="Arial" panose="020B0604020202020204" pitchFamily="34" charset="0"/>
              <a:buNone/>
            </a:pPr>
            <a:r>
              <a:rPr lang="en-US" sz="1100" b="1"/>
              <a:t>IT Staff Management</a:t>
            </a:r>
          </a:p>
          <a:p>
            <a:pPr marL="0" lvl="1" indent="0">
              <a:lnSpc>
                <a:spcPct val="110000"/>
              </a:lnSpc>
              <a:buFont typeface="Arial" panose="020B0604020202020204" pitchFamily="34" charset="0"/>
              <a:buNone/>
            </a:pPr>
            <a:r>
              <a:rPr lang="en-US" sz="1100"/>
              <a:t>IT staff need administrative access, monitoring tools, and documentation repositories to effectively manage infrastructure.</a:t>
            </a:r>
          </a:p>
        </p:txBody>
      </p:sp>
    </p:spTree>
    <p:extLst>
      <p:ext uri="{BB962C8B-B14F-4D97-AF65-F5344CB8AC3E}">
        <p14:creationId xmlns:p14="http://schemas.microsoft.com/office/powerpoint/2010/main" val="37698475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18F22-4BFA-1C8A-4A66-81C931ECC757}"/>
              </a:ext>
            </a:extLst>
          </p:cNvPr>
          <p:cNvSpPr>
            <a:spLocks noGrp="1"/>
          </p:cNvSpPr>
          <p:nvPr>
            <p:ph type="title"/>
          </p:nvPr>
        </p:nvSpPr>
        <p:spPr>
          <a:xfrm>
            <a:off x="612648" y="502920"/>
            <a:ext cx="4669536" cy="1453896"/>
          </a:xfrm>
        </p:spPr>
        <p:txBody>
          <a:bodyPr anchor="t">
            <a:normAutofit/>
          </a:bodyPr>
          <a:lstStyle/>
          <a:p>
            <a:r>
              <a:rPr lang="en-US"/>
              <a:t>Technology Infrastructure Recommendations</a:t>
            </a:r>
          </a:p>
        </p:txBody>
      </p:sp>
      <p:pic>
        <p:nvPicPr>
          <p:cNvPr id="5" name="Content Placeholder 4" descr="Cat Five network wiring.">
            <a:extLst>
              <a:ext uri="{FF2B5EF4-FFF2-40B4-BE49-F238E27FC236}">
                <a16:creationId xmlns:a16="http://schemas.microsoft.com/office/drawing/2014/main" id="{BFEB65A2-A931-40FF-B55B-E28E36B785BF}"/>
              </a:ext>
            </a:extLst>
          </p:cNvPr>
          <p:cNvPicPr>
            <a:picLocks noGrp="1" noChangeAspect="1"/>
          </p:cNvPicPr>
          <p:nvPr>
            <p:ph type="pic" sz="quarter" idx="15"/>
          </p:nvPr>
        </p:nvPicPr>
        <p:blipFill>
          <a:blip r:embed="rId3"/>
          <a:srcRect t="5723" r="1" b="27913"/>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D9C2D644-7754-DB62-EE60-41ED113D17E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Core Productivity Platform</a:t>
            </a:r>
          </a:p>
          <a:p>
            <a:pPr marL="0" lvl="1" indent="0">
              <a:buFont typeface="Arial" panose="020B0604020202020204" pitchFamily="34" charset="0"/>
              <a:buNone/>
            </a:pPr>
            <a:r>
              <a:rPr lang="en-US"/>
              <a:t>Microsoft 365 provides essential tools for email, document collaboration, and communication across departments.</a:t>
            </a:r>
          </a:p>
          <a:p>
            <a:pPr marL="0" indent="0">
              <a:spcBef>
                <a:spcPts val="2500"/>
              </a:spcBef>
              <a:buFont typeface="Arial" panose="020B0604020202020204" pitchFamily="34" charset="0"/>
              <a:buNone/>
            </a:pPr>
            <a:r>
              <a:rPr lang="en-US" b="1"/>
              <a:t>Centralized Identity Management</a:t>
            </a:r>
          </a:p>
          <a:p>
            <a:pPr marL="0" lvl="1" indent="0">
              <a:buFont typeface="Arial" panose="020B0604020202020204" pitchFamily="34" charset="0"/>
              <a:buNone/>
            </a:pPr>
            <a:r>
              <a:rPr lang="en-US"/>
              <a:t>Active Directory enables secure and consistent identity and access management policies across the organization.</a:t>
            </a:r>
          </a:p>
          <a:p>
            <a:pPr marL="0" indent="0">
              <a:spcBef>
                <a:spcPts val="2500"/>
              </a:spcBef>
              <a:buFont typeface="Arial" panose="020B0604020202020204" pitchFamily="34" charset="0"/>
              <a:buNone/>
            </a:pPr>
            <a:r>
              <a:rPr lang="en-US" b="1"/>
              <a:t>Data Storage and Backup</a:t>
            </a:r>
          </a:p>
          <a:p>
            <a:pPr marL="0" lvl="1" indent="0">
              <a:buFont typeface="Arial" panose="020B0604020202020204" pitchFamily="34" charset="0"/>
              <a:buNone/>
            </a:pPr>
            <a:r>
              <a:rPr lang="en-US"/>
              <a:t>Network-Attached Storage offers centralized file storage with local backup to ensure data availability and security.</a:t>
            </a:r>
          </a:p>
          <a:p>
            <a:pPr marL="0" indent="0">
              <a:spcBef>
                <a:spcPts val="2500"/>
              </a:spcBef>
              <a:buFont typeface="Arial" panose="020B0604020202020204" pitchFamily="34" charset="0"/>
              <a:buNone/>
            </a:pPr>
            <a:r>
              <a:rPr lang="en-US" b="1"/>
              <a:t>Network Security and Connectivity</a:t>
            </a:r>
          </a:p>
          <a:p>
            <a:pPr marL="0" lvl="1" indent="0">
              <a:buFont typeface="Arial" panose="020B0604020202020204" pitchFamily="34" charset="0"/>
              <a:buNone/>
            </a:pPr>
            <a:r>
              <a:rPr lang="en-US"/>
              <a:t>Managed network with firewall, switches, Wi-Fi access points, UPS, and LTE failover ensures secure and reliable connectivity.</a:t>
            </a:r>
          </a:p>
        </p:txBody>
      </p:sp>
    </p:spTree>
    <p:extLst>
      <p:ext uri="{BB962C8B-B14F-4D97-AF65-F5344CB8AC3E}">
        <p14:creationId xmlns:p14="http://schemas.microsoft.com/office/powerpoint/2010/main" val="20133256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E8431-6778-D13E-36BE-25981BBF8CBD}"/>
              </a:ext>
            </a:extLst>
          </p:cNvPr>
          <p:cNvSpPr>
            <a:spLocks noGrp="1"/>
          </p:cNvSpPr>
          <p:nvPr>
            <p:ph type="title"/>
          </p:nvPr>
        </p:nvSpPr>
        <p:spPr>
          <a:xfrm>
            <a:off x="612648" y="502920"/>
            <a:ext cx="4669536" cy="1453896"/>
          </a:xfrm>
        </p:spPr>
        <p:txBody>
          <a:bodyPr anchor="t">
            <a:normAutofit/>
          </a:bodyPr>
          <a:lstStyle/>
          <a:p>
            <a:r>
              <a:rPr lang="en-US"/>
              <a:t>Hardware and Software Foundations</a:t>
            </a:r>
          </a:p>
        </p:txBody>
      </p:sp>
      <p:pic>
        <p:nvPicPr>
          <p:cNvPr id="5" name="Content Placeholder 4" descr="Empty open plan office">
            <a:extLst>
              <a:ext uri="{FF2B5EF4-FFF2-40B4-BE49-F238E27FC236}">
                <a16:creationId xmlns:a16="http://schemas.microsoft.com/office/drawing/2014/main" id="{35B47989-C84C-4C6B-8C8D-1C2E01C67F88}"/>
              </a:ext>
            </a:extLst>
          </p:cNvPr>
          <p:cNvPicPr>
            <a:picLocks noGrp="1" noChangeAspect="1"/>
          </p:cNvPicPr>
          <p:nvPr>
            <p:ph type="pic" sz="quarter" idx="15"/>
          </p:nvPr>
        </p:nvPicPr>
        <p:blipFill>
          <a:blip r:embed="rId3"/>
          <a:srcRect l="5754" r="14767" b="-1"/>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DFF207F3-A50F-2B33-7709-43A20A2C599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Standardized Hardware Specifications</a:t>
            </a:r>
          </a:p>
          <a:p>
            <a:pPr marL="0" lvl="1" indent="0">
              <a:buFont typeface="Arial" panose="020B0604020202020204" pitchFamily="34" charset="0"/>
              <a:buNone/>
            </a:pPr>
            <a:r>
              <a:rPr lang="en-US"/>
              <a:t>Consistent hardware specifications ensure reliable performance and simplify technical support across departments.</a:t>
            </a:r>
          </a:p>
          <a:p>
            <a:pPr marL="0" indent="0">
              <a:spcBef>
                <a:spcPts val="2500"/>
              </a:spcBef>
              <a:buFont typeface="Arial" panose="020B0604020202020204" pitchFamily="34" charset="0"/>
              <a:buNone/>
            </a:pPr>
            <a:r>
              <a:rPr lang="en-US" b="1"/>
              <a:t>Server and NAS Roles</a:t>
            </a:r>
          </a:p>
          <a:p>
            <a:pPr marL="0" lvl="1" indent="0">
              <a:buFont typeface="Arial" panose="020B0604020202020204" pitchFamily="34" charset="0"/>
              <a:buNone/>
            </a:pPr>
            <a:r>
              <a:rPr lang="en-US"/>
              <a:t>Servers manage directory services and file storage, while NAS systems provide shared data access and backups.</a:t>
            </a:r>
          </a:p>
          <a:p>
            <a:pPr marL="0" indent="0">
              <a:spcBef>
                <a:spcPts val="2500"/>
              </a:spcBef>
              <a:buFont typeface="Arial" panose="020B0604020202020204" pitchFamily="34" charset="0"/>
              <a:buNone/>
            </a:pPr>
            <a:r>
              <a:rPr lang="en-US" b="1"/>
              <a:t>Licensed Software and Deployment</a:t>
            </a:r>
          </a:p>
          <a:p>
            <a:pPr marL="0" lvl="1" indent="0">
              <a:buFont typeface="Arial" panose="020B0604020202020204" pitchFamily="34" charset="0"/>
              <a:buNone/>
            </a:pPr>
            <a:r>
              <a:rPr lang="en-US"/>
              <a:t>Licensed business applications reduce legal risks and centralized deployment ensures software consistency across devices.</a:t>
            </a:r>
          </a:p>
          <a:p>
            <a:pPr marL="0" indent="0">
              <a:spcBef>
                <a:spcPts val="2500"/>
              </a:spcBef>
              <a:buFont typeface="Arial" panose="020B0604020202020204" pitchFamily="34" charset="0"/>
              <a:buNone/>
            </a:pPr>
            <a:r>
              <a:rPr lang="en-US" b="1"/>
              <a:t>Stable Platform for Advanced Capabilities</a:t>
            </a:r>
          </a:p>
          <a:p>
            <a:pPr marL="0" lvl="1" indent="0">
              <a:buFont typeface="Arial" panose="020B0604020202020204" pitchFamily="34" charset="0"/>
              <a:buNone/>
            </a:pPr>
            <a:r>
              <a:rPr lang="en-US"/>
              <a:t>Hardware and software foundations support advanced features like security monitoring, automation, and analytics for robust infrastructure.</a:t>
            </a:r>
          </a:p>
        </p:txBody>
      </p:sp>
    </p:spTree>
    <p:extLst>
      <p:ext uri="{BB962C8B-B14F-4D97-AF65-F5344CB8AC3E}">
        <p14:creationId xmlns:p14="http://schemas.microsoft.com/office/powerpoint/2010/main" val="19727866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D9BAA-E4BA-3137-3F7E-534BBDBC7906}"/>
              </a:ext>
            </a:extLst>
          </p:cNvPr>
          <p:cNvSpPr>
            <a:spLocks noGrp="1"/>
          </p:cNvSpPr>
          <p:nvPr>
            <p:ph type="title"/>
          </p:nvPr>
        </p:nvSpPr>
        <p:spPr>
          <a:xfrm>
            <a:off x="612648" y="2093976"/>
            <a:ext cx="8229600" cy="4178808"/>
          </a:xfrm>
        </p:spPr>
        <p:txBody>
          <a:bodyPr anchor="b">
            <a:normAutofit/>
          </a:bodyPr>
          <a:lstStyle/>
          <a:p>
            <a:r>
              <a:rPr lang="en-US"/>
              <a:t>Network Architecture and Access Control</a:t>
            </a:r>
          </a:p>
        </p:txBody>
      </p:sp>
    </p:spTree>
    <p:extLst>
      <p:ext uri="{BB962C8B-B14F-4D97-AF65-F5344CB8AC3E}">
        <p14:creationId xmlns:p14="http://schemas.microsoft.com/office/powerpoint/2010/main" val="40288880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08E15-030B-645A-FD8A-D93329BABDE2}"/>
              </a:ext>
            </a:extLst>
          </p:cNvPr>
          <p:cNvSpPr>
            <a:spLocks noGrp="1"/>
          </p:cNvSpPr>
          <p:nvPr>
            <p:ph type="title"/>
          </p:nvPr>
        </p:nvSpPr>
        <p:spPr>
          <a:xfrm>
            <a:off x="612648" y="502920"/>
            <a:ext cx="4669536" cy="1453896"/>
          </a:xfrm>
        </p:spPr>
        <p:txBody>
          <a:bodyPr anchor="t">
            <a:normAutofit/>
          </a:bodyPr>
          <a:lstStyle/>
          <a:p>
            <a:r>
              <a:rPr lang="en-US"/>
              <a:t>Proposed Network Infrastructure</a:t>
            </a:r>
          </a:p>
        </p:txBody>
      </p:sp>
      <p:pic>
        <p:nvPicPr>
          <p:cNvPr id="5" name="Content Placeholder 4" descr="Close-Up Shot of a Yellow Verified Gigabit Ethernet Cable Surrounded by Tangled Messy High Speed Internet Gigabit Cat5 Data Cables and Rack Mounted Network Switch Equipment Hardware in an IT Networking Closet with Copy Space">
            <a:extLst>
              <a:ext uri="{FF2B5EF4-FFF2-40B4-BE49-F238E27FC236}">
                <a16:creationId xmlns:a16="http://schemas.microsoft.com/office/drawing/2014/main" id="{DBE550B5-4968-4FD4-AC86-2F72560360BB}"/>
              </a:ext>
            </a:extLst>
          </p:cNvPr>
          <p:cNvPicPr>
            <a:picLocks noGrp="1" noChangeAspect="1"/>
          </p:cNvPicPr>
          <p:nvPr>
            <p:ph type="pic" sz="quarter" idx="15"/>
          </p:nvPr>
        </p:nvPicPr>
        <p:blipFill>
          <a:blip r:embed="rId3"/>
          <a:srcRect l="12154" r="10397" b="-2"/>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85B3419F-88DB-53C4-CFB0-657C1F0CB25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Reliable Connectivity</a:t>
            </a:r>
          </a:p>
          <a:p>
            <a:pPr marL="0" lvl="1" indent="0">
              <a:buFont typeface="Arial" panose="020B0604020202020204" pitchFamily="34" charset="0"/>
              <a:buNone/>
            </a:pPr>
            <a:r>
              <a:rPr lang="en-US"/>
              <a:t>Primary fibre connection with LTE failover ensures continuous internet access during outages.</a:t>
            </a:r>
          </a:p>
          <a:p>
            <a:pPr marL="0" indent="0">
              <a:spcBef>
                <a:spcPts val="2500"/>
              </a:spcBef>
              <a:buFont typeface="Arial" panose="020B0604020202020204" pitchFamily="34" charset="0"/>
              <a:buNone/>
            </a:pPr>
            <a:r>
              <a:rPr lang="en-US" b="1"/>
              <a:t>Network Security</a:t>
            </a:r>
          </a:p>
          <a:p>
            <a:pPr marL="0" lvl="1" indent="0">
              <a:buFont typeface="Arial" panose="020B0604020202020204" pitchFamily="34" charset="0"/>
              <a:buNone/>
            </a:pPr>
            <a:r>
              <a:rPr lang="en-US"/>
              <a:t>Dedicated firewall appliance manages perimeter security, VPN access, and traffic filtering.</a:t>
            </a:r>
          </a:p>
          <a:p>
            <a:pPr marL="0" indent="0">
              <a:spcBef>
                <a:spcPts val="2500"/>
              </a:spcBef>
              <a:buFont typeface="Arial" panose="020B0604020202020204" pitchFamily="34" charset="0"/>
              <a:buNone/>
            </a:pPr>
            <a:r>
              <a:rPr lang="en-US" b="1"/>
              <a:t>Managed Network Distribution</a:t>
            </a:r>
          </a:p>
          <a:p>
            <a:pPr marL="0" lvl="1" indent="0">
              <a:buFont typeface="Arial" panose="020B0604020202020204" pitchFamily="34" charset="0"/>
              <a:buNone/>
            </a:pPr>
            <a:r>
              <a:rPr lang="en-US"/>
              <a:t>Core switch distributes connectivity to wired devices and Wi-Fi access points with VLANs and QoS controls.</a:t>
            </a:r>
          </a:p>
          <a:p>
            <a:pPr marL="0" indent="0">
              <a:spcBef>
                <a:spcPts val="2500"/>
              </a:spcBef>
              <a:buFont typeface="Arial" panose="020B0604020202020204" pitchFamily="34" charset="0"/>
              <a:buNone/>
            </a:pPr>
            <a:r>
              <a:rPr lang="en-US" b="1"/>
              <a:t>Secure Server Environment</a:t>
            </a:r>
          </a:p>
          <a:p>
            <a:pPr marL="0" lvl="1" indent="0">
              <a:buFont typeface="Arial" panose="020B0604020202020204" pitchFamily="34" charset="0"/>
              <a:buNone/>
            </a:pPr>
            <a:r>
              <a:rPr lang="en-US"/>
              <a:t>Servers and NAS devices are secured in a controlled access room with power protection.</a:t>
            </a:r>
          </a:p>
        </p:txBody>
      </p:sp>
    </p:spTree>
    <p:extLst>
      <p:ext uri="{BB962C8B-B14F-4D97-AF65-F5344CB8AC3E}">
        <p14:creationId xmlns:p14="http://schemas.microsoft.com/office/powerpoint/2010/main" val="3126633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4E4D1-4E98-168D-BF24-9C0EC6B88472}"/>
              </a:ext>
            </a:extLst>
          </p:cNvPr>
          <p:cNvSpPr>
            <a:spLocks noGrp="1"/>
          </p:cNvSpPr>
          <p:nvPr>
            <p:ph type="title"/>
          </p:nvPr>
        </p:nvSpPr>
        <p:spPr>
          <a:xfrm>
            <a:off x="612648" y="502920"/>
            <a:ext cx="4669536" cy="1453896"/>
          </a:xfrm>
        </p:spPr>
        <p:txBody>
          <a:bodyPr anchor="t">
            <a:normAutofit/>
          </a:bodyPr>
          <a:lstStyle/>
          <a:p>
            <a:r>
              <a:rPr lang="en-US"/>
              <a:t>IP Addressing Scheme</a:t>
            </a:r>
          </a:p>
        </p:txBody>
      </p:sp>
      <p:pic>
        <p:nvPicPr>
          <p:cNvPr id="5" name="Content Placeholder 4" descr="Computer Network, Global Communication Concept&#10;Map: https://visibleearth.nasa.gov/images/57730/the-blue-marble-land-surface-ocean-color-and-sea-ice">
            <a:extLst>
              <a:ext uri="{FF2B5EF4-FFF2-40B4-BE49-F238E27FC236}">
                <a16:creationId xmlns:a16="http://schemas.microsoft.com/office/drawing/2014/main" id="{262FE6DA-6009-484C-9C44-DA8AF0400B5F}"/>
              </a:ext>
            </a:extLst>
          </p:cNvPr>
          <p:cNvPicPr>
            <a:picLocks noGrp="1" noChangeAspect="1"/>
          </p:cNvPicPr>
          <p:nvPr>
            <p:ph type="pic" sz="quarter" idx="15"/>
          </p:nvPr>
        </p:nvPicPr>
        <p:blipFill>
          <a:blip r:embed="rId3"/>
          <a:srcRect l="11818" r="8415" b="1"/>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0656B3FA-3DA1-17C5-8F7B-B7B4FD3916E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Structured IP Segmentation</a:t>
            </a:r>
          </a:p>
          <a:p>
            <a:pPr marL="0" lvl="1" indent="0">
              <a:buFont typeface="Arial" panose="020B0604020202020204" pitchFamily="34" charset="0"/>
              <a:buNone/>
            </a:pPr>
            <a:r>
              <a:rPr lang="en-US"/>
              <a:t>Private IP ranges are segmented by device function to organize network structure effectively.</a:t>
            </a:r>
          </a:p>
          <a:p>
            <a:pPr marL="0" indent="0">
              <a:spcBef>
                <a:spcPts val="2500"/>
              </a:spcBef>
              <a:buFont typeface="Arial" panose="020B0604020202020204" pitchFamily="34" charset="0"/>
              <a:buNone/>
            </a:pPr>
            <a:r>
              <a:rPr lang="en-US" b="1"/>
              <a:t>Role-Based IP Identification</a:t>
            </a:r>
          </a:p>
          <a:p>
            <a:pPr marL="0" lvl="1" indent="0">
              <a:buFont typeface="Arial" panose="020B0604020202020204" pitchFamily="34" charset="0"/>
              <a:buNone/>
            </a:pPr>
            <a:r>
              <a:rPr lang="en-US"/>
              <a:t>IP addresses indicate device roles, simplifying firewall rule application at the subnet level.</a:t>
            </a:r>
          </a:p>
          <a:p>
            <a:pPr marL="0" indent="0">
              <a:spcBef>
                <a:spcPts val="2500"/>
              </a:spcBef>
              <a:buFont typeface="Arial" panose="020B0604020202020204" pitchFamily="34" charset="0"/>
              <a:buNone/>
            </a:pPr>
            <a:r>
              <a:rPr lang="en-US" b="1"/>
              <a:t>Enhanced Network Efficiency</a:t>
            </a:r>
          </a:p>
          <a:p>
            <a:pPr marL="0" lvl="1" indent="0">
              <a:buFont typeface="Arial" panose="020B0604020202020204" pitchFamily="34" charset="0"/>
              <a:buNone/>
            </a:pPr>
            <a:r>
              <a:rPr lang="en-US"/>
              <a:t>Subnetting reduces broadcast traffic and limits threat spread across the network segments.</a:t>
            </a:r>
          </a:p>
          <a:p>
            <a:pPr marL="0" indent="0">
              <a:spcBef>
                <a:spcPts val="2500"/>
              </a:spcBef>
              <a:buFont typeface="Arial" panose="020B0604020202020204" pitchFamily="34" charset="0"/>
              <a:buNone/>
            </a:pPr>
            <a:r>
              <a:rPr lang="en-US" b="1"/>
              <a:t>Scalability and Documentation</a:t>
            </a:r>
          </a:p>
          <a:p>
            <a:pPr marL="0" lvl="1" indent="0">
              <a:buFont typeface="Arial" panose="020B0604020202020204" pitchFamily="34" charset="0"/>
              <a:buNone/>
            </a:pPr>
            <a:r>
              <a:rPr lang="en-US"/>
              <a:t>Consistent IP allocation supports network documentation, monitoring, and future scalability.</a:t>
            </a:r>
          </a:p>
        </p:txBody>
      </p:sp>
    </p:spTree>
    <p:extLst>
      <p:ext uri="{BB962C8B-B14F-4D97-AF65-F5344CB8AC3E}">
        <p14:creationId xmlns:p14="http://schemas.microsoft.com/office/powerpoint/2010/main" val="37995028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B633A-BE00-F8D3-B614-B4DD8A0F79CC}"/>
              </a:ext>
            </a:extLst>
          </p:cNvPr>
          <p:cNvSpPr>
            <a:spLocks noGrp="1"/>
          </p:cNvSpPr>
          <p:nvPr>
            <p:ph type="title"/>
          </p:nvPr>
        </p:nvSpPr>
        <p:spPr>
          <a:xfrm>
            <a:off x="612648" y="502920"/>
            <a:ext cx="4669536" cy="1453896"/>
          </a:xfrm>
        </p:spPr>
        <p:txBody>
          <a:bodyPr anchor="t">
            <a:normAutofit/>
          </a:bodyPr>
          <a:lstStyle/>
          <a:p>
            <a:r>
              <a:rPr lang="en-US"/>
              <a:t>Network Segmentation Strategy</a:t>
            </a:r>
          </a:p>
        </p:txBody>
      </p:sp>
      <p:pic>
        <p:nvPicPr>
          <p:cNvPr id="5" name="Content Placeholder 4" descr="Desktop computers connected in a network.See all my">
            <a:extLst>
              <a:ext uri="{FF2B5EF4-FFF2-40B4-BE49-F238E27FC236}">
                <a16:creationId xmlns:a16="http://schemas.microsoft.com/office/drawing/2014/main" id="{4E9E09C5-9476-4F4A-800C-8EAACDAC9CE6}"/>
              </a:ext>
            </a:extLst>
          </p:cNvPr>
          <p:cNvPicPr>
            <a:picLocks noGrp="1" noChangeAspect="1"/>
          </p:cNvPicPr>
          <p:nvPr>
            <p:ph type="pic" sz="quarter" idx="15"/>
          </p:nvPr>
        </p:nvPicPr>
        <p:blipFill>
          <a:blip r:embed="rId3"/>
          <a:srcRect l="7140" r="5839" b="-2"/>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344753CB-6ECC-03CA-D33C-6D47211C6A5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Isolated Network Zones</a:t>
            </a:r>
          </a:p>
          <a:p>
            <a:pPr marL="0" lvl="1" indent="0">
              <a:buFont typeface="Arial" panose="020B0604020202020204" pitchFamily="34" charset="0"/>
              <a:buNone/>
            </a:pPr>
            <a:r>
              <a:rPr lang="en-US"/>
              <a:t>Segmentation divides the network into isolated zones based on device type and risk profile to enhance security.</a:t>
            </a:r>
          </a:p>
          <a:p>
            <a:pPr marL="0" indent="0">
              <a:spcBef>
                <a:spcPts val="2500"/>
              </a:spcBef>
              <a:buFont typeface="Arial" panose="020B0604020202020204" pitchFamily="34" charset="0"/>
              <a:buNone/>
            </a:pPr>
            <a:r>
              <a:rPr lang="en-US" b="1"/>
              <a:t>Reduced Attack Surface</a:t>
            </a:r>
          </a:p>
          <a:p>
            <a:pPr marL="0" lvl="1" indent="0">
              <a:buFont typeface="Arial" panose="020B0604020202020204" pitchFamily="34" charset="0"/>
              <a:buNone/>
            </a:pPr>
            <a:r>
              <a:rPr lang="en-US"/>
              <a:t>Separating network segments limits lateral movement and reduces the overall attack surface of the network.</a:t>
            </a:r>
          </a:p>
          <a:p>
            <a:pPr marL="0" indent="0">
              <a:spcBef>
                <a:spcPts val="2500"/>
              </a:spcBef>
              <a:buFont typeface="Arial" panose="020B0604020202020204" pitchFamily="34" charset="0"/>
              <a:buNone/>
            </a:pPr>
            <a:r>
              <a:rPr lang="en-US" b="1"/>
              <a:t>Improved Network Performance</a:t>
            </a:r>
          </a:p>
          <a:p>
            <a:pPr marL="0" lvl="1" indent="0">
              <a:buFont typeface="Arial" panose="020B0604020202020204" pitchFamily="34" charset="0"/>
              <a:buNone/>
            </a:pPr>
            <a:r>
              <a:rPr lang="en-US"/>
              <a:t>Segmenting networks isolates broadcast domains, improving overall network performance and efficiency.</a:t>
            </a:r>
          </a:p>
          <a:p>
            <a:pPr marL="0" indent="0">
              <a:spcBef>
                <a:spcPts val="2500"/>
              </a:spcBef>
              <a:buFont typeface="Arial" panose="020B0604020202020204" pitchFamily="34" charset="0"/>
              <a:buNone/>
            </a:pPr>
            <a:r>
              <a:rPr lang="en-US" b="1"/>
              <a:t>Simplified Access Controls</a:t>
            </a:r>
          </a:p>
          <a:p>
            <a:pPr marL="0" lvl="1" indent="0">
              <a:buFont typeface="Arial" panose="020B0604020202020204" pitchFamily="34" charset="0"/>
              <a:buNone/>
            </a:pPr>
            <a:r>
              <a:rPr lang="en-US"/>
              <a:t>Segmentation enables simpler and specific firewall policies, restricting access by network segment.</a:t>
            </a:r>
          </a:p>
        </p:txBody>
      </p:sp>
    </p:spTree>
    <p:extLst>
      <p:ext uri="{BB962C8B-B14F-4D97-AF65-F5344CB8AC3E}">
        <p14:creationId xmlns:p14="http://schemas.microsoft.com/office/powerpoint/2010/main" val="34571976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1676C-3769-3E45-DA74-C728F83B6C56}"/>
              </a:ext>
            </a:extLst>
          </p:cNvPr>
          <p:cNvSpPr>
            <a:spLocks noGrp="1"/>
          </p:cNvSpPr>
          <p:nvPr>
            <p:ph type="title"/>
          </p:nvPr>
        </p:nvSpPr>
        <p:spPr>
          <a:xfrm>
            <a:off x="612648" y="502920"/>
            <a:ext cx="4669536" cy="1453896"/>
          </a:xfrm>
        </p:spPr>
        <p:txBody>
          <a:bodyPr anchor="t">
            <a:normAutofit/>
          </a:bodyPr>
          <a:lstStyle/>
          <a:p>
            <a:r>
              <a:rPr lang="en-US"/>
              <a:t>Access Management and RBAC</a:t>
            </a:r>
          </a:p>
        </p:txBody>
      </p:sp>
      <p:pic>
        <p:nvPicPr>
          <p:cNvPr id="5" name="Content Placeholder 4" descr="Digital Abstract Artificial Inteligence and Business Background Concept">
            <a:extLst>
              <a:ext uri="{FF2B5EF4-FFF2-40B4-BE49-F238E27FC236}">
                <a16:creationId xmlns:a16="http://schemas.microsoft.com/office/drawing/2014/main" id="{E05A3EF8-9AA3-4DF5-8C35-A0E511A52907}"/>
              </a:ext>
            </a:extLst>
          </p:cNvPr>
          <p:cNvPicPr>
            <a:picLocks noGrp="1" noChangeAspect="1"/>
          </p:cNvPicPr>
          <p:nvPr>
            <p:ph type="pic" sz="quarter" idx="15"/>
          </p:nvPr>
        </p:nvPicPr>
        <p:blipFill>
          <a:blip r:embed="rId3"/>
          <a:srcRect l="23195" r="11541"/>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23AC796A-AEE5-C59C-04A5-BC178B001F9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Role-Based Access Control</a:t>
            </a:r>
          </a:p>
          <a:p>
            <a:pPr marL="0" lvl="1" indent="0">
              <a:buFont typeface="Arial" panose="020B0604020202020204" pitchFamily="34" charset="0"/>
              <a:buNone/>
            </a:pPr>
            <a:r>
              <a:rPr lang="en-US"/>
              <a:t>RBAC assigns permissions to groups instead of individual users, simplifying access management and enhancing security.</a:t>
            </a:r>
          </a:p>
          <a:p>
            <a:pPr marL="0" indent="0">
              <a:spcBef>
                <a:spcPts val="2500"/>
              </a:spcBef>
              <a:buFont typeface="Arial" panose="020B0604020202020204" pitchFamily="34" charset="0"/>
              <a:buNone/>
            </a:pPr>
            <a:r>
              <a:rPr lang="en-US" b="1"/>
              <a:t>Simplified Onboarding and Offboarding</a:t>
            </a:r>
          </a:p>
          <a:p>
            <a:pPr marL="0" lvl="1" indent="0">
              <a:buFont typeface="Arial" panose="020B0604020202020204" pitchFamily="34" charset="0"/>
              <a:buNone/>
            </a:pPr>
            <a:r>
              <a:rPr lang="en-US"/>
              <a:t>Adjusting group memberships streamlines user onboarding and offboarding processes effectively.</a:t>
            </a:r>
          </a:p>
          <a:p>
            <a:pPr marL="0" indent="0">
              <a:spcBef>
                <a:spcPts val="2500"/>
              </a:spcBef>
              <a:buFont typeface="Arial" panose="020B0604020202020204" pitchFamily="34" charset="0"/>
              <a:buNone/>
            </a:pPr>
            <a:r>
              <a:rPr lang="en-US" b="1"/>
              <a:t>Separation of Administrative Accounts</a:t>
            </a:r>
          </a:p>
          <a:p>
            <a:pPr marL="0" lvl="1" indent="0">
              <a:buFont typeface="Arial" panose="020B0604020202020204" pitchFamily="34" charset="0"/>
              <a:buNone/>
            </a:pPr>
            <a:r>
              <a:rPr lang="en-US"/>
              <a:t>Separate administrative and day-to-day accounts to reduce security risks and limit exposure.</a:t>
            </a:r>
          </a:p>
          <a:p>
            <a:pPr marL="0" indent="0">
              <a:spcBef>
                <a:spcPts val="2500"/>
              </a:spcBef>
              <a:buFont typeface="Arial" panose="020B0604020202020204" pitchFamily="34" charset="0"/>
              <a:buNone/>
            </a:pPr>
            <a:r>
              <a:rPr lang="en-US" b="1"/>
              <a:t>Principle of Least Privilege</a:t>
            </a:r>
          </a:p>
          <a:p>
            <a:pPr marL="0" lvl="1" indent="0">
              <a:buFont typeface="Arial" panose="020B0604020202020204" pitchFamily="34" charset="0"/>
              <a:buNone/>
            </a:pPr>
            <a:r>
              <a:rPr lang="en-US"/>
              <a:t>Enforcing least privilege restricts access to only what is necessary, improving security and clarity.</a:t>
            </a:r>
          </a:p>
        </p:txBody>
      </p:sp>
    </p:spTree>
    <p:extLst>
      <p:ext uri="{BB962C8B-B14F-4D97-AF65-F5344CB8AC3E}">
        <p14:creationId xmlns:p14="http://schemas.microsoft.com/office/powerpoint/2010/main" val="30809761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85876-D36E-9A5B-BC3E-DDC2E188306E}"/>
              </a:ext>
            </a:extLst>
          </p:cNvPr>
          <p:cNvSpPr>
            <a:spLocks noGrp="1"/>
          </p:cNvSpPr>
          <p:nvPr>
            <p:ph type="title"/>
          </p:nvPr>
        </p:nvSpPr>
        <p:spPr>
          <a:xfrm>
            <a:off x="612648" y="2093976"/>
            <a:ext cx="8229600" cy="4178808"/>
          </a:xfrm>
        </p:spPr>
        <p:txBody>
          <a:bodyPr anchor="b">
            <a:normAutofit/>
          </a:bodyPr>
          <a:lstStyle/>
          <a:p>
            <a:r>
              <a:rPr lang="en-US"/>
              <a:t>Data Storage and Business Continuity</a:t>
            </a:r>
          </a:p>
        </p:txBody>
      </p:sp>
    </p:spTree>
    <p:extLst>
      <p:ext uri="{BB962C8B-B14F-4D97-AF65-F5344CB8AC3E}">
        <p14:creationId xmlns:p14="http://schemas.microsoft.com/office/powerpoint/2010/main" val="10010604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593C8-E7ED-2E83-A330-17CDB5C7C3FB}"/>
              </a:ext>
            </a:extLst>
          </p:cNvPr>
          <p:cNvSpPr>
            <a:spLocks noGrp="1"/>
          </p:cNvSpPr>
          <p:nvPr>
            <p:ph type="title"/>
          </p:nvPr>
        </p:nvSpPr>
        <p:spPr>
          <a:xfrm>
            <a:off x="612648" y="502920"/>
            <a:ext cx="4669536" cy="1453896"/>
          </a:xfrm>
        </p:spPr>
        <p:txBody>
          <a:bodyPr anchor="t">
            <a:normAutofit/>
          </a:bodyPr>
          <a:lstStyle/>
          <a:p>
            <a:r>
              <a:rPr lang="en-US"/>
              <a:t>NAS Storage Architecture</a:t>
            </a:r>
          </a:p>
        </p:txBody>
      </p:sp>
      <p:pic>
        <p:nvPicPr>
          <p:cNvPr id="5" name="Content Placeholder 4" descr="A line of powerful desktop and laptop computers.See all my">
            <a:extLst>
              <a:ext uri="{FF2B5EF4-FFF2-40B4-BE49-F238E27FC236}">
                <a16:creationId xmlns:a16="http://schemas.microsoft.com/office/drawing/2014/main" id="{9791E9C4-2BC4-422D-A395-B851967387F6}"/>
              </a:ext>
            </a:extLst>
          </p:cNvPr>
          <p:cNvPicPr>
            <a:picLocks noGrp="1" noChangeAspect="1"/>
          </p:cNvPicPr>
          <p:nvPr>
            <p:ph type="pic" sz="quarter" idx="15"/>
          </p:nvPr>
        </p:nvPicPr>
        <p:blipFill>
          <a:blip r:embed="rId3"/>
          <a:srcRect l="9581" r="9198" b="-3"/>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59A589BE-ABE7-8511-2F68-8DA2FFC7EED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Centralized Data Storage</a:t>
            </a:r>
          </a:p>
          <a:p>
            <a:pPr marL="0" lvl="1" indent="0">
              <a:buFont typeface="Arial" panose="020B0604020202020204" pitchFamily="34" charset="0"/>
              <a:buNone/>
            </a:pPr>
            <a:r>
              <a:rPr lang="en-US"/>
              <a:t>NAS centralizes all company data under a single root directory with organized subfolders, enhancing data organization.</a:t>
            </a:r>
          </a:p>
          <a:p>
            <a:pPr marL="0" indent="0">
              <a:spcBef>
                <a:spcPts val="2500"/>
              </a:spcBef>
              <a:buFont typeface="Arial" panose="020B0604020202020204" pitchFamily="34" charset="0"/>
              <a:buNone/>
            </a:pPr>
            <a:r>
              <a:rPr lang="en-US" b="1"/>
              <a:t>Access Control and Security</a:t>
            </a:r>
          </a:p>
          <a:p>
            <a:pPr marL="0" lvl="1" indent="0">
              <a:buFont typeface="Arial" panose="020B0604020202020204" pitchFamily="34" charset="0"/>
              <a:buNone/>
            </a:pPr>
            <a:r>
              <a:rPr lang="en-US"/>
              <a:t>Sensitive departments like Finance and HR are logically isolated to ensure confidentiality and secure access control.</a:t>
            </a:r>
          </a:p>
          <a:p>
            <a:pPr marL="0" indent="0">
              <a:spcBef>
                <a:spcPts val="2500"/>
              </a:spcBef>
              <a:buFont typeface="Arial" panose="020B0604020202020204" pitchFamily="34" charset="0"/>
              <a:buNone/>
            </a:pPr>
            <a:r>
              <a:rPr lang="en-US" b="1"/>
              <a:t>Backup and Recovery</a:t>
            </a:r>
          </a:p>
          <a:p>
            <a:pPr marL="0" lvl="1" indent="0">
              <a:buFont typeface="Arial" panose="020B0604020202020204" pitchFamily="34" charset="0"/>
              <a:buNone/>
            </a:pPr>
            <a:r>
              <a:rPr lang="en-US"/>
              <a:t>NAS functions as a local backup target, enabling quick recovery from accidental deletions or minor incidents.</a:t>
            </a:r>
          </a:p>
          <a:p>
            <a:pPr marL="0" indent="0">
              <a:spcBef>
                <a:spcPts val="2500"/>
              </a:spcBef>
              <a:buFont typeface="Arial" panose="020B0604020202020204" pitchFamily="34" charset="0"/>
              <a:buNone/>
            </a:pPr>
            <a:r>
              <a:rPr lang="en-US" b="1"/>
              <a:t>Reduced Data Sprawl</a:t>
            </a:r>
          </a:p>
          <a:p>
            <a:pPr marL="0" lvl="1" indent="0">
              <a:buFont typeface="Arial" panose="020B0604020202020204" pitchFamily="34" charset="0"/>
              <a:buNone/>
            </a:pPr>
            <a:r>
              <a:rPr lang="en-US"/>
              <a:t>Centralizing storage reduces data sprawl and improves visibility of critical information locations within the organization.</a:t>
            </a:r>
          </a:p>
        </p:txBody>
      </p:sp>
    </p:spTree>
    <p:extLst>
      <p:ext uri="{BB962C8B-B14F-4D97-AF65-F5344CB8AC3E}">
        <p14:creationId xmlns:p14="http://schemas.microsoft.com/office/powerpoint/2010/main" val="37396630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E469B-C857-7350-EFEE-17577A1573B5}"/>
              </a:ext>
            </a:extLst>
          </p:cNvPr>
          <p:cNvSpPr>
            <a:spLocks noGrp="1"/>
          </p:cNvSpPr>
          <p:nvPr>
            <p:ph type="title"/>
          </p:nvPr>
        </p:nvSpPr>
        <p:spPr>
          <a:xfrm>
            <a:off x="612648" y="502920"/>
            <a:ext cx="4669536" cy="1453896"/>
          </a:xfrm>
        </p:spPr>
        <p:txBody>
          <a:bodyPr anchor="t">
            <a:normAutofit/>
          </a:bodyPr>
          <a:lstStyle/>
          <a:p>
            <a:r>
              <a:rPr lang="en-US"/>
              <a:t>Folder Structure and Data Governance</a:t>
            </a:r>
          </a:p>
        </p:txBody>
      </p:sp>
      <p:pic>
        <p:nvPicPr>
          <p:cNvPr id="5" name="Content Placeholder 4" descr="Document folder file cloud computing computer network security">
            <a:extLst>
              <a:ext uri="{FF2B5EF4-FFF2-40B4-BE49-F238E27FC236}">
                <a16:creationId xmlns:a16="http://schemas.microsoft.com/office/drawing/2014/main" id="{AFE4D93C-1F36-496E-833F-150BA66C1902}"/>
              </a:ext>
            </a:extLst>
          </p:cNvPr>
          <p:cNvPicPr>
            <a:picLocks noGrp="1" noChangeAspect="1"/>
          </p:cNvPicPr>
          <p:nvPr>
            <p:ph type="pic" sz="quarter" idx="15"/>
          </p:nvPr>
        </p:nvPicPr>
        <p:blipFill>
          <a:blip r:embed="rId3"/>
          <a:srcRect l="13994" r="8558" b="-2"/>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02312466-29AB-8B13-7590-D9A731FF93C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Standardized Folder Structure</a:t>
            </a:r>
          </a:p>
          <a:p>
            <a:pPr marL="0" lvl="1" indent="0">
              <a:buFont typeface="Arial" panose="020B0604020202020204" pitchFamily="34" charset="0"/>
              <a:buNone/>
            </a:pPr>
            <a:r>
              <a:rPr lang="en-US"/>
              <a:t>A clear directory hierarchy reduces misfiling and accidental data exposure by specifying allowed data types per folder.</a:t>
            </a:r>
          </a:p>
          <a:p>
            <a:pPr marL="0" indent="0">
              <a:spcBef>
                <a:spcPts val="2500"/>
              </a:spcBef>
              <a:buFont typeface="Arial" panose="020B0604020202020204" pitchFamily="34" charset="0"/>
              <a:buNone/>
            </a:pPr>
            <a:r>
              <a:rPr lang="en-US" b="1"/>
              <a:t>Naming Conventions</a:t>
            </a:r>
          </a:p>
          <a:p>
            <a:pPr marL="0" lvl="1" indent="0">
              <a:buFont typeface="Arial" panose="020B0604020202020204" pitchFamily="34" charset="0"/>
              <a:buNone/>
            </a:pPr>
            <a:r>
              <a:rPr lang="en-US"/>
              <a:t>Consistent naming conventions ensure compatibility with automation tools and simplify data management.</a:t>
            </a:r>
          </a:p>
          <a:p>
            <a:pPr marL="0" indent="0">
              <a:spcBef>
                <a:spcPts val="2500"/>
              </a:spcBef>
              <a:buFont typeface="Arial" panose="020B0604020202020204" pitchFamily="34" charset="0"/>
              <a:buNone/>
            </a:pPr>
            <a:r>
              <a:rPr lang="en-US" b="1"/>
              <a:t>Roles and Responsibilities</a:t>
            </a:r>
          </a:p>
          <a:p>
            <a:pPr marL="0" lvl="1" indent="0">
              <a:buFont typeface="Arial" panose="020B0604020202020204" pitchFamily="34" charset="0"/>
              <a:buNone/>
            </a:pPr>
            <a:r>
              <a:rPr lang="en-US"/>
              <a:t>Department managers act as data owners while IT oversees infrastructure to maintain data governance.</a:t>
            </a:r>
          </a:p>
          <a:p>
            <a:pPr marL="0" indent="0">
              <a:spcBef>
                <a:spcPts val="2500"/>
              </a:spcBef>
              <a:buFont typeface="Arial" panose="020B0604020202020204" pitchFamily="34" charset="0"/>
              <a:buNone/>
            </a:pPr>
            <a:r>
              <a:rPr lang="en-US" b="1"/>
              <a:t>Archival and Compliance</a:t>
            </a:r>
          </a:p>
          <a:p>
            <a:pPr marL="0" lvl="1" indent="0">
              <a:buFont typeface="Arial" panose="020B0604020202020204" pitchFamily="34" charset="0"/>
              <a:buNone/>
            </a:pPr>
            <a:r>
              <a:rPr lang="en-US"/>
              <a:t>Archival directories store historical data in read-only format to support compliance and lifecycle management.</a:t>
            </a:r>
          </a:p>
        </p:txBody>
      </p:sp>
    </p:spTree>
    <p:extLst>
      <p:ext uri="{BB962C8B-B14F-4D97-AF65-F5344CB8AC3E}">
        <p14:creationId xmlns:p14="http://schemas.microsoft.com/office/powerpoint/2010/main" val="2297809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B2547-1FF0-3537-7402-C6187D151C38}"/>
              </a:ext>
            </a:extLst>
          </p:cNvPr>
          <p:cNvSpPr>
            <a:spLocks noGrp="1"/>
          </p:cNvSpPr>
          <p:nvPr>
            <p:ph type="title"/>
          </p:nvPr>
        </p:nvSpPr>
        <p:spPr>
          <a:xfrm>
            <a:off x="612648" y="502920"/>
            <a:ext cx="4669536" cy="1453896"/>
          </a:xfrm>
        </p:spPr>
        <p:txBody>
          <a:bodyPr anchor="t">
            <a:normAutofit/>
          </a:bodyPr>
          <a:lstStyle/>
          <a:p>
            <a:r>
              <a:rPr lang="en-US"/>
              <a:t>Business Continuity Strategy</a:t>
            </a:r>
          </a:p>
        </p:txBody>
      </p:sp>
      <p:pic>
        <p:nvPicPr>
          <p:cNvPr id="5" name="Content Placeholder 4" descr="technology and innovation concept">
            <a:extLst>
              <a:ext uri="{FF2B5EF4-FFF2-40B4-BE49-F238E27FC236}">
                <a16:creationId xmlns:a16="http://schemas.microsoft.com/office/drawing/2014/main" id="{49FC057B-A562-4F5D-81DC-74672FAC4633}"/>
              </a:ext>
            </a:extLst>
          </p:cNvPr>
          <p:cNvPicPr>
            <a:picLocks noGrp="1" noChangeAspect="1"/>
          </p:cNvPicPr>
          <p:nvPr>
            <p:ph type="pic" sz="quarter" idx="15"/>
          </p:nvPr>
        </p:nvPicPr>
        <p:blipFill>
          <a:blip r:embed="rId3"/>
          <a:srcRect l="6350" r="6630" b="-2"/>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D91D3D8E-4BD2-1B26-41A2-3683E3AB25B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Ensuring Operational Continuity</a:t>
            </a:r>
          </a:p>
          <a:p>
            <a:pPr marL="0" lvl="1" indent="0">
              <a:buFont typeface="Arial" panose="020B0604020202020204" pitchFamily="34" charset="0"/>
              <a:buNone/>
            </a:pPr>
            <a:r>
              <a:rPr lang="en-US"/>
              <a:t>Business continuity enables ongoing operations despite disruptions like hardware failures or cyber incidents.</a:t>
            </a:r>
          </a:p>
          <a:p>
            <a:pPr marL="0" indent="0">
              <a:spcBef>
                <a:spcPts val="2500"/>
              </a:spcBef>
              <a:buFont typeface="Arial" panose="020B0604020202020204" pitchFamily="34" charset="0"/>
              <a:buNone/>
            </a:pPr>
            <a:r>
              <a:rPr lang="en-US" b="1"/>
              <a:t>Key Elements of Strategy</a:t>
            </a:r>
          </a:p>
          <a:p>
            <a:pPr marL="0" lvl="1" indent="0">
              <a:buFont typeface="Arial" panose="020B0604020202020204" pitchFamily="34" charset="0"/>
              <a:buNone/>
            </a:pPr>
            <a:r>
              <a:rPr lang="en-US"/>
              <a:t>Includes redundant connectivity, UPS protection, and documented recovery procedures for reliability.</a:t>
            </a:r>
          </a:p>
          <a:p>
            <a:pPr marL="0" indent="0">
              <a:spcBef>
                <a:spcPts val="2500"/>
              </a:spcBef>
              <a:buFont typeface="Arial" panose="020B0604020202020204" pitchFamily="34" charset="0"/>
              <a:buNone/>
            </a:pPr>
            <a:r>
              <a:rPr lang="en-US" b="1"/>
              <a:t>Prioritizing Critical Systems</a:t>
            </a:r>
          </a:p>
          <a:p>
            <a:pPr marL="0" lvl="1" indent="0">
              <a:buFont typeface="Arial" panose="020B0604020202020204" pitchFamily="34" charset="0"/>
              <a:buNone/>
            </a:pPr>
            <a:r>
              <a:rPr lang="en-US"/>
              <a:t>Identifying critical systems and recovery times ensures effective resource allocation during incidents.</a:t>
            </a:r>
          </a:p>
          <a:p>
            <a:pPr marL="0" indent="0">
              <a:spcBef>
                <a:spcPts val="2500"/>
              </a:spcBef>
              <a:buFont typeface="Arial" panose="020B0604020202020204" pitchFamily="34" charset="0"/>
              <a:buNone/>
            </a:pPr>
            <a:r>
              <a:rPr lang="en-US" b="1"/>
              <a:t>Benefits of Planning</a:t>
            </a:r>
          </a:p>
          <a:p>
            <a:pPr marL="0" lvl="1" indent="0">
              <a:buFont typeface="Arial" panose="020B0604020202020204" pitchFamily="34" charset="0"/>
              <a:buNone/>
            </a:pPr>
            <a:r>
              <a:rPr lang="en-US"/>
              <a:t>Reduces downtime, protects revenue, and maintains customer confidence as part of IT strategy.</a:t>
            </a:r>
          </a:p>
        </p:txBody>
      </p:sp>
    </p:spTree>
    <p:extLst>
      <p:ext uri="{BB962C8B-B14F-4D97-AF65-F5344CB8AC3E}">
        <p14:creationId xmlns:p14="http://schemas.microsoft.com/office/powerpoint/2010/main" val="41624131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A41F9-B829-97F0-C712-CEB9F8914C3E}"/>
              </a:ext>
            </a:extLst>
          </p:cNvPr>
          <p:cNvSpPr>
            <a:spLocks noGrp="1"/>
          </p:cNvSpPr>
          <p:nvPr>
            <p:ph type="title"/>
          </p:nvPr>
        </p:nvSpPr>
        <p:spPr>
          <a:xfrm>
            <a:off x="612648" y="502920"/>
            <a:ext cx="4669536" cy="1453896"/>
          </a:xfrm>
        </p:spPr>
        <p:txBody>
          <a:bodyPr anchor="t">
            <a:normAutofit/>
          </a:bodyPr>
          <a:lstStyle/>
          <a:p>
            <a:r>
              <a:rPr lang="en-US"/>
              <a:t>Backup and Disaster Recovery Framework</a:t>
            </a:r>
          </a:p>
        </p:txBody>
      </p:sp>
      <p:pic>
        <p:nvPicPr>
          <p:cNvPr id="5" name="Content Placeholder 4" descr="folders connected to a backup or sync HDD or a server..See this also:">
            <a:extLst>
              <a:ext uri="{FF2B5EF4-FFF2-40B4-BE49-F238E27FC236}">
                <a16:creationId xmlns:a16="http://schemas.microsoft.com/office/drawing/2014/main" id="{E8D54AC3-EAF3-42D6-BCDB-5D970E92E11A}"/>
              </a:ext>
            </a:extLst>
          </p:cNvPr>
          <p:cNvPicPr>
            <a:picLocks noGrp="1" noChangeAspect="1"/>
          </p:cNvPicPr>
          <p:nvPr>
            <p:ph type="pic" sz="quarter" idx="15"/>
          </p:nvPr>
        </p:nvPicPr>
        <p:blipFill>
          <a:blip r:embed="rId3"/>
          <a:srcRect r="1" b="6064"/>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AD9C1E61-B2D9-D903-F152-0AF60F50DC6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3-2-1-1 Backup Rule</a:t>
            </a:r>
          </a:p>
          <a:p>
            <a:pPr marL="0" lvl="1" indent="0">
              <a:buFont typeface="Arial" panose="020B0604020202020204" pitchFamily="34" charset="0"/>
              <a:buNone/>
            </a:pPr>
            <a:r>
              <a:rPr lang="en-US"/>
              <a:t>The 3-2-1-1 rule ensures multiple data copies on diverse media including off-site and immutable storage.</a:t>
            </a:r>
          </a:p>
          <a:p>
            <a:pPr marL="0" indent="0">
              <a:spcBef>
                <a:spcPts val="2500"/>
              </a:spcBef>
              <a:buFont typeface="Arial" panose="020B0604020202020204" pitchFamily="34" charset="0"/>
              <a:buNone/>
            </a:pPr>
            <a:r>
              <a:rPr lang="en-US" b="1"/>
              <a:t>Regular Backup Scheduling</a:t>
            </a:r>
          </a:p>
          <a:p>
            <a:pPr marL="0" lvl="1" indent="0">
              <a:buFont typeface="Arial" panose="020B0604020202020204" pitchFamily="34" charset="0"/>
              <a:buNone/>
            </a:pPr>
            <a:r>
              <a:rPr lang="en-US"/>
              <a:t>Consistent backup schedules help protect data from loss through regular and automated copies.</a:t>
            </a:r>
          </a:p>
          <a:p>
            <a:pPr marL="0" indent="0">
              <a:spcBef>
                <a:spcPts val="2500"/>
              </a:spcBef>
              <a:buFont typeface="Arial" panose="020B0604020202020204" pitchFamily="34" charset="0"/>
              <a:buNone/>
            </a:pPr>
            <a:r>
              <a:rPr lang="en-US" b="1"/>
              <a:t>Disaster Recovery Procedures</a:t>
            </a:r>
          </a:p>
          <a:p>
            <a:pPr marL="0" lvl="1" indent="0">
              <a:buFont typeface="Arial" panose="020B0604020202020204" pitchFamily="34" charset="0"/>
              <a:buNone/>
            </a:pPr>
            <a:r>
              <a:rPr lang="en-US"/>
              <a:t>Documented procedures guide controlled restoration of systems after data loss or catastrophic events.</a:t>
            </a:r>
          </a:p>
          <a:p>
            <a:pPr marL="0" indent="0">
              <a:spcBef>
                <a:spcPts val="2500"/>
              </a:spcBef>
              <a:buFont typeface="Arial" panose="020B0604020202020204" pitchFamily="34" charset="0"/>
              <a:buNone/>
            </a:pPr>
            <a:r>
              <a:rPr lang="en-US" b="1"/>
              <a:t>Testing and Verification</a:t>
            </a:r>
          </a:p>
          <a:p>
            <a:pPr marL="0" lvl="1" indent="0">
              <a:buFont typeface="Arial" panose="020B0604020202020204" pitchFamily="34" charset="0"/>
              <a:buNone/>
            </a:pPr>
            <a:r>
              <a:rPr lang="en-US"/>
              <a:t>Regular testing confirms backups are usable and recovery objectives can be reliably met.</a:t>
            </a:r>
          </a:p>
        </p:txBody>
      </p:sp>
    </p:spTree>
    <p:extLst>
      <p:ext uri="{BB962C8B-B14F-4D97-AF65-F5344CB8AC3E}">
        <p14:creationId xmlns:p14="http://schemas.microsoft.com/office/powerpoint/2010/main" val="2149427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A474E-2FBA-DCA6-FB92-541EFAD606E7}"/>
              </a:ext>
            </a:extLst>
          </p:cNvPr>
          <p:cNvSpPr>
            <a:spLocks noGrp="1"/>
          </p:cNvSpPr>
          <p:nvPr>
            <p:ph type="title"/>
          </p:nvPr>
        </p:nvSpPr>
        <p:spPr>
          <a:xfrm>
            <a:off x="612648" y="2093976"/>
            <a:ext cx="8229600" cy="4178808"/>
          </a:xfrm>
        </p:spPr>
        <p:txBody>
          <a:bodyPr anchor="b">
            <a:normAutofit/>
          </a:bodyPr>
          <a:lstStyle/>
          <a:p>
            <a:r>
              <a:rPr lang="en-US"/>
              <a:t>Cybersecurity and Risk Management</a:t>
            </a:r>
          </a:p>
        </p:txBody>
      </p:sp>
    </p:spTree>
    <p:extLst>
      <p:ext uri="{BB962C8B-B14F-4D97-AF65-F5344CB8AC3E}">
        <p14:creationId xmlns:p14="http://schemas.microsoft.com/office/powerpoint/2010/main" val="27960920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9598-A52A-297B-B5E3-C0FD69D407B6}"/>
              </a:ext>
            </a:extLst>
          </p:cNvPr>
          <p:cNvSpPr>
            <a:spLocks noGrp="1"/>
          </p:cNvSpPr>
          <p:nvPr>
            <p:ph type="title"/>
          </p:nvPr>
        </p:nvSpPr>
        <p:spPr>
          <a:xfrm>
            <a:off x="8165592" y="1008126"/>
            <a:ext cx="3401567" cy="1947672"/>
          </a:xfrm>
        </p:spPr>
        <p:txBody>
          <a:bodyPr anchor="b">
            <a:normAutofit/>
          </a:bodyPr>
          <a:lstStyle/>
          <a:p>
            <a:r>
              <a:rPr lang="en-US"/>
              <a:t>Cybersecurity Framework Overview</a:t>
            </a:r>
          </a:p>
        </p:txBody>
      </p:sp>
      <p:pic>
        <p:nvPicPr>
          <p:cNvPr id="5" name="Content Placeholder 4" descr="Transparent padlock">
            <a:extLst>
              <a:ext uri="{FF2B5EF4-FFF2-40B4-BE49-F238E27FC236}">
                <a16:creationId xmlns:a16="http://schemas.microsoft.com/office/drawing/2014/main" id="{23DE5905-3269-4EFA-B4AA-365DCB89E3EB}"/>
              </a:ext>
            </a:extLst>
          </p:cNvPr>
          <p:cNvPicPr>
            <a:picLocks noGrp="1" noChangeAspect="1"/>
          </p:cNvPicPr>
          <p:nvPr>
            <p:ph type="pic" sz="quarter" idx="15"/>
          </p:nvPr>
        </p:nvPicPr>
        <p:blipFill>
          <a:blip r:embed="rId3"/>
          <a:srcRect r="29348" b="2"/>
          <a:stretch>
            <a:fillRect/>
          </a:stretch>
        </p:blipFill>
        <p:spPr>
          <a:xfrm>
            <a:off x="115866" y="10"/>
            <a:ext cx="7397496" cy="6857990"/>
          </a:xfrm>
        </p:spPr>
      </p:pic>
      <p:sp>
        <p:nvSpPr>
          <p:cNvPr id="4" name="Content Placeholder 3">
            <a:extLst>
              <a:ext uri="{FF2B5EF4-FFF2-40B4-BE49-F238E27FC236}">
                <a16:creationId xmlns:a16="http://schemas.microsoft.com/office/drawing/2014/main" id="{1970EF62-803F-8FE5-C58A-6D319521885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65592" y="3099816"/>
            <a:ext cx="3401567" cy="3054096"/>
          </a:xfrm>
        </p:spPr>
        <p:txBody>
          <a:bodyPr>
            <a:normAutofit/>
          </a:bodyPr>
          <a:lstStyle/>
          <a:p>
            <a:pPr marL="0" indent="0">
              <a:lnSpc>
                <a:spcPct val="110000"/>
              </a:lnSpc>
              <a:spcBef>
                <a:spcPts val="2500"/>
              </a:spcBef>
              <a:buFont typeface="Arial" panose="020B0604020202020204" pitchFamily="34" charset="0"/>
              <a:buNone/>
            </a:pPr>
            <a:r>
              <a:rPr lang="en-US" sz="1000" b="1"/>
              <a:t>Framework Standards Alignment</a:t>
            </a:r>
          </a:p>
          <a:p>
            <a:pPr marL="0" lvl="1" indent="0">
              <a:lnSpc>
                <a:spcPct val="110000"/>
              </a:lnSpc>
              <a:buFont typeface="Arial" panose="020B0604020202020204" pitchFamily="34" charset="0"/>
              <a:buNone/>
            </a:pPr>
            <a:r>
              <a:rPr lang="en-US" sz="1000"/>
              <a:t>The framework aligns with ISO/IEC 27001 and NIST standards to provide a recognized cybersecurity structure.</a:t>
            </a:r>
          </a:p>
          <a:p>
            <a:pPr marL="0" indent="0">
              <a:lnSpc>
                <a:spcPct val="110000"/>
              </a:lnSpc>
              <a:spcBef>
                <a:spcPts val="2500"/>
              </a:spcBef>
              <a:buFont typeface="Arial" panose="020B0604020202020204" pitchFamily="34" charset="0"/>
              <a:buNone/>
            </a:pPr>
            <a:r>
              <a:rPr lang="en-US" sz="1000" b="1"/>
              <a:t>Core Cybersecurity Functions</a:t>
            </a:r>
          </a:p>
          <a:p>
            <a:pPr marL="0" lvl="1" indent="0">
              <a:lnSpc>
                <a:spcPct val="110000"/>
              </a:lnSpc>
              <a:buFont typeface="Arial" panose="020B0604020202020204" pitchFamily="34" charset="0"/>
              <a:buNone/>
            </a:pPr>
            <a:r>
              <a:rPr lang="en-US" sz="1000"/>
              <a:t>It involves identifying, protecting, detecting, responding, and recovering from cyber threats systematically.</a:t>
            </a:r>
          </a:p>
          <a:p>
            <a:pPr marL="0" indent="0">
              <a:lnSpc>
                <a:spcPct val="110000"/>
              </a:lnSpc>
              <a:spcBef>
                <a:spcPts val="2500"/>
              </a:spcBef>
              <a:buFont typeface="Arial" panose="020B0604020202020204" pitchFamily="34" charset="0"/>
              <a:buNone/>
            </a:pPr>
            <a:r>
              <a:rPr lang="en-US" sz="1000" b="1"/>
              <a:t>Defense in Depth Strategy</a:t>
            </a:r>
          </a:p>
          <a:p>
            <a:pPr marL="0" lvl="1" indent="0">
              <a:lnSpc>
                <a:spcPct val="110000"/>
              </a:lnSpc>
              <a:buFont typeface="Arial" panose="020B0604020202020204" pitchFamily="34" charset="0"/>
              <a:buNone/>
            </a:pPr>
            <a:r>
              <a:rPr lang="en-US" sz="1000"/>
              <a:t>Policies, technical controls, and user awareness combine to ensure comprehensive protection against failures.</a:t>
            </a:r>
          </a:p>
        </p:txBody>
      </p:sp>
    </p:spTree>
    <p:extLst>
      <p:ext uri="{BB962C8B-B14F-4D97-AF65-F5344CB8AC3E}">
        <p14:creationId xmlns:p14="http://schemas.microsoft.com/office/powerpoint/2010/main" val="14834708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C094B-8BD2-1365-19F5-ACC3AFC22725}"/>
              </a:ext>
            </a:extLst>
          </p:cNvPr>
          <p:cNvSpPr>
            <a:spLocks noGrp="1"/>
          </p:cNvSpPr>
          <p:nvPr>
            <p:ph type="title"/>
          </p:nvPr>
        </p:nvSpPr>
        <p:spPr>
          <a:xfrm>
            <a:off x="612648" y="502920"/>
            <a:ext cx="4669536" cy="1453896"/>
          </a:xfrm>
        </p:spPr>
        <p:txBody>
          <a:bodyPr anchor="t">
            <a:normAutofit/>
          </a:bodyPr>
          <a:lstStyle/>
          <a:p>
            <a:r>
              <a:rPr lang="en-US"/>
              <a:t>Security Policies and Controls</a:t>
            </a:r>
          </a:p>
        </p:txBody>
      </p:sp>
      <p:pic>
        <p:nvPicPr>
          <p:cNvPr id="5" name="Content Placeholder 4" descr="Digital concept which shows abstract network and concept of security optimization and internet technology  ">
            <a:extLst>
              <a:ext uri="{FF2B5EF4-FFF2-40B4-BE49-F238E27FC236}">
                <a16:creationId xmlns:a16="http://schemas.microsoft.com/office/drawing/2014/main" id="{351DFD9B-A503-4568-A846-2190F5E20CFB}"/>
              </a:ext>
            </a:extLst>
          </p:cNvPr>
          <p:cNvPicPr>
            <a:picLocks noGrp="1" noChangeAspect="1"/>
          </p:cNvPicPr>
          <p:nvPr>
            <p:ph type="pic" sz="quarter" idx="15"/>
          </p:nvPr>
        </p:nvPicPr>
        <p:blipFill>
          <a:blip r:embed="rId3"/>
          <a:srcRect l="10566" r="14016" b="-1"/>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15C8689E-7E04-E8F7-056B-F65D9F772E7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Defining Security Policies</a:t>
            </a:r>
          </a:p>
          <a:p>
            <a:pPr marL="0" lvl="1" indent="0">
              <a:buFont typeface="Arial" panose="020B0604020202020204" pitchFamily="34" charset="0"/>
              <a:buNone/>
            </a:pPr>
            <a:r>
              <a:rPr lang="en-US"/>
              <a:t>Security policies specify acceptable use, password rules, device security, and data handling protocols.</a:t>
            </a:r>
          </a:p>
          <a:p>
            <a:pPr marL="0" indent="0">
              <a:spcBef>
                <a:spcPts val="2500"/>
              </a:spcBef>
              <a:buFont typeface="Arial" panose="020B0604020202020204" pitchFamily="34" charset="0"/>
              <a:buNone/>
            </a:pPr>
            <a:r>
              <a:rPr lang="en-US" b="1"/>
              <a:t>Technical Security Controls</a:t>
            </a:r>
          </a:p>
          <a:p>
            <a:pPr marL="0" lvl="1" indent="0">
              <a:buFont typeface="Arial" panose="020B0604020202020204" pitchFamily="34" charset="0"/>
              <a:buNone/>
            </a:pPr>
            <a:r>
              <a:rPr lang="en-US"/>
              <a:t>Controls like firewalls, endpoint detection, and encryption enforce security policies in real time.</a:t>
            </a:r>
          </a:p>
          <a:p>
            <a:pPr marL="0" indent="0">
              <a:spcBef>
                <a:spcPts val="2500"/>
              </a:spcBef>
              <a:buFont typeface="Arial" panose="020B0604020202020204" pitchFamily="34" charset="0"/>
              <a:buNone/>
            </a:pPr>
            <a:r>
              <a:rPr lang="en-US" b="1"/>
              <a:t>Ongoing Policy Review</a:t>
            </a:r>
          </a:p>
          <a:p>
            <a:pPr marL="0" lvl="1" indent="0">
              <a:buFont typeface="Arial" panose="020B0604020202020204" pitchFamily="34" charset="0"/>
              <a:buNone/>
            </a:pPr>
            <a:r>
              <a:rPr lang="en-US"/>
              <a:t>Regular reviews ensure security controls adapt effectively to evolving cyber threats.</a:t>
            </a:r>
          </a:p>
          <a:p>
            <a:pPr marL="0" indent="0">
              <a:spcBef>
                <a:spcPts val="2500"/>
              </a:spcBef>
              <a:buFont typeface="Arial" panose="020B0604020202020204" pitchFamily="34" charset="0"/>
              <a:buNone/>
            </a:pPr>
            <a:r>
              <a:rPr lang="en-US" b="1"/>
              <a:t>Communication and Compliance</a:t>
            </a:r>
          </a:p>
          <a:p>
            <a:pPr marL="0" lvl="1" indent="0">
              <a:buFont typeface="Arial" panose="020B0604020202020204" pitchFamily="34" charset="0"/>
              <a:buNone/>
            </a:pPr>
            <a:r>
              <a:rPr lang="en-US"/>
              <a:t>Clear communication and enforcement reduce risks of security incidents from human errors.</a:t>
            </a:r>
          </a:p>
        </p:txBody>
      </p:sp>
    </p:spTree>
    <p:extLst>
      <p:ext uri="{BB962C8B-B14F-4D97-AF65-F5344CB8AC3E}">
        <p14:creationId xmlns:p14="http://schemas.microsoft.com/office/powerpoint/2010/main" val="3284653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53B96-E97E-2827-D1A4-DEEEFA32232E}"/>
              </a:ext>
            </a:extLst>
          </p:cNvPr>
          <p:cNvSpPr>
            <a:spLocks noGrp="1"/>
          </p:cNvSpPr>
          <p:nvPr>
            <p:ph type="title"/>
          </p:nvPr>
        </p:nvSpPr>
        <p:spPr>
          <a:xfrm>
            <a:off x="8165592" y="1008126"/>
            <a:ext cx="3401567" cy="1947672"/>
          </a:xfrm>
        </p:spPr>
        <p:txBody>
          <a:bodyPr anchor="b">
            <a:normAutofit/>
          </a:bodyPr>
          <a:lstStyle/>
          <a:p>
            <a:r>
              <a:rPr lang="en-US"/>
              <a:t>Risk Management and Threat Landscape</a:t>
            </a:r>
          </a:p>
        </p:txBody>
      </p:sp>
      <p:pic>
        <p:nvPicPr>
          <p:cNvPr id="5" name="Content Placeholder 4" descr="Abstract  Digital concept which shows network security optimization and internet technology  ">
            <a:extLst>
              <a:ext uri="{FF2B5EF4-FFF2-40B4-BE49-F238E27FC236}">
                <a16:creationId xmlns:a16="http://schemas.microsoft.com/office/drawing/2014/main" id="{99F2BCEF-88EE-454C-ABB0-CEC3EE3C0B19}"/>
              </a:ext>
            </a:extLst>
          </p:cNvPr>
          <p:cNvPicPr>
            <a:picLocks noGrp="1" noChangeAspect="1"/>
          </p:cNvPicPr>
          <p:nvPr>
            <p:ph type="pic" sz="quarter" idx="15"/>
          </p:nvPr>
        </p:nvPicPr>
        <p:blipFill>
          <a:blip r:embed="rId3"/>
          <a:srcRect r="19100"/>
          <a:stretch>
            <a:fillRect/>
          </a:stretch>
        </p:blipFill>
        <p:spPr>
          <a:xfrm>
            <a:off x="115866" y="10"/>
            <a:ext cx="7397496" cy="6857990"/>
          </a:xfrm>
        </p:spPr>
      </p:pic>
      <p:sp>
        <p:nvSpPr>
          <p:cNvPr id="4" name="Content Placeholder 3">
            <a:extLst>
              <a:ext uri="{FF2B5EF4-FFF2-40B4-BE49-F238E27FC236}">
                <a16:creationId xmlns:a16="http://schemas.microsoft.com/office/drawing/2014/main" id="{4B3E4619-5138-9DD3-8842-D30E92DBC92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65592" y="3099816"/>
            <a:ext cx="3401567" cy="3054096"/>
          </a:xfrm>
        </p:spPr>
        <p:txBody>
          <a:bodyPr>
            <a:normAutofit/>
          </a:bodyPr>
          <a:lstStyle/>
          <a:p>
            <a:pPr marL="0" indent="0">
              <a:lnSpc>
                <a:spcPct val="110000"/>
              </a:lnSpc>
              <a:spcBef>
                <a:spcPts val="2500"/>
              </a:spcBef>
              <a:buFont typeface="Arial" panose="020B0604020202020204" pitchFamily="34" charset="0"/>
              <a:buNone/>
            </a:pPr>
            <a:r>
              <a:rPr lang="en-US" sz="1100" b="1"/>
              <a:t>Threat Identification</a:t>
            </a:r>
          </a:p>
          <a:p>
            <a:pPr marL="0" lvl="1" indent="0">
              <a:lnSpc>
                <a:spcPct val="110000"/>
              </a:lnSpc>
              <a:buFont typeface="Arial" panose="020B0604020202020204" pitchFamily="34" charset="0"/>
              <a:buNone/>
            </a:pPr>
            <a:r>
              <a:rPr lang="en-US" sz="1100"/>
              <a:t>Identify various threats like phishing, ransomware, insider misuse, and device theft to understand potential risks.</a:t>
            </a:r>
          </a:p>
          <a:p>
            <a:pPr marL="0" indent="0">
              <a:lnSpc>
                <a:spcPct val="110000"/>
              </a:lnSpc>
              <a:spcBef>
                <a:spcPts val="2500"/>
              </a:spcBef>
              <a:buFont typeface="Arial" panose="020B0604020202020204" pitchFamily="34" charset="0"/>
              <a:buNone/>
            </a:pPr>
            <a:r>
              <a:rPr lang="en-US" sz="1100" b="1"/>
              <a:t>Risk Assessment</a:t>
            </a:r>
          </a:p>
          <a:p>
            <a:pPr marL="0" lvl="1" indent="0">
              <a:lnSpc>
                <a:spcPct val="110000"/>
              </a:lnSpc>
              <a:buFont typeface="Arial" panose="020B0604020202020204" pitchFamily="34" charset="0"/>
              <a:buNone/>
            </a:pPr>
            <a:r>
              <a:rPr lang="en-US" sz="1100"/>
              <a:t>Assess risks by evaluating their likelihood and potential impact to prioritize mitigation efforts effectively.</a:t>
            </a:r>
          </a:p>
          <a:p>
            <a:pPr marL="0" indent="0">
              <a:lnSpc>
                <a:spcPct val="110000"/>
              </a:lnSpc>
              <a:spcBef>
                <a:spcPts val="2500"/>
              </a:spcBef>
              <a:buFont typeface="Arial" panose="020B0604020202020204" pitchFamily="34" charset="0"/>
              <a:buNone/>
            </a:pPr>
            <a:r>
              <a:rPr lang="en-US" sz="1100" b="1"/>
              <a:t>Mitigation Strategies</a:t>
            </a:r>
          </a:p>
          <a:p>
            <a:pPr marL="0" lvl="1" indent="0">
              <a:lnSpc>
                <a:spcPct val="110000"/>
              </a:lnSpc>
              <a:buFont typeface="Arial" panose="020B0604020202020204" pitchFamily="34" charset="0"/>
              <a:buNone/>
            </a:pPr>
            <a:r>
              <a:rPr lang="en-US" sz="1100"/>
              <a:t>Apply appropriate mitigation strategies with immediate focus on high risks and monitoring medium risks.</a:t>
            </a:r>
          </a:p>
        </p:txBody>
      </p:sp>
    </p:spTree>
    <p:extLst>
      <p:ext uri="{BB962C8B-B14F-4D97-AF65-F5344CB8AC3E}">
        <p14:creationId xmlns:p14="http://schemas.microsoft.com/office/powerpoint/2010/main" val="42715518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E36DB-A204-6E94-6CFC-4E3F1337C4DF}"/>
              </a:ext>
            </a:extLst>
          </p:cNvPr>
          <p:cNvSpPr>
            <a:spLocks noGrp="1"/>
          </p:cNvSpPr>
          <p:nvPr>
            <p:ph type="title"/>
          </p:nvPr>
        </p:nvSpPr>
        <p:spPr>
          <a:xfrm>
            <a:off x="8165592" y="1008126"/>
            <a:ext cx="3401567" cy="1947672"/>
          </a:xfrm>
        </p:spPr>
        <p:txBody>
          <a:bodyPr anchor="b">
            <a:normAutofit/>
          </a:bodyPr>
          <a:lstStyle/>
          <a:p>
            <a:r>
              <a:rPr lang="en-US"/>
              <a:t>Incident Response Planning</a:t>
            </a:r>
          </a:p>
        </p:txBody>
      </p:sp>
      <p:pic>
        <p:nvPicPr>
          <p:cNvPr id="5" name="Content Placeholder 4" descr="Female hand drawing brainstorm">
            <a:extLst>
              <a:ext uri="{FF2B5EF4-FFF2-40B4-BE49-F238E27FC236}">
                <a16:creationId xmlns:a16="http://schemas.microsoft.com/office/drawing/2014/main" id="{FAAE2971-93AD-4B9A-9E18-AEC7AAE5CFF7}"/>
              </a:ext>
            </a:extLst>
          </p:cNvPr>
          <p:cNvPicPr>
            <a:picLocks noGrp="1" noChangeAspect="1"/>
          </p:cNvPicPr>
          <p:nvPr>
            <p:ph type="pic" sz="quarter" idx="15"/>
          </p:nvPr>
        </p:nvPicPr>
        <p:blipFill>
          <a:blip r:embed="rId3"/>
          <a:srcRect r="29348" b="2"/>
          <a:stretch>
            <a:fillRect/>
          </a:stretch>
        </p:blipFill>
        <p:spPr>
          <a:xfrm>
            <a:off x="115866" y="10"/>
            <a:ext cx="7397496" cy="6857990"/>
          </a:xfrm>
        </p:spPr>
      </p:pic>
      <p:sp>
        <p:nvSpPr>
          <p:cNvPr id="4" name="Content Placeholder 3">
            <a:extLst>
              <a:ext uri="{FF2B5EF4-FFF2-40B4-BE49-F238E27FC236}">
                <a16:creationId xmlns:a16="http://schemas.microsoft.com/office/drawing/2014/main" id="{846378F4-B718-F9D8-10CC-F709414F073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65592" y="3099816"/>
            <a:ext cx="3401567" cy="3054096"/>
          </a:xfrm>
        </p:spPr>
        <p:txBody>
          <a:bodyPr>
            <a:normAutofit/>
          </a:bodyPr>
          <a:lstStyle/>
          <a:p>
            <a:pPr marL="0" indent="0">
              <a:lnSpc>
                <a:spcPct val="110000"/>
              </a:lnSpc>
              <a:spcBef>
                <a:spcPts val="2500"/>
              </a:spcBef>
              <a:buFont typeface="Arial" panose="020B0604020202020204" pitchFamily="34" charset="0"/>
              <a:buNone/>
            </a:pPr>
            <a:r>
              <a:rPr lang="en-US" sz="1100" b="1"/>
              <a:t>Defined Roles and Actions</a:t>
            </a:r>
          </a:p>
          <a:p>
            <a:pPr marL="0" lvl="1" indent="0">
              <a:lnSpc>
                <a:spcPct val="110000"/>
              </a:lnSpc>
              <a:buFont typeface="Arial" panose="020B0604020202020204" pitchFamily="34" charset="0"/>
              <a:buNone/>
            </a:pPr>
            <a:r>
              <a:rPr lang="en-US" sz="1100"/>
              <a:t>Incident response plans clearly outline roles, escalation paths, and necessary actions during security incidents.</a:t>
            </a:r>
          </a:p>
          <a:p>
            <a:pPr marL="0" indent="0">
              <a:lnSpc>
                <a:spcPct val="110000"/>
              </a:lnSpc>
              <a:spcBef>
                <a:spcPts val="2500"/>
              </a:spcBef>
              <a:buFont typeface="Arial" panose="020B0604020202020204" pitchFamily="34" charset="0"/>
              <a:buNone/>
            </a:pPr>
            <a:r>
              <a:rPr lang="en-US" sz="1100" b="1"/>
              <a:t>Structured Incident Lifecycle</a:t>
            </a:r>
          </a:p>
          <a:p>
            <a:pPr marL="0" lvl="1" indent="0">
              <a:lnSpc>
                <a:spcPct val="110000"/>
              </a:lnSpc>
              <a:buFont typeface="Arial" panose="020B0604020202020204" pitchFamily="34" charset="0"/>
              <a:buNone/>
            </a:pPr>
            <a:r>
              <a:rPr lang="en-US" sz="1100"/>
              <a:t>Following preparation, detection, containment, eradication, recovery, and lessons learned ensures effective incident management.</a:t>
            </a:r>
          </a:p>
          <a:p>
            <a:pPr marL="0" indent="0">
              <a:lnSpc>
                <a:spcPct val="110000"/>
              </a:lnSpc>
              <a:spcBef>
                <a:spcPts val="2500"/>
              </a:spcBef>
              <a:buFont typeface="Arial" panose="020B0604020202020204" pitchFamily="34" charset="0"/>
              <a:buNone/>
            </a:pPr>
            <a:r>
              <a:rPr lang="en-US" sz="1100" b="1"/>
              <a:t>Continuous Improvement</a:t>
            </a:r>
          </a:p>
          <a:p>
            <a:pPr marL="0" lvl="1" indent="0">
              <a:lnSpc>
                <a:spcPct val="110000"/>
              </a:lnSpc>
              <a:buFont typeface="Arial" panose="020B0604020202020204" pitchFamily="34" charset="0"/>
              <a:buNone/>
            </a:pPr>
            <a:r>
              <a:rPr lang="en-US" sz="1100"/>
              <a:t>Regular testing and post-incident reviews enhance readiness and strengthen security posture over time.</a:t>
            </a:r>
          </a:p>
        </p:txBody>
      </p:sp>
    </p:spTree>
    <p:extLst>
      <p:ext uri="{BB962C8B-B14F-4D97-AF65-F5344CB8AC3E}">
        <p14:creationId xmlns:p14="http://schemas.microsoft.com/office/powerpoint/2010/main" val="19702234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DFB4B-4BA5-1B9B-F43C-73BEFAE7F146}"/>
              </a:ext>
            </a:extLst>
          </p:cNvPr>
          <p:cNvSpPr>
            <a:spLocks noGrp="1"/>
          </p:cNvSpPr>
          <p:nvPr>
            <p:ph type="title"/>
          </p:nvPr>
        </p:nvSpPr>
        <p:spPr>
          <a:xfrm>
            <a:off x="612648" y="2093976"/>
            <a:ext cx="8229600" cy="4178808"/>
          </a:xfrm>
        </p:spPr>
        <p:txBody>
          <a:bodyPr anchor="b">
            <a:normAutofit/>
          </a:bodyPr>
          <a:lstStyle/>
          <a:p>
            <a:r>
              <a:rPr lang="en-US"/>
              <a:t>IT Support and Operations</a:t>
            </a:r>
          </a:p>
        </p:txBody>
      </p:sp>
    </p:spTree>
    <p:extLst>
      <p:ext uri="{BB962C8B-B14F-4D97-AF65-F5344CB8AC3E}">
        <p14:creationId xmlns:p14="http://schemas.microsoft.com/office/powerpoint/2010/main" val="31441951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CC966-9303-60CC-28F2-C31009E47E94}"/>
              </a:ext>
            </a:extLst>
          </p:cNvPr>
          <p:cNvSpPr>
            <a:spLocks noGrp="1"/>
          </p:cNvSpPr>
          <p:nvPr>
            <p:ph type="title"/>
          </p:nvPr>
        </p:nvSpPr>
        <p:spPr>
          <a:xfrm>
            <a:off x="8165592" y="1008126"/>
            <a:ext cx="3401567" cy="1947672"/>
          </a:xfrm>
        </p:spPr>
        <p:txBody>
          <a:bodyPr anchor="b">
            <a:normAutofit/>
          </a:bodyPr>
          <a:lstStyle/>
          <a:p>
            <a:r>
              <a:rPr lang="en-US"/>
              <a:t>IT Support Operations Model</a:t>
            </a:r>
          </a:p>
        </p:txBody>
      </p:sp>
      <p:pic>
        <p:nvPicPr>
          <p:cNvPr id="5" name="Content Placeholder 4" descr="Businesswomen building up career tower.">
            <a:extLst>
              <a:ext uri="{FF2B5EF4-FFF2-40B4-BE49-F238E27FC236}">
                <a16:creationId xmlns:a16="http://schemas.microsoft.com/office/drawing/2014/main" id="{8E5923A0-5EF1-455D-85F1-02FA33EBFF70}"/>
              </a:ext>
            </a:extLst>
          </p:cNvPr>
          <p:cNvPicPr>
            <a:picLocks noGrp="1" noChangeAspect="1"/>
          </p:cNvPicPr>
          <p:nvPr>
            <p:ph type="pic" sz="quarter" idx="15"/>
          </p:nvPr>
        </p:nvPicPr>
        <p:blipFill>
          <a:blip r:embed="rId3"/>
          <a:srcRect l="4713" r="23285" b="-1"/>
          <a:stretch>
            <a:fillRect/>
          </a:stretch>
        </p:blipFill>
        <p:spPr>
          <a:xfrm>
            <a:off x="115866" y="10"/>
            <a:ext cx="7397496" cy="6857990"/>
          </a:xfrm>
        </p:spPr>
      </p:pic>
      <p:sp>
        <p:nvSpPr>
          <p:cNvPr id="4" name="Content Placeholder 3">
            <a:extLst>
              <a:ext uri="{FF2B5EF4-FFF2-40B4-BE49-F238E27FC236}">
                <a16:creationId xmlns:a16="http://schemas.microsoft.com/office/drawing/2014/main" id="{E11FE75E-8813-DD69-A5D4-DEF797E5BF6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65592" y="3099816"/>
            <a:ext cx="3401567" cy="3054096"/>
          </a:xfrm>
        </p:spPr>
        <p:txBody>
          <a:bodyPr>
            <a:normAutofit/>
          </a:bodyPr>
          <a:lstStyle/>
          <a:p>
            <a:pPr marL="0" indent="0">
              <a:lnSpc>
                <a:spcPct val="110000"/>
              </a:lnSpc>
              <a:spcBef>
                <a:spcPts val="2500"/>
              </a:spcBef>
              <a:buFont typeface="Arial" panose="020B0604020202020204" pitchFamily="34" charset="0"/>
              <a:buNone/>
            </a:pPr>
            <a:r>
              <a:rPr lang="en-US" sz="1100" b="1"/>
              <a:t>Tier 1 Support</a:t>
            </a:r>
          </a:p>
          <a:p>
            <a:pPr marL="0" lvl="1" indent="0">
              <a:lnSpc>
                <a:spcPct val="110000"/>
              </a:lnSpc>
              <a:buFont typeface="Arial" panose="020B0604020202020204" pitchFamily="34" charset="0"/>
              <a:buNone/>
            </a:pPr>
            <a:r>
              <a:rPr lang="en-US" sz="1100"/>
              <a:t>Tier 1 focuses on common user issues like password resets and printer problems, ensuring quick initial help.</a:t>
            </a:r>
          </a:p>
          <a:p>
            <a:pPr marL="0" indent="0">
              <a:lnSpc>
                <a:spcPct val="110000"/>
              </a:lnSpc>
              <a:spcBef>
                <a:spcPts val="2500"/>
              </a:spcBef>
              <a:buFont typeface="Arial" panose="020B0604020202020204" pitchFamily="34" charset="0"/>
              <a:buNone/>
            </a:pPr>
            <a:r>
              <a:rPr lang="en-US" sz="1100" b="1"/>
              <a:t>Tier 2 Support</a:t>
            </a:r>
          </a:p>
          <a:p>
            <a:pPr marL="0" lvl="1" indent="0">
              <a:lnSpc>
                <a:spcPct val="110000"/>
              </a:lnSpc>
              <a:buFont typeface="Arial" panose="020B0604020202020204" pitchFamily="34" charset="0"/>
              <a:buNone/>
            </a:pPr>
            <a:r>
              <a:rPr lang="en-US" sz="1100"/>
              <a:t>Tier 2 handles complex technical problems such as network failures and hardware faults requiring specialized knowledge.</a:t>
            </a:r>
          </a:p>
          <a:p>
            <a:pPr marL="0" indent="0">
              <a:lnSpc>
                <a:spcPct val="110000"/>
              </a:lnSpc>
              <a:spcBef>
                <a:spcPts val="2500"/>
              </a:spcBef>
              <a:buFont typeface="Arial" panose="020B0604020202020204" pitchFamily="34" charset="0"/>
              <a:buNone/>
            </a:pPr>
            <a:r>
              <a:rPr lang="en-US" sz="1100" b="1"/>
              <a:t>Tier 3 Support</a:t>
            </a:r>
          </a:p>
          <a:p>
            <a:pPr marL="0" lvl="1" indent="0">
              <a:lnSpc>
                <a:spcPct val="110000"/>
              </a:lnSpc>
              <a:buFont typeface="Arial" panose="020B0604020202020204" pitchFamily="34" charset="0"/>
              <a:buNone/>
            </a:pPr>
            <a:r>
              <a:rPr lang="en-US" sz="1100"/>
              <a:t>Tier 3 involves senior IT staff or external vendors managing critical incidents and advanced problem resolution.</a:t>
            </a:r>
          </a:p>
        </p:txBody>
      </p:sp>
    </p:spTree>
    <p:extLst>
      <p:ext uri="{BB962C8B-B14F-4D97-AF65-F5344CB8AC3E}">
        <p14:creationId xmlns:p14="http://schemas.microsoft.com/office/powerpoint/2010/main" val="36959421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F961F-D88A-45E5-3CAE-18447566BBB3}"/>
              </a:ext>
            </a:extLst>
          </p:cNvPr>
          <p:cNvSpPr>
            <a:spLocks noGrp="1"/>
          </p:cNvSpPr>
          <p:nvPr>
            <p:ph type="title"/>
          </p:nvPr>
        </p:nvSpPr>
        <p:spPr>
          <a:xfrm>
            <a:off x="612648" y="457200"/>
            <a:ext cx="10954512" cy="731520"/>
          </a:xfrm>
        </p:spPr>
        <p:txBody>
          <a:bodyPr anchor="b">
            <a:normAutofit/>
          </a:bodyPr>
          <a:lstStyle/>
          <a:p>
            <a:r>
              <a:rPr lang="en-US"/>
              <a:t>Common IT Issues and Troubleshooting</a:t>
            </a:r>
          </a:p>
        </p:txBody>
      </p:sp>
      <p:graphicFrame>
        <p:nvGraphicFramePr>
          <p:cNvPr id="4" name="Content Placeholder 3">
            <a:extLst>
              <a:ext uri="{FF2B5EF4-FFF2-40B4-BE49-F238E27FC236}">
                <a16:creationId xmlns:a16="http://schemas.microsoft.com/office/drawing/2014/main" id="{B9BDCEA0-8F2C-4FC2-A99E-FB3BFA8D971B}"/>
              </a:ext>
            </a:extLst>
          </p:cNvPr>
          <p:cNvGraphicFramePr>
            <a:graphicFrameLocks noGrp="1"/>
          </p:cNvGraphicFramePr>
          <p:nvPr>
            <p:ph idx="1"/>
            <p:extLst>
              <p:ext uri="{D42A27DB-BD31-4B8C-83A1-F6EECF244321}">
                <p14:modId xmlns:p14="http://schemas.microsoft.com/office/powerpoint/2010/main" val="2864294202"/>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12648" y="1362455"/>
          <a:ext cx="10954512" cy="49560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80075753"/>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F4FE4-7ECB-966A-0DBB-D68185185E14}"/>
              </a:ext>
            </a:extLst>
          </p:cNvPr>
          <p:cNvSpPr>
            <a:spLocks noGrp="1"/>
          </p:cNvSpPr>
          <p:nvPr>
            <p:ph type="title"/>
          </p:nvPr>
        </p:nvSpPr>
        <p:spPr>
          <a:xfrm>
            <a:off x="612648" y="502920"/>
            <a:ext cx="4669536" cy="1453896"/>
          </a:xfrm>
        </p:spPr>
        <p:txBody>
          <a:bodyPr anchor="t">
            <a:normAutofit/>
          </a:bodyPr>
          <a:lstStyle/>
          <a:p>
            <a:r>
              <a:rPr lang="en-US"/>
              <a:t>Support Workflow and Escalation</a:t>
            </a:r>
          </a:p>
        </p:txBody>
      </p:sp>
      <p:pic>
        <p:nvPicPr>
          <p:cNvPr id="5" name="Content Placeholder 4" descr="3D illustration.">
            <a:extLst>
              <a:ext uri="{FF2B5EF4-FFF2-40B4-BE49-F238E27FC236}">
                <a16:creationId xmlns:a16="http://schemas.microsoft.com/office/drawing/2014/main" id="{AC42EA81-E987-4956-9EE9-24119C780110}"/>
              </a:ext>
            </a:extLst>
          </p:cNvPr>
          <p:cNvPicPr>
            <a:picLocks noGrp="1" noChangeAspect="1"/>
          </p:cNvPicPr>
          <p:nvPr>
            <p:ph type="pic" sz="quarter" idx="15"/>
          </p:nvPr>
        </p:nvPicPr>
        <p:blipFill>
          <a:blip r:embed="rId3"/>
          <a:srcRect r="12979" b="-2"/>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C6161662-D4A9-1A74-22A3-9683377FD88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Issue Identification and Logging</a:t>
            </a:r>
          </a:p>
          <a:p>
            <a:pPr marL="0" lvl="1" indent="0">
              <a:buFont typeface="Arial" panose="020B0604020202020204" pitchFamily="34" charset="0"/>
              <a:buNone/>
            </a:pPr>
            <a:r>
              <a:rPr lang="en-US"/>
              <a:t>Support workflow starts with identifying and logging issues for proper handling and tracking.</a:t>
            </a:r>
          </a:p>
          <a:p>
            <a:pPr marL="0" indent="0">
              <a:spcBef>
                <a:spcPts val="2500"/>
              </a:spcBef>
              <a:buFont typeface="Arial" panose="020B0604020202020204" pitchFamily="34" charset="0"/>
              <a:buNone/>
            </a:pPr>
            <a:r>
              <a:rPr lang="en-US" b="1"/>
              <a:t>Diagnosis and Resolution</a:t>
            </a:r>
          </a:p>
          <a:p>
            <a:pPr marL="0" lvl="1" indent="0">
              <a:buFont typeface="Arial" panose="020B0604020202020204" pitchFamily="34" charset="0"/>
              <a:buNone/>
            </a:pPr>
            <a:r>
              <a:rPr lang="en-US"/>
              <a:t>Diagnosing problems and delivering timely resolutions are critical for effective support services.</a:t>
            </a:r>
          </a:p>
          <a:p>
            <a:pPr marL="0" indent="0">
              <a:spcBef>
                <a:spcPts val="2500"/>
              </a:spcBef>
              <a:buFont typeface="Arial" panose="020B0604020202020204" pitchFamily="34" charset="0"/>
              <a:buNone/>
            </a:pPr>
            <a:r>
              <a:rPr lang="en-US" b="1"/>
              <a:t>Escalation and Accountability</a:t>
            </a:r>
          </a:p>
          <a:p>
            <a:pPr marL="0" lvl="1" indent="0">
              <a:buFont typeface="Arial" panose="020B0604020202020204" pitchFamily="34" charset="0"/>
              <a:buNone/>
            </a:pPr>
            <a:r>
              <a:rPr lang="en-US"/>
              <a:t>Clear escalation timelines ensure accountability and prevent delays in issue resolution.</a:t>
            </a:r>
          </a:p>
          <a:p>
            <a:pPr marL="0" indent="0">
              <a:spcBef>
                <a:spcPts val="2500"/>
              </a:spcBef>
              <a:buFont typeface="Arial" panose="020B0604020202020204" pitchFamily="34" charset="0"/>
              <a:buNone/>
            </a:pPr>
            <a:r>
              <a:rPr lang="en-US" b="1"/>
              <a:t>Insight Through Tracking</a:t>
            </a:r>
          </a:p>
          <a:p>
            <a:pPr marL="0" lvl="1" indent="0">
              <a:buFont typeface="Arial" panose="020B0604020202020204" pitchFamily="34" charset="0"/>
              <a:buNone/>
            </a:pPr>
            <a:r>
              <a:rPr lang="en-US"/>
              <a:t>Tracking incidents provides valuable insights to identify recurring issues and improve support proactively.</a:t>
            </a:r>
          </a:p>
        </p:txBody>
      </p:sp>
    </p:spTree>
    <p:extLst>
      <p:ext uri="{BB962C8B-B14F-4D97-AF65-F5344CB8AC3E}">
        <p14:creationId xmlns:p14="http://schemas.microsoft.com/office/powerpoint/2010/main" val="40233224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DFB3B-2433-A38A-A93B-E0723CB580DD}"/>
              </a:ext>
            </a:extLst>
          </p:cNvPr>
          <p:cNvSpPr>
            <a:spLocks noGrp="1"/>
          </p:cNvSpPr>
          <p:nvPr>
            <p:ph type="title"/>
          </p:nvPr>
        </p:nvSpPr>
        <p:spPr>
          <a:xfrm>
            <a:off x="8165592" y="1008126"/>
            <a:ext cx="3401567" cy="1947672"/>
          </a:xfrm>
        </p:spPr>
        <p:txBody>
          <a:bodyPr anchor="b">
            <a:normAutofit/>
          </a:bodyPr>
          <a:lstStyle/>
          <a:p>
            <a:r>
              <a:rPr lang="en-US"/>
              <a:t>Operational Governance</a:t>
            </a:r>
          </a:p>
        </p:txBody>
      </p:sp>
      <p:pic>
        <p:nvPicPr>
          <p:cNvPr id="5" name="Content Placeholder 4" descr="Shot of a group of young businesspeople having a brainstorming session together in a modern office">
            <a:extLst>
              <a:ext uri="{FF2B5EF4-FFF2-40B4-BE49-F238E27FC236}">
                <a16:creationId xmlns:a16="http://schemas.microsoft.com/office/drawing/2014/main" id="{4C3624FA-B3B3-48F2-AF5B-C9D94DB95692}"/>
              </a:ext>
            </a:extLst>
          </p:cNvPr>
          <p:cNvPicPr>
            <a:picLocks noGrp="1" noChangeAspect="1"/>
          </p:cNvPicPr>
          <p:nvPr>
            <p:ph type="pic" sz="quarter" idx="15"/>
          </p:nvPr>
        </p:nvPicPr>
        <p:blipFill>
          <a:blip r:embed="rId3"/>
          <a:srcRect l="21183" r="7086"/>
          <a:stretch>
            <a:fillRect/>
          </a:stretch>
        </p:blipFill>
        <p:spPr>
          <a:xfrm>
            <a:off x="115866" y="10"/>
            <a:ext cx="7397496" cy="6857990"/>
          </a:xfrm>
        </p:spPr>
      </p:pic>
      <p:sp>
        <p:nvSpPr>
          <p:cNvPr id="4" name="Content Placeholder 3">
            <a:extLst>
              <a:ext uri="{FF2B5EF4-FFF2-40B4-BE49-F238E27FC236}">
                <a16:creationId xmlns:a16="http://schemas.microsoft.com/office/drawing/2014/main" id="{455FFF11-4D16-9571-F273-7BC42A87023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65592" y="3099816"/>
            <a:ext cx="3401567" cy="3054096"/>
          </a:xfrm>
        </p:spPr>
        <p:txBody>
          <a:bodyPr>
            <a:normAutofit/>
          </a:bodyPr>
          <a:lstStyle/>
          <a:p>
            <a:pPr marL="0" indent="0">
              <a:lnSpc>
                <a:spcPct val="110000"/>
              </a:lnSpc>
              <a:spcBef>
                <a:spcPts val="2500"/>
              </a:spcBef>
              <a:buFont typeface="Arial" panose="020B0604020202020204" pitchFamily="34" charset="0"/>
              <a:buNone/>
            </a:pPr>
            <a:r>
              <a:rPr lang="en-US" sz="1200" b="1"/>
              <a:t>Roles and Responsibilities</a:t>
            </a:r>
          </a:p>
          <a:p>
            <a:pPr marL="0" lvl="1" indent="0">
              <a:lnSpc>
                <a:spcPct val="110000"/>
              </a:lnSpc>
              <a:buFont typeface="Arial" panose="020B0604020202020204" pitchFamily="34" charset="0"/>
              <a:buNone/>
            </a:pPr>
            <a:r>
              <a:rPr lang="en-US" sz="1200"/>
              <a:t>Defines clear roles for IT staff, managers, and end-users to ensure smooth operational governance.</a:t>
            </a:r>
          </a:p>
          <a:p>
            <a:pPr marL="0" indent="0">
              <a:lnSpc>
                <a:spcPct val="110000"/>
              </a:lnSpc>
              <a:spcBef>
                <a:spcPts val="2500"/>
              </a:spcBef>
              <a:buFont typeface="Arial" panose="020B0604020202020204" pitchFamily="34" charset="0"/>
              <a:buNone/>
            </a:pPr>
            <a:r>
              <a:rPr lang="en-US" sz="1200" b="1"/>
              <a:t>Change Management</a:t>
            </a:r>
          </a:p>
          <a:p>
            <a:pPr marL="0" lvl="1" indent="0">
              <a:lnSpc>
                <a:spcPct val="110000"/>
              </a:lnSpc>
              <a:buFont typeface="Arial" panose="020B0604020202020204" pitchFamily="34" charset="0"/>
              <a:buNone/>
            </a:pPr>
            <a:r>
              <a:rPr lang="en-US" sz="1200"/>
              <a:t>Regular reviews and structured change management maintain alignment with business needs and policies.</a:t>
            </a:r>
          </a:p>
          <a:p>
            <a:pPr marL="0" indent="0">
              <a:lnSpc>
                <a:spcPct val="110000"/>
              </a:lnSpc>
              <a:spcBef>
                <a:spcPts val="2500"/>
              </a:spcBef>
              <a:buFont typeface="Arial" panose="020B0604020202020204" pitchFamily="34" charset="0"/>
              <a:buNone/>
            </a:pPr>
            <a:r>
              <a:rPr lang="en-US" sz="1200" b="1"/>
              <a:t>Transparency and Accountability</a:t>
            </a:r>
          </a:p>
          <a:p>
            <a:pPr marL="0" lvl="1" indent="0">
              <a:lnSpc>
                <a:spcPct val="110000"/>
              </a:lnSpc>
              <a:buFont typeface="Arial" panose="020B0604020202020204" pitchFamily="34" charset="0"/>
              <a:buNone/>
            </a:pPr>
            <a:r>
              <a:rPr lang="en-US" sz="1200"/>
              <a:t>Governance ensures transparency and accountability across all IT operational activities.</a:t>
            </a:r>
          </a:p>
        </p:txBody>
      </p:sp>
    </p:spTree>
    <p:extLst>
      <p:ext uri="{BB962C8B-B14F-4D97-AF65-F5344CB8AC3E}">
        <p14:creationId xmlns:p14="http://schemas.microsoft.com/office/powerpoint/2010/main" val="20582896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4B971-E52E-5794-A57C-CC9384FE838C}"/>
              </a:ext>
            </a:extLst>
          </p:cNvPr>
          <p:cNvSpPr>
            <a:spLocks noGrp="1"/>
          </p:cNvSpPr>
          <p:nvPr>
            <p:ph type="title"/>
          </p:nvPr>
        </p:nvSpPr>
        <p:spPr>
          <a:xfrm>
            <a:off x="612648" y="2093976"/>
            <a:ext cx="8229600" cy="4178808"/>
          </a:xfrm>
        </p:spPr>
        <p:txBody>
          <a:bodyPr anchor="b">
            <a:normAutofit/>
          </a:bodyPr>
          <a:lstStyle/>
          <a:p>
            <a:r>
              <a:rPr lang="en-US"/>
              <a:t>Business Value and Cost Efficiency</a:t>
            </a:r>
          </a:p>
        </p:txBody>
      </p:sp>
    </p:spTree>
    <p:extLst>
      <p:ext uri="{BB962C8B-B14F-4D97-AF65-F5344CB8AC3E}">
        <p14:creationId xmlns:p14="http://schemas.microsoft.com/office/powerpoint/2010/main" val="36059767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41CC3-FB3A-296D-3894-EF0BB1A6EF9A}"/>
              </a:ext>
            </a:extLst>
          </p:cNvPr>
          <p:cNvSpPr>
            <a:spLocks noGrp="1"/>
          </p:cNvSpPr>
          <p:nvPr>
            <p:ph type="title"/>
          </p:nvPr>
        </p:nvSpPr>
        <p:spPr>
          <a:xfrm>
            <a:off x="8165592" y="1008126"/>
            <a:ext cx="3401567" cy="1947672"/>
          </a:xfrm>
        </p:spPr>
        <p:txBody>
          <a:bodyPr anchor="b">
            <a:normAutofit/>
          </a:bodyPr>
          <a:lstStyle/>
          <a:p>
            <a:r>
              <a:rPr lang="en-US"/>
              <a:t>Business Value Delivered</a:t>
            </a:r>
          </a:p>
        </p:txBody>
      </p:sp>
      <p:pic>
        <p:nvPicPr>
          <p:cNvPr id="5" name="Content Placeholder 4" descr="Laptop, smart phone and computer service">
            <a:extLst>
              <a:ext uri="{FF2B5EF4-FFF2-40B4-BE49-F238E27FC236}">
                <a16:creationId xmlns:a16="http://schemas.microsoft.com/office/drawing/2014/main" id="{3C85859C-1B93-4F2E-A43E-BC05BACFFD8C}"/>
              </a:ext>
            </a:extLst>
          </p:cNvPr>
          <p:cNvPicPr>
            <a:picLocks noGrp="1" noChangeAspect="1"/>
          </p:cNvPicPr>
          <p:nvPr>
            <p:ph type="pic" sz="quarter" idx="15"/>
          </p:nvPr>
        </p:nvPicPr>
        <p:blipFill>
          <a:blip r:embed="rId3"/>
          <a:srcRect t="9322" r="2" b="5621"/>
          <a:stretch>
            <a:fillRect/>
          </a:stretch>
        </p:blipFill>
        <p:spPr>
          <a:xfrm>
            <a:off x="115866" y="10"/>
            <a:ext cx="7397496" cy="6857990"/>
          </a:xfrm>
        </p:spPr>
      </p:pic>
      <p:sp>
        <p:nvSpPr>
          <p:cNvPr id="4" name="Content Placeholder 3">
            <a:extLst>
              <a:ext uri="{FF2B5EF4-FFF2-40B4-BE49-F238E27FC236}">
                <a16:creationId xmlns:a16="http://schemas.microsoft.com/office/drawing/2014/main" id="{6A77F920-E318-C5EF-8674-D794E22A166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65592" y="3099816"/>
            <a:ext cx="3401567" cy="3054096"/>
          </a:xfrm>
        </p:spPr>
        <p:txBody>
          <a:bodyPr>
            <a:normAutofit/>
          </a:bodyPr>
          <a:lstStyle/>
          <a:p>
            <a:pPr marL="0" indent="0">
              <a:lnSpc>
                <a:spcPct val="110000"/>
              </a:lnSpc>
              <a:spcBef>
                <a:spcPts val="2500"/>
              </a:spcBef>
              <a:buFont typeface="Arial" panose="020B0604020202020204" pitchFamily="34" charset="0"/>
              <a:buNone/>
            </a:pPr>
            <a:r>
              <a:rPr lang="en-US" sz="1100" b="1"/>
              <a:t>Reliability and Stability</a:t>
            </a:r>
          </a:p>
          <a:p>
            <a:pPr marL="0" lvl="1" indent="0">
              <a:lnSpc>
                <a:spcPct val="110000"/>
              </a:lnSpc>
              <a:buFont typeface="Arial" panose="020B0604020202020204" pitchFamily="34" charset="0"/>
              <a:buNone/>
            </a:pPr>
            <a:r>
              <a:rPr lang="en-US" sz="1100"/>
              <a:t>Improved IT infrastructure ensures stable systems, minimizing downtime and enhancing employee productivity.</a:t>
            </a:r>
          </a:p>
          <a:p>
            <a:pPr marL="0" indent="0">
              <a:lnSpc>
                <a:spcPct val="110000"/>
              </a:lnSpc>
              <a:spcBef>
                <a:spcPts val="2500"/>
              </a:spcBef>
              <a:buFont typeface="Arial" panose="020B0604020202020204" pitchFamily="34" charset="0"/>
              <a:buNone/>
            </a:pPr>
            <a:r>
              <a:rPr lang="en-US" sz="1100" b="1"/>
              <a:t>Enhanced Security</a:t>
            </a:r>
          </a:p>
          <a:p>
            <a:pPr marL="0" lvl="1" indent="0">
              <a:lnSpc>
                <a:spcPct val="110000"/>
              </a:lnSpc>
              <a:buFont typeface="Arial" panose="020B0604020202020204" pitchFamily="34" charset="0"/>
              <a:buNone/>
            </a:pPr>
            <a:r>
              <a:rPr lang="en-US" sz="1100"/>
              <a:t>Clear access controls and data protection measures increase management's confidence in security and compliance.</a:t>
            </a:r>
          </a:p>
          <a:p>
            <a:pPr marL="0" indent="0">
              <a:lnSpc>
                <a:spcPct val="110000"/>
              </a:lnSpc>
              <a:spcBef>
                <a:spcPts val="2500"/>
              </a:spcBef>
              <a:buFont typeface="Arial" panose="020B0604020202020204" pitchFamily="34" charset="0"/>
              <a:buNone/>
            </a:pPr>
            <a:r>
              <a:rPr lang="en-US" sz="1100" b="1"/>
              <a:t>Operational Efficiency</a:t>
            </a:r>
          </a:p>
          <a:p>
            <a:pPr marL="0" lvl="1" indent="0">
              <a:lnSpc>
                <a:spcPct val="110000"/>
              </a:lnSpc>
              <a:buFont typeface="Arial" panose="020B0604020202020204" pitchFamily="34" charset="0"/>
              <a:buNone/>
            </a:pPr>
            <a:r>
              <a:rPr lang="en-US" sz="1100"/>
              <a:t>Faster issue resolution supports revenue growth and streamlines business operations effectively.</a:t>
            </a:r>
          </a:p>
        </p:txBody>
      </p:sp>
    </p:spTree>
    <p:extLst>
      <p:ext uri="{BB962C8B-B14F-4D97-AF65-F5344CB8AC3E}">
        <p14:creationId xmlns:p14="http://schemas.microsoft.com/office/powerpoint/2010/main" val="24374431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255A4-B065-AB8B-8280-5AF398A4AA8B}"/>
              </a:ext>
            </a:extLst>
          </p:cNvPr>
          <p:cNvSpPr>
            <a:spLocks noGrp="1"/>
          </p:cNvSpPr>
          <p:nvPr>
            <p:ph type="title"/>
          </p:nvPr>
        </p:nvSpPr>
        <p:spPr>
          <a:xfrm>
            <a:off x="612648" y="457200"/>
            <a:ext cx="10954512" cy="731520"/>
          </a:xfrm>
        </p:spPr>
        <p:txBody>
          <a:bodyPr anchor="b">
            <a:normAutofit/>
          </a:bodyPr>
          <a:lstStyle/>
          <a:p>
            <a:r>
              <a:rPr lang="en-US"/>
              <a:t>Productivity and Performance Gains</a:t>
            </a:r>
          </a:p>
        </p:txBody>
      </p:sp>
      <p:graphicFrame>
        <p:nvGraphicFramePr>
          <p:cNvPr id="4" name="Content Placeholder 3">
            <a:extLst>
              <a:ext uri="{FF2B5EF4-FFF2-40B4-BE49-F238E27FC236}">
                <a16:creationId xmlns:a16="http://schemas.microsoft.com/office/drawing/2014/main" id="{85F788DD-3BB2-47EF-B6E7-DD310EE53D4F}"/>
              </a:ext>
            </a:extLst>
          </p:cNvPr>
          <p:cNvGraphicFramePr>
            <a:graphicFrameLocks noGrp="1"/>
          </p:cNvGraphicFramePr>
          <p:nvPr>
            <p:ph idx="1"/>
            <p:extLst>
              <p:ext uri="{D42A27DB-BD31-4B8C-83A1-F6EECF244321}">
                <p14:modId xmlns:p14="http://schemas.microsoft.com/office/powerpoint/2010/main" val="3223477134"/>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612648" y="1362455"/>
          <a:ext cx="10954512" cy="49560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10536383"/>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E12BA-3E81-CDDF-9E33-00024B539B1E}"/>
              </a:ext>
            </a:extLst>
          </p:cNvPr>
          <p:cNvSpPr>
            <a:spLocks noGrp="1"/>
          </p:cNvSpPr>
          <p:nvPr>
            <p:ph type="title"/>
          </p:nvPr>
        </p:nvSpPr>
        <p:spPr>
          <a:xfrm>
            <a:off x="612648" y="502920"/>
            <a:ext cx="4669536" cy="1453896"/>
          </a:xfrm>
        </p:spPr>
        <p:txBody>
          <a:bodyPr anchor="t">
            <a:normAutofit/>
          </a:bodyPr>
          <a:lstStyle/>
          <a:p>
            <a:r>
              <a:rPr lang="en-US"/>
              <a:t>Cost Efficiency and Optimization</a:t>
            </a:r>
          </a:p>
        </p:txBody>
      </p:sp>
      <p:pic>
        <p:nvPicPr>
          <p:cNvPr id="5" name="Content Placeholder 4" descr="Businesman drawing gears">
            <a:extLst>
              <a:ext uri="{FF2B5EF4-FFF2-40B4-BE49-F238E27FC236}">
                <a16:creationId xmlns:a16="http://schemas.microsoft.com/office/drawing/2014/main" id="{E18DEABC-289A-4194-A2C1-ED413531108F}"/>
              </a:ext>
            </a:extLst>
          </p:cNvPr>
          <p:cNvPicPr>
            <a:picLocks noGrp="1" noChangeAspect="1"/>
          </p:cNvPicPr>
          <p:nvPr>
            <p:ph type="pic" sz="quarter" idx="15"/>
          </p:nvPr>
        </p:nvPicPr>
        <p:blipFill>
          <a:blip r:embed="rId3"/>
          <a:srcRect l="2728" r="20404"/>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7AEFB0BF-3F5B-7E6A-5166-3B18DA350CF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Leveraging Existing Platforms</a:t>
            </a:r>
          </a:p>
          <a:p>
            <a:pPr marL="0" lvl="1" indent="0">
              <a:buFont typeface="Arial" panose="020B0604020202020204" pitchFamily="34" charset="0"/>
              <a:buNone/>
            </a:pPr>
            <a:r>
              <a:rPr lang="en-US"/>
              <a:t>Using platforms like Active Directory and Group Policy reduces the need for extra tools and cuts costs.</a:t>
            </a:r>
          </a:p>
          <a:p>
            <a:pPr marL="0" indent="0">
              <a:spcBef>
                <a:spcPts val="2500"/>
              </a:spcBef>
              <a:buFont typeface="Arial" panose="020B0604020202020204" pitchFamily="34" charset="0"/>
              <a:buNone/>
            </a:pPr>
            <a:r>
              <a:rPr lang="en-US" b="1"/>
              <a:t>Centralized Management</a:t>
            </a:r>
          </a:p>
          <a:p>
            <a:pPr marL="0" lvl="1" indent="0">
              <a:buFont typeface="Arial" panose="020B0604020202020204" pitchFamily="34" charset="0"/>
              <a:buNone/>
            </a:pPr>
            <a:r>
              <a:rPr lang="en-US"/>
              <a:t>Centralized management lowers administrative overhead and simplifies IT operations for better efficiency.</a:t>
            </a:r>
          </a:p>
          <a:p>
            <a:pPr marL="0" indent="0">
              <a:spcBef>
                <a:spcPts val="2500"/>
              </a:spcBef>
              <a:buFont typeface="Arial" panose="020B0604020202020204" pitchFamily="34" charset="0"/>
              <a:buNone/>
            </a:pPr>
            <a:r>
              <a:rPr lang="en-US" b="1"/>
              <a:t>Proactive Maintenance</a:t>
            </a:r>
          </a:p>
          <a:p>
            <a:pPr marL="0" lvl="1" indent="0">
              <a:buFont typeface="Arial" panose="020B0604020202020204" pitchFamily="34" charset="0"/>
              <a:buNone/>
            </a:pPr>
            <a:r>
              <a:rPr lang="en-US"/>
              <a:t>Proactive maintenance reduces costly outages by addressing issues before they escalate.</a:t>
            </a:r>
          </a:p>
          <a:p>
            <a:pPr marL="0" indent="0">
              <a:spcBef>
                <a:spcPts val="2500"/>
              </a:spcBef>
              <a:buFont typeface="Arial" panose="020B0604020202020204" pitchFamily="34" charset="0"/>
              <a:buNone/>
            </a:pPr>
            <a:r>
              <a:rPr lang="en-US" b="1"/>
              <a:t>Scalable Design Benefits</a:t>
            </a:r>
          </a:p>
          <a:p>
            <a:pPr marL="0" lvl="1" indent="0">
              <a:buFont typeface="Arial" panose="020B0604020202020204" pitchFamily="34" charset="0"/>
              <a:buNone/>
            </a:pPr>
            <a:r>
              <a:rPr lang="en-US"/>
              <a:t>A scalable system design leads to long-term savings and reduces risk exposure.</a:t>
            </a:r>
          </a:p>
        </p:txBody>
      </p:sp>
    </p:spTree>
    <p:extLst>
      <p:ext uri="{BB962C8B-B14F-4D97-AF65-F5344CB8AC3E}">
        <p14:creationId xmlns:p14="http://schemas.microsoft.com/office/powerpoint/2010/main" val="37594449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29FE2-9C01-9433-087E-05C01A63D003}"/>
              </a:ext>
            </a:extLst>
          </p:cNvPr>
          <p:cNvSpPr>
            <a:spLocks noGrp="1"/>
          </p:cNvSpPr>
          <p:nvPr>
            <p:ph type="title"/>
          </p:nvPr>
        </p:nvSpPr>
        <p:spPr>
          <a:xfrm>
            <a:off x="8165592" y="1008126"/>
            <a:ext cx="3401567" cy="1947672"/>
          </a:xfrm>
        </p:spPr>
        <p:txBody>
          <a:bodyPr anchor="b">
            <a:normAutofit/>
          </a:bodyPr>
          <a:lstStyle/>
          <a:p>
            <a:r>
              <a:rPr lang="en-US"/>
              <a:t>Risk Reduction and Compliance Benefits</a:t>
            </a:r>
          </a:p>
        </p:txBody>
      </p:sp>
      <p:pic>
        <p:nvPicPr>
          <p:cNvPr id="5" name="Content Placeholder 4" descr="Internet network security data protection lock shield">
            <a:extLst>
              <a:ext uri="{FF2B5EF4-FFF2-40B4-BE49-F238E27FC236}">
                <a16:creationId xmlns:a16="http://schemas.microsoft.com/office/drawing/2014/main" id="{8EE3AA22-C459-4F7D-87A2-BD7A2B1BA7F6}"/>
              </a:ext>
            </a:extLst>
          </p:cNvPr>
          <p:cNvPicPr>
            <a:picLocks noGrp="1" noChangeAspect="1"/>
          </p:cNvPicPr>
          <p:nvPr>
            <p:ph type="pic" sz="quarter" idx="15"/>
          </p:nvPr>
        </p:nvPicPr>
        <p:blipFill>
          <a:blip r:embed="rId3"/>
          <a:srcRect l="25152" r="2846" b="-1"/>
          <a:stretch>
            <a:fillRect/>
          </a:stretch>
        </p:blipFill>
        <p:spPr>
          <a:xfrm>
            <a:off x="115866" y="10"/>
            <a:ext cx="7397496" cy="6857990"/>
          </a:xfrm>
        </p:spPr>
      </p:pic>
      <p:sp>
        <p:nvSpPr>
          <p:cNvPr id="4" name="Content Placeholder 3">
            <a:extLst>
              <a:ext uri="{FF2B5EF4-FFF2-40B4-BE49-F238E27FC236}">
                <a16:creationId xmlns:a16="http://schemas.microsoft.com/office/drawing/2014/main" id="{2636C8EA-7BA4-E18C-4657-E2AA7D7529D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65592" y="3099816"/>
            <a:ext cx="3401567" cy="3054096"/>
          </a:xfrm>
        </p:spPr>
        <p:txBody>
          <a:bodyPr>
            <a:normAutofit/>
          </a:bodyPr>
          <a:lstStyle/>
          <a:p>
            <a:pPr marL="0" indent="0">
              <a:lnSpc>
                <a:spcPct val="110000"/>
              </a:lnSpc>
              <a:spcBef>
                <a:spcPts val="2500"/>
              </a:spcBef>
              <a:buFont typeface="Arial" panose="020B0604020202020204" pitchFamily="34" charset="0"/>
              <a:buNone/>
            </a:pPr>
            <a:r>
              <a:rPr lang="en-US" sz="1100" b="1"/>
              <a:t>Operational and Regulatory Risk Reduction</a:t>
            </a:r>
          </a:p>
          <a:p>
            <a:pPr marL="0" lvl="1" indent="0">
              <a:lnSpc>
                <a:spcPct val="110000"/>
              </a:lnSpc>
              <a:buFont typeface="Arial" panose="020B0604020202020204" pitchFamily="34" charset="0"/>
              <a:buNone/>
            </a:pPr>
            <a:r>
              <a:rPr lang="en-US" sz="1100"/>
              <a:t>Structured security, backup, and governance controls effectively reduce both operational and regulatory risks for organizations.</a:t>
            </a:r>
          </a:p>
          <a:p>
            <a:pPr marL="0" indent="0">
              <a:lnSpc>
                <a:spcPct val="110000"/>
              </a:lnSpc>
              <a:spcBef>
                <a:spcPts val="2500"/>
              </a:spcBef>
              <a:buFont typeface="Arial" panose="020B0604020202020204" pitchFamily="34" charset="0"/>
              <a:buNone/>
            </a:pPr>
            <a:r>
              <a:rPr lang="en-US" sz="1100" b="1"/>
              <a:t>Compliance with POPIA</a:t>
            </a:r>
          </a:p>
          <a:p>
            <a:pPr marL="0" lvl="1" indent="0">
              <a:lnSpc>
                <a:spcPct val="110000"/>
              </a:lnSpc>
              <a:buFont typeface="Arial" panose="020B0604020202020204" pitchFamily="34" charset="0"/>
              <a:buNone/>
            </a:pPr>
            <a:r>
              <a:rPr lang="en-US" sz="1100"/>
              <a:t>Adhering to POPIA ensures legal compliance and protects the organization from potential legal and reputational damages.</a:t>
            </a:r>
          </a:p>
          <a:p>
            <a:pPr marL="0" indent="0">
              <a:lnSpc>
                <a:spcPct val="110000"/>
              </a:lnSpc>
              <a:spcBef>
                <a:spcPts val="2500"/>
              </a:spcBef>
              <a:buFont typeface="Arial" panose="020B0604020202020204" pitchFamily="34" charset="0"/>
              <a:buNone/>
            </a:pPr>
            <a:r>
              <a:rPr lang="en-US" sz="1100" b="1"/>
              <a:t>Stakeholder Trust Reinforcement</a:t>
            </a:r>
          </a:p>
          <a:p>
            <a:pPr marL="0" lvl="1" indent="0">
              <a:lnSpc>
                <a:spcPct val="110000"/>
              </a:lnSpc>
              <a:buFont typeface="Arial" panose="020B0604020202020204" pitchFamily="34" charset="0"/>
              <a:buNone/>
            </a:pPr>
            <a:r>
              <a:rPr lang="en-US" sz="1100"/>
              <a:t>Effective governance and compliance practices build and reinforce trust among stakeholders and clients.</a:t>
            </a:r>
          </a:p>
        </p:txBody>
      </p:sp>
    </p:spTree>
    <p:extLst>
      <p:ext uri="{BB962C8B-B14F-4D97-AF65-F5344CB8AC3E}">
        <p14:creationId xmlns:p14="http://schemas.microsoft.com/office/powerpoint/2010/main" val="36496407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4EA2C-A5DE-E14E-1573-2CDDA91398C8}"/>
              </a:ext>
            </a:extLst>
          </p:cNvPr>
          <p:cNvSpPr>
            <a:spLocks noGrp="1"/>
          </p:cNvSpPr>
          <p:nvPr>
            <p:ph type="title"/>
          </p:nvPr>
        </p:nvSpPr>
        <p:spPr>
          <a:xfrm>
            <a:off x="612648" y="2093976"/>
            <a:ext cx="8229600" cy="4178808"/>
          </a:xfrm>
        </p:spPr>
        <p:txBody>
          <a:bodyPr anchor="b">
            <a:normAutofit/>
          </a:bodyPr>
          <a:lstStyle/>
          <a:p>
            <a:r>
              <a:rPr lang="en-US"/>
              <a:t>Conclusion and Future Vision</a:t>
            </a:r>
          </a:p>
        </p:txBody>
      </p:sp>
    </p:spTree>
    <p:extLst>
      <p:ext uri="{BB962C8B-B14F-4D97-AF65-F5344CB8AC3E}">
        <p14:creationId xmlns:p14="http://schemas.microsoft.com/office/powerpoint/2010/main" val="11977771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8F2F3-C913-9B2A-EF70-5E1E9D95A081}"/>
              </a:ext>
            </a:extLst>
          </p:cNvPr>
          <p:cNvSpPr>
            <a:spLocks noGrp="1"/>
          </p:cNvSpPr>
          <p:nvPr>
            <p:ph type="title"/>
          </p:nvPr>
        </p:nvSpPr>
        <p:spPr>
          <a:xfrm>
            <a:off x="8165592" y="1008126"/>
            <a:ext cx="3401567" cy="1947672"/>
          </a:xfrm>
        </p:spPr>
        <p:txBody>
          <a:bodyPr anchor="b">
            <a:normAutofit/>
          </a:bodyPr>
          <a:lstStyle/>
          <a:p>
            <a:r>
              <a:rPr lang="en-US"/>
              <a:t>Project Conclusion</a:t>
            </a:r>
          </a:p>
        </p:txBody>
      </p:sp>
      <p:pic>
        <p:nvPicPr>
          <p:cNvPr id="5" name="Content Placeholder 4" descr="Computer Network Cyber Security Concept">
            <a:extLst>
              <a:ext uri="{FF2B5EF4-FFF2-40B4-BE49-F238E27FC236}">
                <a16:creationId xmlns:a16="http://schemas.microsoft.com/office/drawing/2014/main" id="{34C81DA6-166A-4D31-BDB3-77AE44310538}"/>
              </a:ext>
            </a:extLst>
          </p:cNvPr>
          <p:cNvPicPr>
            <a:picLocks noGrp="1" noChangeAspect="1"/>
          </p:cNvPicPr>
          <p:nvPr>
            <p:ph type="pic" sz="quarter" idx="15"/>
          </p:nvPr>
        </p:nvPicPr>
        <p:blipFill>
          <a:blip r:embed="rId3"/>
          <a:srcRect l="12659" r="13182" b="-1"/>
          <a:stretch>
            <a:fillRect/>
          </a:stretch>
        </p:blipFill>
        <p:spPr>
          <a:xfrm>
            <a:off x="115866" y="10"/>
            <a:ext cx="7397496" cy="6857990"/>
          </a:xfrm>
        </p:spPr>
      </p:pic>
      <p:sp>
        <p:nvSpPr>
          <p:cNvPr id="4" name="Content Placeholder 3">
            <a:extLst>
              <a:ext uri="{FF2B5EF4-FFF2-40B4-BE49-F238E27FC236}">
                <a16:creationId xmlns:a16="http://schemas.microsoft.com/office/drawing/2014/main" id="{0995B6DF-4CA8-7FD9-9828-EC1282F1EEA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65592" y="3099816"/>
            <a:ext cx="3401567" cy="3054096"/>
          </a:xfrm>
        </p:spPr>
        <p:txBody>
          <a:bodyPr>
            <a:normAutofit/>
          </a:bodyPr>
          <a:lstStyle/>
          <a:p>
            <a:pPr marL="0" indent="0">
              <a:lnSpc>
                <a:spcPct val="110000"/>
              </a:lnSpc>
              <a:spcBef>
                <a:spcPts val="2500"/>
              </a:spcBef>
              <a:buFont typeface="Arial" panose="020B0604020202020204" pitchFamily="34" charset="0"/>
              <a:buNone/>
            </a:pPr>
            <a:r>
              <a:rPr lang="en-US" sz="1000" b="1"/>
              <a:t>Integrated IT Solution</a:t>
            </a:r>
          </a:p>
          <a:p>
            <a:pPr marL="0" lvl="1" indent="0">
              <a:lnSpc>
                <a:spcPct val="110000"/>
              </a:lnSpc>
              <a:buFont typeface="Arial" panose="020B0604020202020204" pitchFamily="34" charset="0"/>
              <a:buNone/>
            </a:pPr>
            <a:r>
              <a:rPr lang="en-US" sz="1000"/>
              <a:t>The project combines hardware, software, networking, security, and support into a cohesive IT infrastructure solution.</a:t>
            </a:r>
          </a:p>
          <a:p>
            <a:pPr marL="0" indent="0">
              <a:lnSpc>
                <a:spcPct val="110000"/>
              </a:lnSpc>
              <a:spcBef>
                <a:spcPts val="2500"/>
              </a:spcBef>
              <a:buFont typeface="Arial" panose="020B0604020202020204" pitchFamily="34" charset="0"/>
              <a:buNone/>
            </a:pPr>
            <a:r>
              <a:rPr lang="en-US" sz="1000" b="1"/>
              <a:t>Secure and Scalable Foundation</a:t>
            </a:r>
          </a:p>
          <a:p>
            <a:pPr marL="0" lvl="1" indent="0">
              <a:lnSpc>
                <a:spcPct val="110000"/>
              </a:lnSpc>
              <a:buFont typeface="Arial" panose="020B0604020202020204" pitchFamily="34" charset="0"/>
              <a:buNone/>
            </a:pPr>
            <a:r>
              <a:rPr lang="en-US" sz="1000"/>
              <a:t>The solution ensures a secure and scalable IT environment that supports current operations and future growth.</a:t>
            </a:r>
          </a:p>
          <a:p>
            <a:pPr marL="0" indent="0">
              <a:lnSpc>
                <a:spcPct val="110000"/>
              </a:lnSpc>
              <a:spcBef>
                <a:spcPts val="2500"/>
              </a:spcBef>
              <a:buFont typeface="Arial" panose="020B0604020202020204" pitchFamily="34" charset="0"/>
              <a:buNone/>
            </a:pPr>
            <a:r>
              <a:rPr lang="en-US" sz="1000" b="1"/>
              <a:t>Risk Mitigation and Business Support</a:t>
            </a:r>
          </a:p>
          <a:p>
            <a:pPr marL="0" lvl="1" indent="0">
              <a:lnSpc>
                <a:spcPct val="110000"/>
              </a:lnSpc>
              <a:buFont typeface="Arial" panose="020B0604020202020204" pitchFamily="34" charset="0"/>
              <a:buNone/>
            </a:pPr>
            <a:r>
              <a:rPr lang="en-US" sz="1000"/>
              <a:t>Addressing key risks enables protection of critical assets and alignment with business objectives for consistent value delivery.</a:t>
            </a:r>
          </a:p>
        </p:txBody>
      </p:sp>
    </p:spTree>
    <p:extLst>
      <p:ext uri="{BB962C8B-B14F-4D97-AF65-F5344CB8AC3E}">
        <p14:creationId xmlns:p14="http://schemas.microsoft.com/office/powerpoint/2010/main" val="761828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7C112-33D3-6456-891B-7F5E74633862}"/>
              </a:ext>
            </a:extLst>
          </p:cNvPr>
          <p:cNvSpPr>
            <a:spLocks noGrp="1"/>
          </p:cNvSpPr>
          <p:nvPr>
            <p:ph type="title"/>
          </p:nvPr>
        </p:nvSpPr>
        <p:spPr>
          <a:xfrm>
            <a:off x="612648" y="502920"/>
            <a:ext cx="4669536" cy="1453896"/>
          </a:xfrm>
        </p:spPr>
        <p:txBody>
          <a:bodyPr anchor="t">
            <a:normAutofit/>
          </a:bodyPr>
          <a:lstStyle/>
          <a:p>
            <a:r>
              <a:rPr lang="en-US"/>
              <a:t>Future Vision and Scalability</a:t>
            </a:r>
          </a:p>
        </p:txBody>
      </p:sp>
      <p:pic>
        <p:nvPicPr>
          <p:cNvPr id="5" name="Content Placeholder 4" descr="fourth industrial revolution technology concept">
            <a:extLst>
              <a:ext uri="{FF2B5EF4-FFF2-40B4-BE49-F238E27FC236}">
                <a16:creationId xmlns:a16="http://schemas.microsoft.com/office/drawing/2014/main" id="{AB4EDA11-EDEB-45AF-9BFF-FBAA6F7C72A3}"/>
              </a:ext>
            </a:extLst>
          </p:cNvPr>
          <p:cNvPicPr>
            <a:picLocks noGrp="1" noChangeAspect="1"/>
          </p:cNvPicPr>
          <p:nvPr>
            <p:ph type="pic" sz="quarter" idx="15"/>
          </p:nvPr>
        </p:nvPicPr>
        <p:blipFill>
          <a:blip r:embed="rId3"/>
          <a:srcRect l="17176" r="17559"/>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DBBC36DF-8601-DEA6-1B43-5B6C9EC1EDE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Cloud Expansion Support</a:t>
            </a:r>
          </a:p>
          <a:p>
            <a:pPr marL="0" lvl="1" indent="0">
              <a:buFont typeface="Arial" panose="020B0604020202020204" pitchFamily="34" charset="0"/>
              <a:buNone/>
            </a:pPr>
            <a:r>
              <a:rPr lang="en-US"/>
              <a:t>Infrastructure is built to enable seamless cloud expansion to meet growing business demands.</a:t>
            </a:r>
          </a:p>
          <a:p>
            <a:pPr marL="0" indent="0">
              <a:spcBef>
                <a:spcPts val="2500"/>
              </a:spcBef>
              <a:buFont typeface="Arial" panose="020B0604020202020204" pitchFamily="34" charset="0"/>
              <a:buNone/>
            </a:pPr>
            <a:r>
              <a:rPr lang="en-US" b="1"/>
              <a:t>Increased Automation</a:t>
            </a:r>
          </a:p>
          <a:p>
            <a:pPr marL="0" lvl="1" indent="0">
              <a:buFont typeface="Arial" panose="020B0604020202020204" pitchFamily="34" charset="0"/>
              <a:buNone/>
            </a:pPr>
            <a:r>
              <a:rPr lang="en-US"/>
              <a:t>Automation capabilities are enhanced to improve efficiency and reduce manual intervention.</a:t>
            </a:r>
          </a:p>
          <a:p>
            <a:pPr marL="0" indent="0">
              <a:spcBef>
                <a:spcPts val="2500"/>
              </a:spcBef>
              <a:buFont typeface="Arial" panose="020B0604020202020204" pitchFamily="34" charset="0"/>
              <a:buNone/>
            </a:pPr>
            <a:r>
              <a:rPr lang="en-US" b="1"/>
              <a:t>Advanced Security Capabilities</a:t>
            </a:r>
          </a:p>
          <a:p>
            <a:pPr marL="0" lvl="1" indent="0">
              <a:buFont typeface="Arial" panose="020B0604020202020204" pitchFamily="34" charset="0"/>
              <a:buNone/>
            </a:pPr>
            <a:r>
              <a:rPr lang="en-US"/>
              <a:t>Security features are advanced to protect systems while scaling operations effectively.</a:t>
            </a:r>
          </a:p>
          <a:p>
            <a:pPr marL="0" indent="0">
              <a:spcBef>
                <a:spcPts val="2500"/>
              </a:spcBef>
              <a:buFont typeface="Arial" panose="020B0604020202020204" pitchFamily="34" charset="0"/>
              <a:buNone/>
            </a:pPr>
            <a:r>
              <a:rPr lang="en-US" b="1"/>
              <a:t>Continuous Improvement</a:t>
            </a:r>
          </a:p>
          <a:p>
            <a:pPr marL="0" lvl="1" indent="0">
              <a:buFont typeface="Arial" panose="020B0604020202020204" pitchFamily="34" charset="0"/>
              <a:buNone/>
            </a:pPr>
            <a:r>
              <a:rPr lang="en-US"/>
              <a:t>Regular system reviews ensure IT infrastructure evolves alongside the growing business needs.</a:t>
            </a:r>
          </a:p>
        </p:txBody>
      </p:sp>
    </p:spTree>
    <p:extLst>
      <p:ext uri="{BB962C8B-B14F-4D97-AF65-F5344CB8AC3E}">
        <p14:creationId xmlns:p14="http://schemas.microsoft.com/office/powerpoint/2010/main" val="16246538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70D41-0C3C-7223-1B1F-B6C9B0DA1038}"/>
              </a:ext>
            </a:extLst>
          </p:cNvPr>
          <p:cNvSpPr>
            <a:spLocks noGrp="1"/>
          </p:cNvSpPr>
          <p:nvPr>
            <p:ph type="title"/>
          </p:nvPr>
        </p:nvSpPr>
        <p:spPr>
          <a:xfrm>
            <a:off x="8165592" y="1008126"/>
            <a:ext cx="3401567" cy="1947672"/>
          </a:xfrm>
        </p:spPr>
        <p:txBody>
          <a:bodyPr anchor="b">
            <a:normAutofit/>
          </a:bodyPr>
          <a:lstStyle/>
          <a:p>
            <a:r>
              <a:rPr lang="en-US"/>
              <a:t>Innovation and Continuous Improvement</a:t>
            </a:r>
          </a:p>
        </p:txBody>
      </p:sp>
      <p:pic>
        <p:nvPicPr>
          <p:cNvPr id="5" name="Content Placeholder 4" descr="Cloud computing digital concept">
            <a:extLst>
              <a:ext uri="{FF2B5EF4-FFF2-40B4-BE49-F238E27FC236}">
                <a16:creationId xmlns:a16="http://schemas.microsoft.com/office/drawing/2014/main" id="{A3B608EA-94CF-4274-8CAE-ED98AF636ED7}"/>
              </a:ext>
            </a:extLst>
          </p:cNvPr>
          <p:cNvPicPr>
            <a:picLocks noGrp="1" noChangeAspect="1"/>
          </p:cNvPicPr>
          <p:nvPr>
            <p:ph type="pic" sz="quarter" idx="15"/>
          </p:nvPr>
        </p:nvPicPr>
        <p:blipFill>
          <a:blip r:embed="rId3"/>
          <a:srcRect l="32786" r="6539"/>
          <a:stretch>
            <a:fillRect/>
          </a:stretch>
        </p:blipFill>
        <p:spPr>
          <a:xfrm>
            <a:off x="115866" y="10"/>
            <a:ext cx="7397496" cy="6857990"/>
          </a:xfrm>
        </p:spPr>
      </p:pic>
      <p:sp>
        <p:nvSpPr>
          <p:cNvPr id="4" name="Content Placeholder 3">
            <a:extLst>
              <a:ext uri="{FF2B5EF4-FFF2-40B4-BE49-F238E27FC236}">
                <a16:creationId xmlns:a16="http://schemas.microsoft.com/office/drawing/2014/main" id="{09AA21BD-1ED7-E26E-9201-78390C7EF2A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65592" y="3099816"/>
            <a:ext cx="3401567" cy="3054096"/>
          </a:xfrm>
        </p:spPr>
        <p:txBody>
          <a:bodyPr>
            <a:normAutofit/>
          </a:bodyPr>
          <a:lstStyle/>
          <a:p>
            <a:pPr marL="0" indent="0">
              <a:lnSpc>
                <a:spcPct val="110000"/>
              </a:lnSpc>
              <a:spcBef>
                <a:spcPts val="2500"/>
              </a:spcBef>
              <a:buFont typeface="Arial" panose="020B0604020202020204" pitchFamily="34" charset="0"/>
              <a:buNone/>
            </a:pPr>
            <a:r>
              <a:rPr lang="en-US" sz="1100" b="1"/>
              <a:t>Emerging Technologies Adoption</a:t>
            </a:r>
          </a:p>
          <a:p>
            <a:pPr marL="0" lvl="1" indent="0">
              <a:lnSpc>
                <a:spcPct val="110000"/>
              </a:lnSpc>
              <a:buFont typeface="Arial" panose="020B0604020202020204" pitchFamily="34" charset="0"/>
              <a:buNone/>
            </a:pPr>
            <a:r>
              <a:rPr lang="en-US" sz="1100"/>
              <a:t>Adoption of cloud-native services and advanced data analytics drives technological innovation and agility.</a:t>
            </a:r>
          </a:p>
          <a:p>
            <a:pPr marL="0" indent="0">
              <a:lnSpc>
                <a:spcPct val="110000"/>
              </a:lnSpc>
              <a:spcBef>
                <a:spcPts val="2500"/>
              </a:spcBef>
              <a:buFont typeface="Arial" panose="020B0604020202020204" pitchFamily="34" charset="0"/>
              <a:buNone/>
            </a:pPr>
            <a:r>
              <a:rPr lang="en-US" sz="1100" b="1"/>
              <a:t>Enhanced Monitoring</a:t>
            </a:r>
          </a:p>
          <a:p>
            <a:pPr marL="0" lvl="1" indent="0">
              <a:lnSpc>
                <a:spcPct val="110000"/>
              </a:lnSpc>
              <a:buFont typeface="Arial" panose="020B0604020202020204" pitchFamily="34" charset="0"/>
              <a:buNone/>
            </a:pPr>
            <a:r>
              <a:rPr lang="en-US" sz="1100"/>
              <a:t>Advanced monitoring tools help detect issues early and maintain IT system resilience and performance.</a:t>
            </a:r>
          </a:p>
          <a:p>
            <a:pPr marL="0" indent="0">
              <a:lnSpc>
                <a:spcPct val="110000"/>
              </a:lnSpc>
              <a:spcBef>
                <a:spcPts val="2500"/>
              </a:spcBef>
              <a:buFont typeface="Arial" panose="020B0604020202020204" pitchFamily="34" charset="0"/>
              <a:buNone/>
            </a:pPr>
            <a:r>
              <a:rPr lang="en-US" sz="1100" b="1"/>
              <a:t>Continuous Improvement Processes</a:t>
            </a:r>
          </a:p>
          <a:p>
            <a:pPr marL="0" lvl="1" indent="0">
              <a:lnSpc>
                <a:spcPct val="110000"/>
              </a:lnSpc>
              <a:buFont typeface="Arial" panose="020B0604020202020204" pitchFamily="34" charset="0"/>
              <a:buNone/>
            </a:pPr>
            <a:r>
              <a:rPr lang="en-US" sz="1100"/>
              <a:t>Lessons learned from operations and incidents inform ongoing enhancements to keep systems competitive.</a:t>
            </a:r>
          </a:p>
        </p:txBody>
      </p:sp>
    </p:spTree>
    <p:extLst>
      <p:ext uri="{BB962C8B-B14F-4D97-AF65-F5344CB8AC3E}">
        <p14:creationId xmlns:p14="http://schemas.microsoft.com/office/powerpoint/2010/main" val="28003311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31798-ECF6-521A-C08E-9960507B19E1}"/>
              </a:ext>
            </a:extLst>
          </p:cNvPr>
          <p:cNvSpPr>
            <a:spLocks noGrp="1"/>
          </p:cNvSpPr>
          <p:nvPr>
            <p:ph type="title"/>
          </p:nvPr>
        </p:nvSpPr>
        <p:spPr>
          <a:xfrm>
            <a:off x="612648" y="502920"/>
            <a:ext cx="4669536" cy="1453896"/>
          </a:xfrm>
        </p:spPr>
        <p:txBody>
          <a:bodyPr anchor="t">
            <a:normAutofit/>
          </a:bodyPr>
          <a:lstStyle/>
          <a:p>
            <a:r>
              <a:rPr lang="en-US"/>
              <a:t>Closing and Next Steps</a:t>
            </a:r>
          </a:p>
        </p:txBody>
      </p:sp>
      <p:pic>
        <p:nvPicPr>
          <p:cNvPr id="5" name="Content Placeholder 4" descr="business people in office. Five businessman looking at team building, two men and four women. Serbian people at the office">
            <a:extLst>
              <a:ext uri="{FF2B5EF4-FFF2-40B4-BE49-F238E27FC236}">
                <a16:creationId xmlns:a16="http://schemas.microsoft.com/office/drawing/2014/main" id="{7FDCE88E-FDC8-4597-9667-FC0330C59721}"/>
              </a:ext>
            </a:extLst>
          </p:cNvPr>
          <p:cNvPicPr>
            <a:picLocks noGrp="1" noChangeAspect="1"/>
          </p:cNvPicPr>
          <p:nvPr>
            <p:ph type="pic" sz="quarter" idx="15"/>
          </p:nvPr>
        </p:nvPicPr>
        <p:blipFill>
          <a:blip r:embed="rId3"/>
          <a:srcRect l="24941" r="9795"/>
          <a:stretch>
            <a:fillRect/>
          </a:stretch>
        </p:blipFill>
        <p:spPr>
          <a:xfrm>
            <a:off x="612648" y="2293938"/>
            <a:ext cx="4669536" cy="4024566"/>
          </a:xfrm>
        </p:spPr>
      </p:pic>
      <p:sp>
        <p:nvSpPr>
          <p:cNvPr id="4" name="Content Placeholder 3">
            <a:extLst>
              <a:ext uri="{FF2B5EF4-FFF2-40B4-BE49-F238E27FC236}">
                <a16:creationId xmlns:a16="http://schemas.microsoft.com/office/drawing/2014/main" id="{8B638B87-FF72-0DDD-1177-48DB77E8767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Final Validation</a:t>
            </a:r>
          </a:p>
          <a:p>
            <a:pPr marL="0" lvl="1" indent="0">
              <a:buFont typeface="Arial" panose="020B0604020202020204" pitchFamily="34" charset="0"/>
              <a:buNone/>
            </a:pPr>
            <a:r>
              <a:rPr lang="en-US"/>
              <a:t>The project is entering the final validation stage to ensure all systems meet requirements and function properly.</a:t>
            </a:r>
          </a:p>
          <a:p>
            <a:pPr marL="0" indent="0">
              <a:spcBef>
                <a:spcPts val="2500"/>
              </a:spcBef>
              <a:buFont typeface="Arial" panose="020B0604020202020204" pitchFamily="34" charset="0"/>
              <a:buNone/>
            </a:pPr>
            <a:r>
              <a:rPr lang="en-US" b="1"/>
              <a:t>User Onboarding</a:t>
            </a:r>
          </a:p>
          <a:p>
            <a:pPr marL="0" lvl="1" indent="0">
              <a:buFont typeface="Arial" panose="020B0604020202020204" pitchFamily="34" charset="0"/>
              <a:buNone/>
            </a:pPr>
            <a:r>
              <a:rPr lang="en-US"/>
              <a:t>User onboarding processes will facilitate smooth adoption and usage of new IT systems across the organization.</a:t>
            </a:r>
          </a:p>
          <a:p>
            <a:pPr marL="0" indent="0">
              <a:spcBef>
                <a:spcPts val="2500"/>
              </a:spcBef>
              <a:buFont typeface="Arial" panose="020B0604020202020204" pitchFamily="34" charset="0"/>
              <a:buNone/>
            </a:pPr>
            <a:r>
              <a:rPr lang="en-US" b="1"/>
              <a:t>Operational Handover</a:t>
            </a:r>
          </a:p>
          <a:p>
            <a:pPr marL="0" lvl="1" indent="0">
              <a:buFont typeface="Arial" panose="020B0604020202020204" pitchFamily="34" charset="0"/>
              <a:buNone/>
            </a:pPr>
            <a:r>
              <a:rPr lang="en-US"/>
              <a:t>Operational handover ensures the IT infrastructure is fully transferred for ongoing support and maintenance.</a:t>
            </a:r>
          </a:p>
          <a:p>
            <a:pPr marL="0" indent="0">
              <a:spcBef>
                <a:spcPts val="2500"/>
              </a:spcBef>
              <a:buFont typeface="Arial" panose="020B0604020202020204" pitchFamily="34" charset="0"/>
              <a:buNone/>
            </a:pPr>
            <a:r>
              <a:rPr lang="en-US" b="1"/>
              <a:t>Business Focus and Adaptability</a:t>
            </a:r>
          </a:p>
          <a:p>
            <a:pPr marL="0" lvl="1" indent="0">
              <a:buFont typeface="Arial" panose="020B0604020202020204" pitchFamily="34" charset="0"/>
              <a:buNone/>
            </a:pPr>
            <a:r>
              <a:rPr lang="en-US"/>
              <a:t>With infrastructure established, focus shifts to core objectives with confidence in innovation support and adaptability.</a:t>
            </a:r>
          </a:p>
        </p:txBody>
      </p:sp>
    </p:spTree>
    <p:extLst>
      <p:ext uri="{BB962C8B-B14F-4D97-AF65-F5344CB8AC3E}">
        <p14:creationId xmlns:p14="http://schemas.microsoft.com/office/powerpoint/2010/main" val="35570872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hroma">
  <a:themeElements>
    <a:clrScheme name="Chroma">
      <a:dk1>
        <a:srgbClr val="131313"/>
      </a:dk1>
      <a:lt1>
        <a:sysClr val="window" lastClr="FFFFFF"/>
      </a:lt1>
      <a:dk2>
        <a:srgbClr val="0C233A"/>
      </a:dk2>
      <a:lt2>
        <a:srgbClr val="F5FAFD"/>
      </a:lt2>
      <a:accent1>
        <a:srgbClr val="4485DC"/>
      </a:accent1>
      <a:accent2>
        <a:srgbClr val="25AAD5"/>
      </a:accent2>
      <a:accent3>
        <a:srgbClr val="5BBEAC"/>
      </a:accent3>
      <a:accent4>
        <a:srgbClr val="6666E2"/>
      </a:accent4>
      <a:accent5>
        <a:srgbClr val="66C26C"/>
      </a:accent5>
      <a:accent6>
        <a:srgbClr val="10CF9B"/>
      </a:accent6>
      <a:hlink>
        <a:srgbClr val="4485DC"/>
      </a:hlink>
      <a:folHlink>
        <a:srgbClr val="25AAD5"/>
      </a:folHlink>
    </a:clrScheme>
    <a:fontScheme name="Custom 2">
      <a:majorFont>
        <a:latin typeface="Aptos Light"/>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ma" id="{DC2B181E-9B25-4FFB-A269-A81149E37B96}" vid="{FD28A279-D9A1-4F6C-9122-D382EE6782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6050</Words>
  <Application>Microsoft Office PowerPoint</Application>
  <PresentationFormat>Widescreen</PresentationFormat>
  <Paragraphs>362</Paragraphs>
  <Slides>41</Slides>
  <Notes>41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Aptos</vt:lpstr>
      <vt:lpstr>Aptos Light</vt:lpstr>
      <vt:lpstr>Arial</vt:lpstr>
      <vt:lpstr>Calibri</vt:lpstr>
      <vt:lpstr>Chroma</vt:lpstr>
      <vt:lpstr>IT Infrastructure and Support Solution for Ubuntu Innovations</vt:lpstr>
      <vt:lpstr>Project Context and Overview</vt:lpstr>
      <vt:lpstr>IT Infrastructure and Support Solution Overview</vt:lpstr>
      <vt:lpstr>Project Introduction: IT Infrastructure for Ubuntu Innovations</vt:lpstr>
      <vt:lpstr>Project Scope and Objectives</vt:lpstr>
      <vt:lpstr>Organizational and Operational Context</vt:lpstr>
      <vt:lpstr>Business Needs and Technology Foundations</vt:lpstr>
      <vt:lpstr>Business Needs and Assessment</vt:lpstr>
      <vt:lpstr>Departmental Requirements Analysis</vt:lpstr>
      <vt:lpstr>Technology Infrastructure Recommendations</vt:lpstr>
      <vt:lpstr>Hardware and Software Foundations</vt:lpstr>
      <vt:lpstr>Network Architecture and Access Control</vt:lpstr>
      <vt:lpstr>Proposed Network Infrastructure</vt:lpstr>
      <vt:lpstr>IP Addressing Scheme</vt:lpstr>
      <vt:lpstr>Network Segmentation Strategy</vt:lpstr>
      <vt:lpstr>Access Management and RBAC</vt:lpstr>
      <vt:lpstr>Data Storage and Business Continuity</vt:lpstr>
      <vt:lpstr>NAS Storage Architecture</vt:lpstr>
      <vt:lpstr>Folder Structure and Data Governance</vt:lpstr>
      <vt:lpstr>Business Continuity Strategy</vt:lpstr>
      <vt:lpstr>Backup and Disaster Recovery Framework</vt:lpstr>
      <vt:lpstr>Cybersecurity and Risk Management</vt:lpstr>
      <vt:lpstr>Cybersecurity Framework Overview</vt:lpstr>
      <vt:lpstr>Security Policies and Controls</vt:lpstr>
      <vt:lpstr>Risk Management and Threat Landscape</vt:lpstr>
      <vt:lpstr>Incident Response Planning</vt:lpstr>
      <vt:lpstr>IT Support and Operations</vt:lpstr>
      <vt:lpstr>IT Support Operations Model</vt:lpstr>
      <vt:lpstr>Common IT Issues and Troubleshooting</vt:lpstr>
      <vt:lpstr>Support Workflow and Escalation</vt:lpstr>
      <vt:lpstr>Operational Governance</vt:lpstr>
      <vt:lpstr>Business Value and Cost Efficiency</vt:lpstr>
      <vt:lpstr>Business Value Delivered</vt:lpstr>
      <vt:lpstr>Productivity and Performance Gains</vt:lpstr>
      <vt:lpstr>Cost Efficiency and Optimization</vt:lpstr>
      <vt:lpstr>Risk Reduction and Compliance Benefits</vt:lpstr>
      <vt:lpstr>Conclusion and Future Vision</vt:lpstr>
      <vt:lpstr>Project Conclusion</vt:lpstr>
      <vt:lpstr>Future Vision and Scalability</vt:lpstr>
      <vt:lpstr>Innovation and Continuous Improvement</vt:lpstr>
      <vt:lpstr>Closing and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neliswa.mapisa@capaciti.org.za</dc:creator>
  <cp:lastModifiedBy>Neliswa Mapisa</cp:lastModifiedBy>
  <cp:revision>1</cp:revision>
  <dcterms:modified xsi:type="dcterms:W3CDTF">2026-06-17T11:38:36Z</dcterms:modified>
</cp:coreProperties>
</file>